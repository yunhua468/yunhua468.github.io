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88"/>
  </p:notesMasterIdLst>
  <p:sldIdLst>
    <p:sldId id="256" r:id="rId2"/>
    <p:sldId id="323" r:id="rId3"/>
    <p:sldId id="324" r:id="rId4"/>
    <p:sldId id="322" r:id="rId5"/>
    <p:sldId id="259" r:id="rId6"/>
    <p:sldId id="260" r:id="rId7"/>
    <p:sldId id="386" r:id="rId8"/>
    <p:sldId id="258" r:id="rId9"/>
    <p:sldId id="370" r:id="rId10"/>
    <p:sldId id="354" r:id="rId11"/>
    <p:sldId id="261" r:id="rId12"/>
    <p:sldId id="343" r:id="rId13"/>
    <p:sldId id="262" r:id="rId14"/>
    <p:sldId id="377" r:id="rId15"/>
    <p:sldId id="380" r:id="rId16"/>
    <p:sldId id="263" r:id="rId17"/>
    <p:sldId id="264" r:id="rId18"/>
    <p:sldId id="355" r:id="rId19"/>
    <p:sldId id="357" r:id="rId20"/>
    <p:sldId id="381" r:id="rId21"/>
    <p:sldId id="265" r:id="rId22"/>
    <p:sldId id="371" r:id="rId23"/>
    <p:sldId id="382" r:id="rId24"/>
    <p:sldId id="266" r:id="rId25"/>
    <p:sldId id="372" r:id="rId26"/>
    <p:sldId id="383" r:id="rId27"/>
    <p:sldId id="267" r:id="rId28"/>
    <p:sldId id="344" r:id="rId29"/>
    <p:sldId id="268" r:id="rId30"/>
    <p:sldId id="373" r:id="rId31"/>
    <p:sldId id="360" r:id="rId32"/>
    <p:sldId id="269" r:id="rId33"/>
    <p:sldId id="375" r:id="rId34"/>
    <p:sldId id="270" r:id="rId35"/>
    <p:sldId id="376" r:id="rId36"/>
    <p:sldId id="361" r:id="rId37"/>
    <p:sldId id="374" r:id="rId38"/>
    <p:sldId id="345" r:id="rId39"/>
    <p:sldId id="271" r:id="rId40"/>
    <p:sldId id="384" r:id="rId41"/>
    <p:sldId id="358" r:id="rId42"/>
    <p:sldId id="359" r:id="rId43"/>
    <p:sldId id="346" r:id="rId44"/>
    <p:sldId id="272" r:id="rId45"/>
    <p:sldId id="385" r:id="rId46"/>
    <p:sldId id="273" r:id="rId47"/>
    <p:sldId id="274" r:id="rId48"/>
    <p:sldId id="275" r:id="rId49"/>
    <p:sldId id="347" r:id="rId50"/>
    <p:sldId id="277" r:id="rId51"/>
    <p:sldId id="276" r:id="rId52"/>
    <p:sldId id="278" r:id="rId53"/>
    <p:sldId id="279" r:id="rId54"/>
    <p:sldId id="378" r:id="rId55"/>
    <p:sldId id="280" r:id="rId56"/>
    <p:sldId id="379" r:id="rId57"/>
    <p:sldId id="281" r:id="rId58"/>
    <p:sldId id="282" r:id="rId59"/>
    <p:sldId id="283" r:id="rId60"/>
    <p:sldId id="284" r:id="rId61"/>
    <p:sldId id="285" r:id="rId62"/>
    <p:sldId id="348" r:id="rId63"/>
    <p:sldId id="286" r:id="rId64"/>
    <p:sldId id="287" r:id="rId65"/>
    <p:sldId id="289" r:id="rId66"/>
    <p:sldId id="349" r:id="rId67"/>
    <p:sldId id="290" r:id="rId68"/>
    <p:sldId id="291" r:id="rId69"/>
    <p:sldId id="292" r:id="rId70"/>
    <p:sldId id="293" r:id="rId71"/>
    <p:sldId id="294" r:id="rId72"/>
    <p:sldId id="295" r:id="rId73"/>
    <p:sldId id="297" r:id="rId74"/>
    <p:sldId id="350" r:id="rId75"/>
    <p:sldId id="298" r:id="rId76"/>
    <p:sldId id="364" r:id="rId77"/>
    <p:sldId id="300" r:id="rId78"/>
    <p:sldId id="365" r:id="rId79"/>
    <p:sldId id="366" r:id="rId80"/>
    <p:sldId id="367" r:id="rId81"/>
    <p:sldId id="369" r:id="rId82"/>
    <p:sldId id="362" r:id="rId83"/>
    <p:sldId id="351" r:id="rId84"/>
    <p:sldId id="301" r:id="rId85"/>
    <p:sldId id="353" r:id="rId86"/>
    <p:sldId id="305" r:id="rId87"/>
  </p:sldIdLst>
  <p:sldSz cx="12192000" cy="6858000"/>
  <p:notesSz cx="6858000" cy="9144000"/>
  <p:embeddedFontLst>
    <p:embeddedFont>
      <p:font typeface="Abadi" panose="020B0604020104020204" pitchFamily="34" charset="0"/>
      <p:regular r:id="rId89"/>
    </p:embeddedFont>
    <p:embeddedFont>
      <p:font typeface="Calibri" panose="020F0502020204030204" pitchFamily="34" charset="0"/>
      <p:regular r:id="rId90"/>
      <p:bold r:id="rId91"/>
      <p:italic r:id="rId92"/>
      <p:boldItalic r:id="rId93"/>
    </p:embeddedFont>
    <p:embeddedFont>
      <p:font typeface="Inconsolata" pitchFamily="1" charset="0"/>
      <p:regular r:id="rId94"/>
      <p:bold r:id="rId95"/>
    </p:embeddedFont>
    <p:embeddedFont>
      <p:font typeface="Segoe UI" panose="020B0502040204020203" pitchFamily="34" charset="0"/>
      <p:regular r:id="rId96"/>
      <p:bold r:id="rId97"/>
      <p:italic r:id="rId98"/>
      <p:boldItalic r:id="rId9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0" roundtripDataSignature="AMtx7mj3EDmdS4uNdtJTkbpqFwbVtzhKXw=="/>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7118FB-2A88-A81F-2254-05A162C60F4E}" name="Yunhua Zhao" initials="YZ" userId="e23e21fbac56d790"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75" autoAdjust="0"/>
    <p:restoredTop sz="75518" autoAdjust="0"/>
  </p:normalViewPr>
  <p:slideViewPr>
    <p:cSldViewPr snapToGrid="0">
      <p:cViewPr varScale="1">
        <p:scale>
          <a:sx n="83" d="100"/>
          <a:sy n="83" d="100"/>
        </p:scale>
        <p:origin x="106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font" Target="fonts/font2.fntdata"/><Relationship Id="rId95"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customschemas.google.com/relationships/presentationmetadata" Target="metadata"/><Relationship Id="rId105"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font" Target="fonts/font5.fntdata"/><Relationship Id="rId98"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font" Target="fonts/font3.fntdata"/><Relationship Id="rId96"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6.fntdata"/><Relationship Id="rId99" Type="http://schemas.openxmlformats.org/officeDocument/2006/relationships/font" Target="fonts/font11.fntdata"/><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9.fntdata"/><Relationship Id="rId10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001CC45-DD3B-430A-B742-1A00401E1666}"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A5963D82-BDDD-44DC-BDB7-E3CEECEF5C1A}">
      <dgm:prSet/>
      <dgm:spPr/>
      <dgm:t>
        <a:bodyPr/>
        <a:lstStyle/>
        <a:p>
          <a:pPr algn="l"/>
          <a:r>
            <a:rPr lang="en-US" dirty="0"/>
            <a:t>Data sources: code change, commit message, issue reports…</a:t>
          </a:r>
        </a:p>
      </dgm:t>
    </dgm:pt>
    <dgm:pt modelId="{33D75DDD-1CF8-400F-85D2-6B7AF465F371}" type="parTrans" cxnId="{009DC707-269B-42F4-8DC6-DC1B5E458B3B}">
      <dgm:prSet/>
      <dgm:spPr/>
      <dgm:t>
        <a:bodyPr/>
        <a:lstStyle/>
        <a:p>
          <a:endParaRPr lang="en-US"/>
        </a:p>
      </dgm:t>
    </dgm:pt>
    <dgm:pt modelId="{0ABB6B48-95B5-44CE-96BE-84EDEDBE3AB9}" type="sibTrans" cxnId="{009DC707-269B-42F4-8DC6-DC1B5E458B3B}">
      <dgm:prSet/>
      <dgm:spPr/>
      <dgm:t>
        <a:bodyPr/>
        <a:lstStyle/>
        <a:p>
          <a:endParaRPr lang="en-US"/>
        </a:p>
      </dgm:t>
    </dgm:pt>
    <dgm:pt modelId="{90C994CA-96D3-459A-AE5B-ADBD385C6BF2}">
      <dgm:prSet/>
      <dgm:spPr/>
      <dgm:t>
        <a:bodyPr/>
        <a:lstStyle/>
        <a:p>
          <a:pPr algn="l"/>
          <a:r>
            <a:rPr lang="en-US" dirty="0"/>
            <a:t>Data Acquisition: covert source data into raw feature vectors, like software metrics</a:t>
          </a:r>
        </a:p>
      </dgm:t>
    </dgm:pt>
    <dgm:pt modelId="{1E7D6927-F4D4-45F2-AF50-9607CF38791A}" type="parTrans" cxnId="{5CC1DF9E-4F76-4B63-8A41-2CB0F6C863FC}">
      <dgm:prSet/>
      <dgm:spPr/>
      <dgm:t>
        <a:bodyPr/>
        <a:lstStyle/>
        <a:p>
          <a:endParaRPr lang="en-US"/>
        </a:p>
      </dgm:t>
    </dgm:pt>
    <dgm:pt modelId="{FCD1F651-2A8C-46D5-BD17-87FD91AE3426}" type="sibTrans" cxnId="{5CC1DF9E-4F76-4B63-8A41-2CB0F6C863FC}">
      <dgm:prSet/>
      <dgm:spPr/>
      <dgm:t>
        <a:bodyPr/>
        <a:lstStyle/>
        <a:p>
          <a:endParaRPr lang="en-US"/>
        </a:p>
      </dgm:t>
    </dgm:pt>
    <dgm:pt modelId="{65639908-2FE7-4CC7-B80B-21830DB87B6C}">
      <dgm:prSet/>
      <dgm:spPr/>
      <dgm:t>
        <a:bodyPr/>
        <a:lstStyle/>
        <a:p>
          <a:pPr algn="l"/>
          <a:r>
            <a:rPr lang="en-US" dirty="0"/>
            <a:t>Change Labeling: identify the defect introducing change from a fix change(Ad hoc: commit message; Issue tracking system(ITS))</a:t>
          </a:r>
        </a:p>
      </dgm:t>
    </dgm:pt>
    <dgm:pt modelId="{5C7CF663-6C5D-4D5C-8477-36C59AE4733A}" type="parTrans" cxnId="{7942D257-F816-418C-BED8-767ABE9DEEF1}">
      <dgm:prSet/>
      <dgm:spPr/>
      <dgm:t>
        <a:bodyPr/>
        <a:lstStyle/>
        <a:p>
          <a:endParaRPr lang="en-US"/>
        </a:p>
      </dgm:t>
    </dgm:pt>
    <dgm:pt modelId="{4282C5DF-065E-43D3-8C74-109B77C7BF28}" type="sibTrans" cxnId="{7942D257-F816-418C-BED8-767ABE9DEEF1}">
      <dgm:prSet/>
      <dgm:spPr/>
      <dgm:t>
        <a:bodyPr/>
        <a:lstStyle/>
        <a:p>
          <a:endParaRPr lang="en-US"/>
        </a:p>
      </dgm:t>
    </dgm:pt>
    <dgm:pt modelId="{4D936B16-54EF-4B9E-BFA5-B553466A9ED7}">
      <dgm:prSet/>
      <dgm:spPr/>
      <dgm:t>
        <a:bodyPr/>
        <a:lstStyle/>
        <a:p>
          <a:pPr algn="l"/>
          <a:r>
            <a:rPr lang="en-US"/>
            <a:t>Data Preparation: Preprocessing, like class imbalance,</a:t>
          </a:r>
        </a:p>
      </dgm:t>
    </dgm:pt>
    <dgm:pt modelId="{547DFC61-A56A-479D-929F-B0D411AD8876}" type="parTrans" cxnId="{0DD7BAF8-EE3E-4C2B-8C38-DE40EAEADD20}">
      <dgm:prSet/>
      <dgm:spPr/>
      <dgm:t>
        <a:bodyPr/>
        <a:lstStyle/>
        <a:p>
          <a:endParaRPr lang="en-US"/>
        </a:p>
      </dgm:t>
    </dgm:pt>
    <dgm:pt modelId="{61C7FB77-3742-4038-BE34-B84FF506B7B0}" type="sibTrans" cxnId="{0DD7BAF8-EE3E-4C2B-8C38-DE40EAEADD20}">
      <dgm:prSet/>
      <dgm:spPr/>
      <dgm:t>
        <a:bodyPr/>
        <a:lstStyle/>
        <a:p>
          <a:endParaRPr lang="en-US"/>
        </a:p>
      </dgm:t>
    </dgm:pt>
    <dgm:pt modelId="{BE42F659-7F07-486A-9B68-1EA809575A74}" type="pres">
      <dgm:prSet presAssocID="{3001CC45-DD3B-430A-B742-1A00401E1666}" presName="hierChild1" presStyleCnt="0">
        <dgm:presLayoutVars>
          <dgm:chPref val="1"/>
          <dgm:dir/>
          <dgm:animOne val="branch"/>
          <dgm:animLvl val="lvl"/>
          <dgm:resizeHandles/>
        </dgm:presLayoutVars>
      </dgm:prSet>
      <dgm:spPr/>
    </dgm:pt>
    <dgm:pt modelId="{1A765640-777B-4E6D-9DC4-EA70559E0F2D}" type="pres">
      <dgm:prSet presAssocID="{A5963D82-BDDD-44DC-BDB7-E3CEECEF5C1A}" presName="hierRoot1" presStyleCnt="0"/>
      <dgm:spPr/>
    </dgm:pt>
    <dgm:pt modelId="{4B9EB993-57AE-4CF5-93DD-03ADD92FFD72}" type="pres">
      <dgm:prSet presAssocID="{A5963D82-BDDD-44DC-BDB7-E3CEECEF5C1A}" presName="composite" presStyleCnt="0"/>
      <dgm:spPr/>
    </dgm:pt>
    <dgm:pt modelId="{91DA2C8F-D72E-4FA9-8750-472AF819C337}" type="pres">
      <dgm:prSet presAssocID="{A5963D82-BDDD-44DC-BDB7-E3CEECEF5C1A}" presName="background" presStyleLbl="node0" presStyleIdx="0" presStyleCnt="4"/>
      <dgm:spPr/>
    </dgm:pt>
    <dgm:pt modelId="{6CFD6506-C3CC-43CE-8AB8-D9D952939CAB}" type="pres">
      <dgm:prSet presAssocID="{A5963D82-BDDD-44DC-BDB7-E3CEECEF5C1A}" presName="text" presStyleLbl="fgAcc0" presStyleIdx="0" presStyleCnt="4">
        <dgm:presLayoutVars>
          <dgm:chPref val="3"/>
        </dgm:presLayoutVars>
      </dgm:prSet>
      <dgm:spPr/>
    </dgm:pt>
    <dgm:pt modelId="{F039AF2B-CDDE-477E-A54A-7A2F61B97E09}" type="pres">
      <dgm:prSet presAssocID="{A5963D82-BDDD-44DC-BDB7-E3CEECEF5C1A}" presName="hierChild2" presStyleCnt="0"/>
      <dgm:spPr/>
    </dgm:pt>
    <dgm:pt modelId="{7275315F-35EC-4415-BB46-73E7142682AE}" type="pres">
      <dgm:prSet presAssocID="{90C994CA-96D3-459A-AE5B-ADBD385C6BF2}" presName="hierRoot1" presStyleCnt="0"/>
      <dgm:spPr/>
    </dgm:pt>
    <dgm:pt modelId="{508DF496-FAD2-40DE-959D-5DD9A47AF739}" type="pres">
      <dgm:prSet presAssocID="{90C994CA-96D3-459A-AE5B-ADBD385C6BF2}" presName="composite" presStyleCnt="0"/>
      <dgm:spPr/>
    </dgm:pt>
    <dgm:pt modelId="{AC05CC2A-55D8-4C21-B1CB-AF0B52AB33D5}" type="pres">
      <dgm:prSet presAssocID="{90C994CA-96D3-459A-AE5B-ADBD385C6BF2}" presName="background" presStyleLbl="node0" presStyleIdx="1" presStyleCnt="4"/>
      <dgm:spPr/>
    </dgm:pt>
    <dgm:pt modelId="{14860983-EBF1-4CB9-A22F-2EDCD2A0E352}" type="pres">
      <dgm:prSet presAssocID="{90C994CA-96D3-459A-AE5B-ADBD385C6BF2}" presName="text" presStyleLbl="fgAcc0" presStyleIdx="1" presStyleCnt="4">
        <dgm:presLayoutVars>
          <dgm:chPref val="3"/>
        </dgm:presLayoutVars>
      </dgm:prSet>
      <dgm:spPr/>
    </dgm:pt>
    <dgm:pt modelId="{2DBB83AA-7CE3-48A1-9893-292EE0FD3B34}" type="pres">
      <dgm:prSet presAssocID="{90C994CA-96D3-459A-AE5B-ADBD385C6BF2}" presName="hierChild2" presStyleCnt="0"/>
      <dgm:spPr/>
    </dgm:pt>
    <dgm:pt modelId="{E5030E23-312C-4436-8CD0-AE2F758B9E4A}" type="pres">
      <dgm:prSet presAssocID="{65639908-2FE7-4CC7-B80B-21830DB87B6C}" presName="hierRoot1" presStyleCnt="0"/>
      <dgm:spPr/>
    </dgm:pt>
    <dgm:pt modelId="{D814B81A-0716-4568-A8FD-C1CCF83FA02C}" type="pres">
      <dgm:prSet presAssocID="{65639908-2FE7-4CC7-B80B-21830DB87B6C}" presName="composite" presStyleCnt="0"/>
      <dgm:spPr/>
    </dgm:pt>
    <dgm:pt modelId="{91DD3BBF-FE8D-4A3F-BFC9-51AC5BD70A7D}" type="pres">
      <dgm:prSet presAssocID="{65639908-2FE7-4CC7-B80B-21830DB87B6C}" presName="background" presStyleLbl="node0" presStyleIdx="2" presStyleCnt="4"/>
      <dgm:spPr/>
    </dgm:pt>
    <dgm:pt modelId="{30C6F2E3-9CC9-4C1D-8E3D-71540E1A99AC}" type="pres">
      <dgm:prSet presAssocID="{65639908-2FE7-4CC7-B80B-21830DB87B6C}" presName="text" presStyleLbl="fgAcc0" presStyleIdx="2" presStyleCnt="4">
        <dgm:presLayoutVars>
          <dgm:chPref val="3"/>
        </dgm:presLayoutVars>
      </dgm:prSet>
      <dgm:spPr/>
    </dgm:pt>
    <dgm:pt modelId="{75A2DDD6-4F35-4367-A1A7-E5B5B949231B}" type="pres">
      <dgm:prSet presAssocID="{65639908-2FE7-4CC7-B80B-21830DB87B6C}" presName="hierChild2" presStyleCnt="0"/>
      <dgm:spPr/>
    </dgm:pt>
    <dgm:pt modelId="{07AD921D-95C4-4B5E-95AB-0E0D24873B75}" type="pres">
      <dgm:prSet presAssocID="{4D936B16-54EF-4B9E-BFA5-B553466A9ED7}" presName="hierRoot1" presStyleCnt="0"/>
      <dgm:spPr/>
    </dgm:pt>
    <dgm:pt modelId="{EFC3CABC-1F09-4716-862A-67A8DF7E0E87}" type="pres">
      <dgm:prSet presAssocID="{4D936B16-54EF-4B9E-BFA5-B553466A9ED7}" presName="composite" presStyleCnt="0"/>
      <dgm:spPr/>
    </dgm:pt>
    <dgm:pt modelId="{44D09F45-6974-4FA8-B870-6AA2F9ABCB5A}" type="pres">
      <dgm:prSet presAssocID="{4D936B16-54EF-4B9E-BFA5-B553466A9ED7}" presName="background" presStyleLbl="node0" presStyleIdx="3" presStyleCnt="4"/>
      <dgm:spPr/>
    </dgm:pt>
    <dgm:pt modelId="{7ABA0E3C-DFE0-4A41-9B87-2B423886EDDB}" type="pres">
      <dgm:prSet presAssocID="{4D936B16-54EF-4B9E-BFA5-B553466A9ED7}" presName="text" presStyleLbl="fgAcc0" presStyleIdx="3" presStyleCnt="4">
        <dgm:presLayoutVars>
          <dgm:chPref val="3"/>
        </dgm:presLayoutVars>
      </dgm:prSet>
      <dgm:spPr/>
    </dgm:pt>
    <dgm:pt modelId="{0F63CF67-D2BC-4950-A0B3-B147FC71B833}" type="pres">
      <dgm:prSet presAssocID="{4D936B16-54EF-4B9E-BFA5-B553466A9ED7}" presName="hierChild2" presStyleCnt="0"/>
      <dgm:spPr/>
    </dgm:pt>
  </dgm:ptLst>
  <dgm:cxnLst>
    <dgm:cxn modelId="{009DC707-269B-42F4-8DC6-DC1B5E458B3B}" srcId="{3001CC45-DD3B-430A-B742-1A00401E1666}" destId="{A5963D82-BDDD-44DC-BDB7-E3CEECEF5C1A}" srcOrd="0" destOrd="0" parTransId="{33D75DDD-1CF8-400F-85D2-6B7AF465F371}" sibTransId="{0ABB6B48-95B5-44CE-96BE-84EDEDBE3AB9}"/>
    <dgm:cxn modelId="{FCCFCE36-B900-4D8D-96C9-EEB019921560}" type="presOf" srcId="{A5963D82-BDDD-44DC-BDB7-E3CEECEF5C1A}" destId="{6CFD6506-C3CC-43CE-8AB8-D9D952939CAB}" srcOrd="0" destOrd="0" presId="urn:microsoft.com/office/officeart/2005/8/layout/hierarchy1"/>
    <dgm:cxn modelId="{7942D257-F816-418C-BED8-767ABE9DEEF1}" srcId="{3001CC45-DD3B-430A-B742-1A00401E1666}" destId="{65639908-2FE7-4CC7-B80B-21830DB87B6C}" srcOrd="2" destOrd="0" parTransId="{5C7CF663-6C5D-4D5C-8477-36C59AE4733A}" sibTransId="{4282C5DF-065E-43D3-8C74-109B77C7BF28}"/>
    <dgm:cxn modelId="{BF68B65A-E18C-4E59-9278-0C5FF1E8A4CB}" type="presOf" srcId="{3001CC45-DD3B-430A-B742-1A00401E1666}" destId="{BE42F659-7F07-486A-9B68-1EA809575A74}" srcOrd="0" destOrd="0" presId="urn:microsoft.com/office/officeart/2005/8/layout/hierarchy1"/>
    <dgm:cxn modelId="{DDB5817B-C469-4032-942A-E52B97B5DFC0}" type="presOf" srcId="{90C994CA-96D3-459A-AE5B-ADBD385C6BF2}" destId="{14860983-EBF1-4CB9-A22F-2EDCD2A0E352}" srcOrd="0" destOrd="0" presId="urn:microsoft.com/office/officeart/2005/8/layout/hierarchy1"/>
    <dgm:cxn modelId="{5CC1DF9E-4F76-4B63-8A41-2CB0F6C863FC}" srcId="{3001CC45-DD3B-430A-B742-1A00401E1666}" destId="{90C994CA-96D3-459A-AE5B-ADBD385C6BF2}" srcOrd="1" destOrd="0" parTransId="{1E7D6927-F4D4-45F2-AF50-9607CF38791A}" sibTransId="{FCD1F651-2A8C-46D5-BD17-87FD91AE3426}"/>
    <dgm:cxn modelId="{DE3725A9-67D7-4F12-BC19-508007055BF2}" type="presOf" srcId="{65639908-2FE7-4CC7-B80B-21830DB87B6C}" destId="{30C6F2E3-9CC9-4C1D-8E3D-71540E1A99AC}" srcOrd="0" destOrd="0" presId="urn:microsoft.com/office/officeart/2005/8/layout/hierarchy1"/>
    <dgm:cxn modelId="{0DD7BAF8-EE3E-4C2B-8C38-DE40EAEADD20}" srcId="{3001CC45-DD3B-430A-B742-1A00401E1666}" destId="{4D936B16-54EF-4B9E-BFA5-B553466A9ED7}" srcOrd="3" destOrd="0" parTransId="{547DFC61-A56A-479D-929F-B0D411AD8876}" sibTransId="{61C7FB77-3742-4038-BE34-B84FF506B7B0}"/>
    <dgm:cxn modelId="{6CB5E6FD-32FB-4DD0-9F60-4C340E0952D4}" type="presOf" srcId="{4D936B16-54EF-4B9E-BFA5-B553466A9ED7}" destId="{7ABA0E3C-DFE0-4A41-9B87-2B423886EDDB}" srcOrd="0" destOrd="0" presId="urn:microsoft.com/office/officeart/2005/8/layout/hierarchy1"/>
    <dgm:cxn modelId="{068891CC-BDF7-4DC2-983E-26F71C72FAD7}" type="presParOf" srcId="{BE42F659-7F07-486A-9B68-1EA809575A74}" destId="{1A765640-777B-4E6D-9DC4-EA70559E0F2D}" srcOrd="0" destOrd="0" presId="urn:microsoft.com/office/officeart/2005/8/layout/hierarchy1"/>
    <dgm:cxn modelId="{ACAF28D5-2F8F-418B-8DCC-D3AC0CC2E60F}" type="presParOf" srcId="{1A765640-777B-4E6D-9DC4-EA70559E0F2D}" destId="{4B9EB993-57AE-4CF5-93DD-03ADD92FFD72}" srcOrd="0" destOrd="0" presId="urn:microsoft.com/office/officeart/2005/8/layout/hierarchy1"/>
    <dgm:cxn modelId="{089D8D67-B3B4-4565-87DA-114941DA7902}" type="presParOf" srcId="{4B9EB993-57AE-4CF5-93DD-03ADD92FFD72}" destId="{91DA2C8F-D72E-4FA9-8750-472AF819C337}" srcOrd="0" destOrd="0" presId="urn:microsoft.com/office/officeart/2005/8/layout/hierarchy1"/>
    <dgm:cxn modelId="{97C153BB-B8E0-4FB0-B993-485C8B44307D}" type="presParOf" srcId="{4B9EB993-57AE-4CF5-93DD-03ADD92FFD72}" destId="{6CFD6506-C3CC-43CE-8AB8-D9D952939CAB}" srcOrd="1" destOrd="0" presId="urn:microsoft.com/office/officeart/2005/8/layout/hierarchy1"/>
    <dgm:cxn modelId="{AE3E4766-22DF-4136-820A-AD121E105D09}" type="presParOf" srcId="{1A765640-777B-4E6D-9DC4-EA70559E0F2D}" destId="{F039AF2B-CDDE-477E-A54A-7A2F61B97E09}" srcOrd="1" destOrd="0" presId="urn:microsoft.com/office/officeart/2005/8/layout/hierarchy1"/>
    <dgm:cxn modelId="{CF65BA44-3624-44D0-ACB2-33B1149DC08E}" type="presParOf" srcId="{BE42F659-7F07-486A-9B68-1EA809575A74}" destId="{7275315F-35EC-4415-BB46-73E7142682AE}" srcOrd="1" destOrd="0" presId="urn:microsoft.com/office/officeart/2005/8/layout/hierarchy1"/>
    <dgm:cxn modelId="{C424F7E4-C1A8-4E71-B60A-0C74084164D5}" type="presParOf" srcId="{7275315F-35EC-4415-BB46-73E7142682AE}" destId="{508DF496-FAD2-40DE-959D-5DD9A47AF739}" srcOrd="0" destOrd="0" presId="urn:microsoft.com/office/officeart/2005/8/layout/hierarchy1"/>
    <dgm:cxn modelId="{D52386DA-89BA-4E6D-BA98-92EE26C6804B}" type="presParOf" srcId="{508DF496-FAD2-40DE-959D-5DD9A47AF739}" destId="{AC05CC2A-55D8-4C21-B1CB-AF0B52AB33D5}" srcOrd="0" destOrd="0" presId="urn:microsoft.com/office/officeart/2005/8/layout/hierarchy1"/>
    <dgm:cxn modelId="{319C60BF-A434-422C-A7F9-22099AFD4647}" type="presParOf" srcId="{508DF496-FAD2-40DE-959D-5DD9A47AF739}" destId="{14860983-EBF1-4CB9-A22F-2EDCD2A0E352}" srcOrd="1" destOrd="0" presId="urn:microsoft.com/office/officeart/2005/8/layout/hierarchy1"/>
    <dgm:cxn modelId="{656FDD69-7948-4E87-B579-CE63F4B9A8E0}" type="presParOf" srcId="{7275315F-35EC-4415-BB46-73E7142682AE}" destId="{2DBB83AA-7CE3-48A1-9893-292EE0FD3B34}" srcOrd="1" destOrd="0" presId="urn:microsoft.com/office/officeart/2005/8/layout/hierarchy1"/>
    <dgm:cxn modelId="{EA8B5AB7-1105-415D-80CD-C0AD475176FA}" type="presParOf" srcId="{BE42F659-7F07-486A-9B68-1EA809575A74}" destId="{E5030E23-312C-4436-8CD0-AE2F758B9E4A}" srcOrd="2" destOrd="0" presId="urn:microsoft.com/office/officeart/2005/8/layout/hierarchy1"/>
    <dgm:cxn modelId="{1C0E9E01-0FC8-49B6-9747-66183B0BE605}" type="presParOf" srcId="{E5030E23-312C-4436-8CD0-AE2F758B9E4A}" destId="{D814B81A-0716-4568-A8FD-C1CCF83FA02C}" srcOrd="0" destOrd="0" presId="urn:microsoft.com/office/officeart/2005/8/layout/hierarchy1"/>
    <dgm:cxn modelId="{FD8D358C-C893-449A-A663-D18F2878ECC9}" type="presParOf" srcId="{D814B81A-0716-4568-A8FD-C1CCF83FA02C}" destId="{91DD3BBF-FE8D-4A3F-BFC9-51AC5BD70A7D}" srcOrd="0" destOrd="0" presId="urn:microsoft.com/office/officeart/2005/8/layout/hierarchy1"/>
    <dgm:cxn modelId="{B63F9C03-4F53-4E0C-B777-A0F22FF95D9B}" type="presParOf" srcId="{D814B81A-0716-4568-A8FD-C1CCF83FA02C}" destId="{30C6F2E3-9CC9-4C1D-8E3D-71540E1A99AC}" srcOrd="1" destOrd="0" presId="urn:microsoft.com/office/officeart/2005/8/layout/hierarchy1"/>
    <dgm:cxn modelId="{4E64476A-796E-47E4-A3A3-CC4CB473B3CD}" type="presParOf" srcId="{E5030E23-312C-4436-8CD0-AE2F758B9E4A}" destId="{75A2DDD6-4F35-4367-A1A7-E5B5B949231B}" srcOrd="1" destOrd="0" presId="urn:microsoft.com/office/officeart/2005/8/layout/hierarchy1"/>
    <dgm:cxn modelId="{901E1CAE-DB47-48B9-964F-2589D2127D2D}" type="presParOf" srcId="{BE42F659-7F07-486A-9B68-1EA809575A74}" destId="{07AD921D-95C4-4B5E-95AB-0E0D24873B75}" srcOrd="3" destOrd="0" presId="urn:microsoft.com/office/officeart/2005/8/layout/hierarchy1"/>
    <dgm:cxn modelId="{1CC6CB01-D14D-4CA7-89A3-91E3BFA86FB3}" type="presParOf" srcId="{07AD921D-95C4-4B5E-95AB-0E0D24873B75}" destId="{EFC3CABC-1F09-4716-862A-67A8DF7E0E87}" srcOrd="0" destOrd="0" presId="urn:microsoft.com/office/officeart/2005/8/layout/hierarchy1"/>
    <dgm:cxn modelId="{4BEC901E-4FEC-4443-B688-DB00B82C079D}" type="presParOf" srcId="{EFC3CABC-1F09-4716-862A-67A8DF7E0E87}" destId="{44D09F45-6974-4FA8-B870-6AA2F9ABCB5A}" srcOrd="0" destOrd="0" presId="urn:microsoft.com/office/officeart/2005/8/layout/hierarchy1"/>
    <dgm:cxn modelId="{CD12C387-036D-4E5F-BFED-D68BC830CAB9}" type="presParOf" srcId="{EFC3CABC-1F09-4716-862A-67A8DF7E0E87}" destId="{7ABA0E3C-DFE0-4A41-9B87-2B423886EDDB}" srcOrd="1" destOrd="0" presId="urn:microsoft.com/office/officeart/2005/8/layout/hierarchy1"/>
    <dgm:cxn modelId="{6C76ED4F-0364-4F55-BE06-1D0274131DED}" type="presParOf" srcId="{07AD921D-95C4-4B5E-95AB-0E0D24873B75}" destId="{0F63CF67-D2BC-4950-A0B3-B147FC71B833}"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98121D0-5CD5-4B9C-A28C-AA32D89B79B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0000691-12DA-44FD-AE15-52BC5F8C6A8F}">
      <dgm:prSet/>
      <dgm:spPr/>
      <dgm:t>
        <a:bodyPr/>
        <a:lstStyle/>
        <a:p>
          <a:r>
            <a:rPr lang="en-US" dirty="0" err="1"/>
            <a:t>Trautsch</a:t>
          </a:r>
          <a:r>
            <a:rPr lang="en-US" dirty="0"/>
            <a:t> et al. [75] differentiate “ITS SZZ” from “Ad Hoc SZZ”, where for the former they identify </a:t>
          </a:r>
          <a:r>
            <a:rPr lang="en-US" b="1" dirty="0"/>
            <a:t>defect-fixing changes </a:t>
          </a:r>
          <a:r>
            <a:rPr lang="en-US" dirty="0"/>
            <a:t>using explicit links in ITS and SCM, while for the later they use heuristics. They show that ITS SZZ offers an advantage in predictive performance. However, explicit links between ITS and SCM are not always available [32]. </a:t>
          </a:r>
        </a:p>
      </dgm:t>
    </dgm:pt>
    <dgm:pt modelId="{56136992-2154-4073-A30D-DEE90BC61B7F}" type="parTrans" cxnId="{D330F0BB-BE2E-434B-B01C-842F4980897E}">
      <dgm:prSet/>
      <dgm:spPr/>
      <dgm:t>
        <a:bodyPr/>
        <a:lstStyle/>
        <a:p>
          <a:endParaRPr lang="en-US"/>
        </a:p>
      </dgm:t>
    </dgm:pt>
    <dgm:pt modelId="{0B4BFE18-8EDC-4228-9D48-1A3F3D64C3EB}" type="sibTrans" cxnId="{D330F0BB-BE2E-434B-B01C-842F4980897E}">
      <dgm:prSet/>
      <dgm:spPr/>
      <dgm:t>
        <a:bodyPr/>
        <a:lstStyle/>
        <a:p>
          <a:endParaRPr lang="en-US"/>
        </a:p>
      </dgm:t>
    </dgm:pt>
    <dgm:pt modelId="{397E8752-BBB8-42D0-A5B1-2844963DEE9F}">
      <dgm:prSet/>
      <dgm:spPr/>
      <dgm:t>
        <a:bodyPr/>
        <a:lstStyle/>
        <a:p>
          <a:r>
            <a:rPr lang="en-US"/>
            <a:t>Quach et al. [59] discuss their choice of the SZZ implementations and give their preference to MA-SZZ [12]. Fan et al. [15] investigate the impact of the mislabeled changes by SZZ and assert that RA-SZZ [52], an extension to MA-SZZ is most accurate [15]. </a:t>
          </a:r>
        </a:p>
      </dgm:t>
    </dgm:pt>
    <dgm:pt modelId="{50E36B8B-9D4B-4B53-9E66-1B9E821FD380}" type="parTrans" cxnId="{AA24B79F-86AA-4174-9C7D-2D01A52819B8}">
      <dgm:prSet/>
      <dgm:spPr/>
      <dgm:t>
        <a:bodyPr/>
        <a:lstStyle/>
        <a:p>
          <a:endParaRPr lang="en-US"/>
        </a:p>
      </dgm:t>
    </dgm:pt>
    <dgm:pt modelId="{FAA5A52E-F631-4230-A8B6-29CFF78931B1}" type="sibTrans" cxnId="{AA24B79F-86AA-4174-9C7D-2D01A52819B8}">
      <dgm:prSet/>
      <dgm:spPr/>
      <dgm:t>
        <a:bodyPr/>
        <a:lstStyle/>
        <a:p>
          <a:endParaRPr lang="en-US"/>
        </a:p>
      </dgm:t>
    </dgm:pt>
    <dgm:pt modelId="{3DC65530-207B-48EB-BF3C-23141C22688F}">
      <dgm:prSet/>
      <dgm:spPr/>
      <dgm:t>
        <a:bodyPr/>
        <a:lstStyle/>
        <a:p>
          <a:r>
            <a:rPr lang="en-US"/>
            <a:t>However, Rosa et al.’s recent investigation on SZZ implementations does not yield a clear support for these exact preferences [64]. </a:t>
          </a:r>
        </a:p>
      </dgm:t>
    </dgm:pt>
    <dgm:pt modelId="{9C45207A-4C13-4CDB-9431-D2628802CF4A}" type="parTrans" cxnId="{07E0D5C7-C22F-4464-A0D9-5A3E0242EE06}">
      <dgm:prSet/>
      <dgm:spPr/>
      <dgm:t>
        <a:bodyPr/>
        <a:lstStyle/>
        <a:p>
          <a:endParaRPr lang="en-US"/>
        </a:p>
      </dgm:t>
    </dgm:pt>
    <dgm:pt modelId="{F9740D0D-95FD-4115-AD30-7BC53AA9390E}" type="sibTrans" cxnId="{07E0D5C7-C22F-4464-A0D9-5A3E0242EE06}">
      <dgm:prSet/>
      <dgm:spPr/>
      <dgm:t>
        <a:bodyPr/>
        <a:lstStyle/>
        <a:p>
          <a:endParaRPr lang="en-US"/>
        </a:p>
      </dgm:t>
    </dgm:pt>
    <dgm:pt modelId="{3C1445EA-EE77-4ACE-AB1B-C1B5DC8A967E}">
      <dgm:prSet/>
      <dgm:spPr/>
      <dgm:t>
        <a:bodyPr/>
        <a:lstStyle/>
        <a:p>
          <a:r>
            <a:rPr lang="en-US" dirty="0"/>
            <a:t>Some researchers still suggest manual vetting of SZZ results to ensure highest quality data is used to construct the JIT-SDP model [15, 59]. However, this is time-consuming and difficult to do for developers that are unfamiliar with a particular software project.</a:t>
          </a:r>
        </a:p>
      </dgm:t>
    </dgm:pt>
    <dgm:pt modelId="{52B27F91-EB15-4AA9-8DB4-78EE5232D6EF}" type="parTrans" cxnId="{659723FB-7103-4AB8-8E3C-4BC70C507982}">
      <dgm:prSet/>
      <dgm:spPr/>
      <dgm:t>
        <a:bodyPr/>
        <a:lstStyle/>
        <a:p>
          <a:endParaRPr lang="en-US"/>
        </a:p>
      </dgm:t>
    </dgm:pt>
    <dgm:pt modelId="{555B38D7-43D2-4DAF-9022-51A1E6282E17}" type="sibTrans" cxnId="{659723FB-7103-4AB8-8E3C-4BC70C507982}">
      <dgm:prSet/>
      <dgm:spPr/>
      <dgm:t>
        <a:bodyPr/>
        <a:lstStyle/>
        <a:p>
          <a:endParaRPr lang="en-US"/>
        </a:p>
      </dgm:t>
    </dgm:pt>
    <dgm:pt modelId="{F2A07D9C-A37C-4624-B5D8-65C9840A94C8}" type="pres">
      <dgm:prSet presAssocID="{898121D0-5CD5-4B9C-A28C-AA32D89B79B7}" presName="linear" presStyleCnt="0">
        <dgm:presLayoutVars>
          <dgm:animLvl val="lvl"/>
          <dgm:resizeHandles val="exact"/>
        </dgm:presLayoutVars>
      </dgm:prSet>
      <dgm:spPr/>
    </dgm:pt>
    <dgm:pt modelId="{FCD0FBDD-D761-4ED7-AEA8-51D3212C96D3}" type="pres">
      <dgm:prSet presAssocID="{B0000691-12DA-44FD-AE15-52BC5F8C6A8F}" presName="parentText" presStyleLbl="node1" presStyleIdx="0" presStyleCnt="4">
        <dgm:presLayoutVars>
          <dgm:chMax val="0"/>
          <dgm:bulletEnabled val="1"/>
        </dgm:presLayoutVars>
      </dgm:prSet>
      <dgm:spPr/>
    </dgm:pt>
    <dgm:pt modelId="{76892280-F169-4D92-8D96-0CF6E46EEB7E}" type="pres">
      <dgm:prSet presAssocID="{0B4BFE18-8EDC-4228-9D48-1A3F3D64C3EB}" presName="spacer" presStyleCnt="0"/>
      <dgm:spPr/>
    </dgm:pt>
    <dgm:pt modelId="{CF000D78-7896-4773-A8DF-A29D6EAB5029}" type="pres">
      <dgm:prSet presAssocID="{397E8752-BBB8-42D0-A5B1-2844963DEE9F}" presName="parentText" presStyleLbl="node1" presStyleIdx="1" presStyleCnt="4">
        <dgm:presLayoutVars>
          <dgm:chMax val="0"/>
          <dgm:bulletEnabled val="1"/>
        </dgm:presLayoutVars>
      </dgm:prSet>
      <dgm:spPr/>
    </dgm:pt>
    <dgm:pt modelId="{2ED7C938-9CDF-4527-91BE-5AC5E1E58B0A}" type="pres">
      <dgm:prSet presAssocID="{FAA5A52E-F631-4230-A8B6-29CFF78931B1}" presName="spacer" presStyleCnt="0"/>
      <dgm:spPr/>
    </dgm:pt>
    <dgm:pt modelId="{243203E1-E7E5-46F2-B360-86262F270CF6}" type="pres">
      <dgm:prSet presAssocID="{3DC65530-207B-48EB-BF3C-23141C22688F}" presName="parentText" presStyleLbl="node1" presStyleIdx="2" presStyleCnt="4">
        <dgm:presLayoutVars>
          <dgm:chMax val="0"/>
          <dgm:bulletEnabled val="1"/>
        </dgm:presLayoutVars>
      </dgm:prSet>
      <dgm:spPr/>
    </dgm:pt>
    <dgm:pt modelId="{AD204F13-8002-42B6-A05E-CCF833FC5000}" type="pres">
      <dgm:prSet presAssocID="{F9740D0D-95FD-4115-AD30-7BC53AA9390E}" presName="spacer" presStyleCnt="0"/>
      <dgm:spPr/>
    </dgm:pt>
    <dgm:pt modelId="{1B63F177-75F7-4DD5-A05D-70DF260FBA0C}" type="pres">
      <dgm:prSet presAssocID="{3C1445EA-EE77-4ACE-AB1B-C1B5DC8A967E}" presName="parentText" presStyleLbl="node1" presStyleIdx="3" presStyleCnt="4">
        <dgm:presLayoutVars>
          <dgm:chMax val="0"/>
          <dgm:bulletEnabled val="1"/>
        </dgm:presLayoutVars>
      </dgm:prSet>
      <dgm:spPr/>
    </dgm:pt>
  </dgm:ptLst>
  <dgm:cxnLst>
    <dgm:cxn modelId="{81B5BE07-8D1E-44E9-91E4-4FAE79424B3B}" type="presOf" srcId="{898121D0-5CD5-4B9C-A28C-AA32D89B79B7}" destId="{F2A07D9C-A37C-4624-B5D8-65C9840A94C8}" srcOrd="0" destOrd="0" presId="urn:microsoft.com/office/officeart/2005/8/layout/vList2"/>
    <dgm:cxn modelId="{05CBF129-1ED6-42F8-9400-ACBF0B73F970}" type="presOf" srcId="{3DC65530-207B-48EB-BF3C-23141C22688F}" destId="{243203E1-E7E5-46F2-B360-86262F270CF6}" srcOrd="0" destOrd="0" presId="urn:microsoft.com/office/officeart/2005/8/layout/vList2"/>
    <dgm:cxn modelId="{E06F4C81-5D09-441A-912D-D6C452DEA4F8}" type="presOf" srcId="{397E8752-BBB8-42D0-A5B1-2844963DEE9F}" destId="{CF000D78-7896-4773-A8DF-A29D6EAB5029}" srcOrd="0" destOrd="0" presId="urn:microsoft.com/office/officeart/2005/8/layout/vList2"/>
    <dgm:cxn modelId="{AA24B79F-86AA-4174-9C7D-2D01A52819B8}" srcId="{898121D0-5CD5-4B9C-A28C-AA32D89B79B7}" destId="{397E8752-BBB8-42D0-A5B1-2844963DEE9F}" srcOrd="1" destOrd="0" parTransId="{50E36B8B-9D4B-4B53-9E66-1B9E821FD380}" sibTransId="{FAA5A52E-F631-4230-A8B6-29CFF78931B1}"/>
    <dgm:cxn modelId="{629EA5B1-DB91-4504-A379-DEFE817B88BC}" type="presOf" srcId="{3C1445EA-EE77-4ACE-AB1B-C1B5DC8A967E}" destId="{1B63F177-75F7-4DD5-A05D-70DF260FBA0C}" srcOrd="0" destOrd="0" presId="urn:microsoft.com/office/officeart/2005/8/layout/vList2"/>
    <dgm:cxn modelId="{D330F0BB-BE2E-434B-B01C-842F4980897E}" srcId="{898121D0-5CD5-4B9C-A28C-AA32D89B79B7}" destId="{B0000691-12DA-44FD-AE15-52BC5F8C6A8F}" srcOrd="0" destOrd="0" parTransId="{56136992-2154-4073-A30D-DEE90BC61B7F}" sibTransId="{0B4BFE18-8EDC-4228-9D48-1A3F3D64C3EB}"/>
    <dgm:cxn modelId="{07E0D5C7-C22F-4464-A0D9-5A3E0242EE06}" srcId="{898121D0-5CD5-4B9C-A28C-AA32D89B79B7}" destId="{3DC65530-207B-48EB-BF3C-23141C22688F}" srcOrd="2" destOrd="0" parTransId="{9C45207A-4C13-4CDB-9431-D2628802CF4A}" sibTransId="{F9740D0D-95FD-4115-AD30-7BC53AA9390E}"/>
    <dgm:cxn modelId="{6C5F13F5-6FEC-4A50-BE83-97AC5CBE777D}" type="presOf" srcId="{B0000691-12DA-44FD-AE15-52BC5F8C6A8F}" destId="{FCD0FBDD-D761-4ED7-AEA8-51D3212C96D3}" srcOrd="0" destOrd="0" presId="urn:microsoft.com/office/officeart/2005/8/layout/vList2"/>
    <dgm:cxn modelId="{659723FB-7103-4AB8-8E3C-4BC70C507982}" srcId="{898121D0-5CD5-4B9C-A28C-AA32D89B79B7}" destId="{3C1445EA-EE77-4ACE-AB1B-C1B5DC8A967E}" srcOrd="3" destOrd="0" parTransId="{52B27F91-EB15-4AA9-8DB4-78EE5232D6EF}" sibTransId="{555B38D7-43D2-4DAF-9022-51A1E6282E17}"/>
    <dgm:cxn modelId="{72384EAC-3D3A-418E-A71F-1F450185C385}" type="presParOf" srcId="{F2A07D9C-A37C-4624-B5D8-65C9840A94C8}" destId="{FCD0FBDD-D761-4ED7-AEA8-51D3212C96D3}" srcOrd="0" destOrd="0" presId="urn:microsoft.com/office/officeart/2005/8/layout/vList2"/>
    <dgm:cxn modelId="{B7FEC7FF-90A0-4795-A02F-1038C01B6EA6}" type="presParOf" srcId="{F2A07D9C-A37C-4624-B5D8-65C9840A94C8}" destId="{76892280-F169-4D92-8D96-0CF6E46EEB7E}" srcOrd="1" destOrd="0" presId="urn:microsoft.com/office/officeart/2005/8/layout/vList2"/>
    <dgm:cxn modelId="{A6D942A2-6985-43A0-AC68-79152F9C8263}" type="presParOf" srcId="{F2A07D9C-A37C-4624-B5D8-65C9840A94C8}" destId="{CF000D78-7896-4773-A8DF-A29D6EAB5029}" srcOrd="2" destOrd="0" presId="urn:microsoft.com/office/officeart/2005/8/layout/vList2"/>
    <dgm:cxn modelId="{32ADBC76-15FC-43E7-9461-3F85032D6200}" type="presParOf" srcId="{F2A07D9C-A37C-4624-B5D8-65C9840A94C8}" destId="{2ED7C938-9CDF-4527-91BE-5AC5E1E58B0A}" srcOrd="3" destOrd="0" presId="urn:microsoft.com/office/officeart/2005/8/layout/vList2"/>
    <dgm:cxn modelId="{FA20C951-3575-4873-AF61-B51C9F9B1429}" type="presParOf" srcId="{F2A07D9C-A37C-4624-B5D8-65C9840A94C8}" destId="{243203E1-E7E5-46F2-B360-86262F270CF6}" srcOrd="4" destOrd="0" presId="urn:microsoft.com/office/officeart/2005/8/layout/vList2"/>
    <dgm:cxn modelId="{AC1CC456-4C1C-42D0-917F-15CB4F9E5C78}" type="presParOf" srcId="{F2A07D9C-A37C-4624-B5D8-65C9840A94C8}" destId="{AD204F13-8002-42B6-A05E-CCF833FC5000}" srcOrd="5" destOrd="0" presId="urn:microsoft.com/office/officeart/2005/8/layout/vList2"/>
    <dgm:cxn modelId="{DE730F47-D3F0-4CFD-821D-00E010FEF81A}" type="presParOf" srcId="{F2A07D9C-A37C-4624-B5D8-65C9840A94C8}" destId="{1B63F177-75F7-4DD5-A05D-70DF260FBA0C}"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DA2C8F-D72E-4FA9-8750-472AF819C337}">
      <dsp:nvSpPr>
        <dsp:cNvPr id="0" name=""/>
        <dsp:cNvSpPr/>
      </dsp:nvSpPr>
      <dsp:spPr>
        <a:xfrm>
          <a:off x="45221" y="779"/>
          <a:ext cx="2366828" cy="15029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FD6506-C3CC-43CE-8AB8-D9D952939CAB}">
      <dsp:nvSpPr>
        <dsp:cNvPr id="0" name=""/>
        <dsp:cNvSpPr/>
      </dsp:nvSpPr>
      <dsp:spPr>
        <a:xfrm>
          <a:off x="308202" y="250610"/>
          <a:ext cx="2366828" cy="150293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Data sources: code change, commit message, issue reports…</a:t>
          </a:r>
        </a:p>
      </dsp:txBody>
      <dsp:txXfrm>
        <a:off x="352221" y="294629"/>
        <a:ext cx="2278790" cy="1414897"/>
      </dsp:txXfrm>
    </dsp:sp>
    <dsp:sp modelId="{AC05CC2A-55D8-4C21-B1CB-AF0B52AB33D5}">
      <dsp:nvSpPr>
        <dsp:cNvPr id="0" name=""/>
        <dsp:cNvSpPr/>
      </dsp:nvSpPr>
      <dsp:spPr>
        <a:xfrm>
          <a:off x="2938011" y="779"/>
          <a:ext cx="2366828" cy="15029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4860983-EBF1-4CB9-A22F-2EDCD2A0E352}">
      <dsp:nvSpPr>
        <dsp:cNvPr id="0" name=""/>
        <dsp:cNvSpPr/>
      </dsp:nvSpPr>
      <dsp:spPr>
        <a:xfrm>
          <a:off x="3200992" y="250610"/>
          <a:ext cx="2366828" cy="150293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Data Acquisition: covert source data into raw feature vectors, like software metrics</a:t>
          </a:r>
        </a:p>
      </dsp:txBody>
      <dsp:txXfrm>
        <a:off x="3245011" y="294629"/>
        <a:ext cx="2278790" cy="1414897"/>
      </dsp:txXfrm>
    </dsp:sp>
    <dsp:sp modelId="{91DD3BBF-FE8D-4A3F-BFC9-51AC5BD70A7D}">
      <dsp:nvSpPr>
        <dsp:cNvPr id="0" name=""/>
        <dsp:cNvSpPr/>
      </dsp:nvSpPr>
      <dsp:spPr>
        <a:xfrm>
          <a:off x="5830801" y="779"/>
          <a:ext cx="2366828" cy="15029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C6F2E3-9CC9-4C1D-8E3D-71540E1A99AC}">
      <dsp:nvSpPr>
        <dsp:cNvPr id="0" name=""/>
        <dsp:cNvSpPr/>
      </dsp:nvSpPr>
      <dsp:spPr>
        <a:xfrm>
          <a:off x="6093782" y="250610"/>
          <a:ext cx="2366828" cy="150293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dirty="0"/>
            <a:t>Change Labeling: identify the defect introducing change from a fix change(Ad hoc: commit message; Issue tracking system(ITS))</a:t>
          </a:r>
        </a:p>
      </dsp:txBody>
      <dsp:txXfrm>
        <a:off x="6137801" y="294629"/>
        <a:ext cx="2278790" cy="1414897"/>
      </dsp:txXfrm>
    </dsp:sp>
    <dsp:sp modelId="{44D09F45-6974-4FA8-B870-6AA2F9ABCB5A}">
      <dsp:nvSpPr>
        <dsp:cNvPr id="0" name=""/>
        <dsp:cNvSpPr/>
      </dsp:nvSpPr>
      <dsp:spPr>
        <a:xfrm>
          <a:off x="8723592" y="779"/>
          <a:ext cx="2366828" cy="150293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BA0E3C-DFE0-4A41-9B87-2B423886EDDB}">
      <dsp:nvSpPr>
        <dsp:cNvPr id="0" name=""/>
        <dsp:cNvSpPr/>
      </dsp:nvSpPr>
      <dsp:spPr>
        <a:xfrm>
          <a:off x="8986573" y="250610"/>
          <a:ext cx="2366828" cy="1502935"/>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kern="1200"/>
            <a:t>Data Preparation: Preprocessing, like class imbalance,</a:t>
          </a:r>
        </a:p>
      </dsp:txBody>
      <dsp:txXfrm>
        <a:off x="9030592" y="294629"/>
        <a:ext cx="2278790" cy="14148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D0FBDD-D761-4ED7-AEA8-51D3212C96D3}">
      <dsp:nvSpPr>
        <dsp:cNvPr id="0" name=""/>
        <dsp:cNvSpPr/>
      </dsp:nvSpPr>
      <dsp:spPr>
        <a:xfrm>
          <a:off x="0" y="472084"/>
          <a:ext cx="11591972" cy="89505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err="1"/>
            <a:t>Trautsch</a:t>
          </a:r>
          <a:r>
            <a:rPr lang="en-US" sz="1700" kern="1200" dirty="0"/>
            <a:t> et al. [75] differentiate “ITS SZZ” from “Ad Hoc SZZ”, where for the former they identify </a:t>
          </a:r>
          <a:r>
            <a:rPr lang="en-US" sz="1700" b="1" kern="1200" dirty="0"/>
            <a:t>defect-fixing changes </a:t>
          </a:r>
          <a:r>
            <a:rPr lang="en-US" sz="1700" kern="1200" dirty="0"/>
            <a:t>using explicit links in ITS and SCM, while for the later they use heuristics. They show that ITS SZZ offers an advantage in predictive performance. However, explicit links between ITS and SCM are not always available [32]. </a:t>
          </a:r>
        </a:p>
      </dsp:txBody>
      <dsp:txXfrm>
        <a:off x="43693" y="515777"/>
        <a:ext cx="11504586" cy="807664"/>
      </dsp:txXfrm>
    </dsp:sp>
    <dsp:sp modelId="{CF000D78-7896-4773-A8DF-A29D6EAB5029}">
      <dsp:nvSpPr>
        <dsp:cNvPr id="0" name=""/>
        <dsp:cNvSpPr/>
      </dsp:nvSpPr>
      <dsp:spPr>
        <a:xfrm>
          <a:off x="0" y="1416094"/>
          <a:ext cx="11591972" cy="89505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Quach et al. [59] discuss their choice of the SZZ implementations and give their preference to MA-SZZ [12]. Fan et al. [15] investigate the impact of the mislabeled changes by SZZ and assert that RA-SZZ [52], an extension to MA-SZZ is most accurate [15]. </a:t>
          </a:r>
        </a:p>
      </dsp:txBody>
      <dsp:txXfrm>
        <a:off x="43693" y="1459787"/>
        <a:ext cx="11504586" cy="807664"/>
      </dsp:txXfrm>
    </dsp:sp>
    <dsp:sp modelId="{243203E1-E7E5-46F2-B360-86262F270CF6}">
      <dsp:nvSpPr>
        <dsp:cNvPr id="0" name=""/>
        <dsp:cNvSpPr/>
      </dsp:nvSpPr>
      <dsp:spPr>
        <a:xfrm>
          <a:off x="0" y="2360104"/>
          <a:ext cx="11591972" cy="89505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However, Rosa et al.’s recent investigation on SZZ implementations does not yield a clear support for these exact preferences [64]. </a:t>
          </a:r>
        </a:p>
      </dsp:txBody>
      <dsp:txXfrm>
        <a:off x="43693" y="2403797"/>
        <a:ext cx="11504586" cy="807664"/>
      </dsp:txXfrm>
    </dsp:sp>
    <dsp:sp modelId="{1B63F177-75F7-4DD5-A05D-70DF260FBA0C}">
      <dsp:nvSpPr>
        <dsp:cNvPr id="0" name=""/>
        <dsp:cNvSpPr/>
      </dsp:nvSpPr>
      <dsp:spPr>
        <a:xfrm>
          <a:off x="0" y="3304114"/>
          <a:ext cx="11591972" cy="89505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Some researchers still suggest manual vetting of SZZ results to ensure highest quality data is used to construct the JIT-SDP model [15, 59]. However, this is time-consuming and difficult to do for developers that are unfamiliar with a particular software project.</a:t>
          </a:r>
        </a:p>
      </dsp:txBody>
      <dsp:txXfrm>
        <a:off x="43693" y="3347807"/>
        <a:ext cx="11504586" cy="80766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dirty="0">
                <a:effectLst/>
                <a:latin typeface="Segoe UI" panose="020B0502040204020203" pitchFamily="34" charset="0"/>
              </a:rPr>
              <a:t>1h presentation, may skip slides, page number, could be stopped, discussion, give chance</a:t>
            </a: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4621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836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7950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5221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4838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7443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Mention the data is from the paper and new search</a:t>
            </a:r>
            <a:endParaRPr dirty="0"/>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849622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27790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7" name="Google Shape;12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88047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6228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kern="1200" baseline="0" dirty="0">
                <a:solidFill>
                  <a:schemeClr val="tx1"/>
                </a:solidFill>
                <a:latin typeface="+mn-lt"/>
                <a:ea typeface="+mn-ea"/>
                <a:cs typeface="+mn-cs"/>
              </a:rPr>
              <a:t>Upon completing a modification to a software project, a developer records the change to a SCM using the commit command, which results a creation of a new revision number in the SCM. We can then define a software change as the difference of two revisions in succession in the SCM, e.g., the output of the git diff command.</a:t>
            </a:r>
          </a:p>
          <a:p>
            <a:pPr marL="0" lvl="0" indent="0" algn="l" rtl="0">
              <a:spcBef>
                <a:spcPts val="0"/>
              </a:spcBef>
              <a:spcAft>
                <a:spcPts val="0"/>
              </a:spcAft>
              <a:buNone/>
            </a:pPr>
            <a:endParaRPr dirty="0"/>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5909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kern="1200" baseline="0" dirty="0">
                <a:solidFill>
                  <a:schemeClr val="tx1"/>
                </a:solidFill>
                <a:latin typeface="+mn-lt"/>
                <a:ea typeface="+mn-ea"/>
                <a:cs typeface="+mn-cs"/>
              </a:rPr>
              <a:t>Upon completing a modification to a software project, a developer records the change to a SCM using the commit command, which results a creation of a new revision number in the SCM. We can then define a software change as the difference of two revisions in succession in the SCM, e.g., the output of the git diff command.</a:t>
            </a:r>
          </a:p>
          <a:p>
            <a:pPr marL="0" lvl="0" indent="0" algn="l" rtl="0">
              <a:spcBef>
                <a:spcPts val="0"/>
              </a:spcBef>
              <a:spcAft>
                <a:spcPts val="0"/>
              </a:spcAft>
              <a:buNone/>
            </a:pPr>
            <a:endParaRPr dirty="0"/>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1353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r>
              <a:rPr lang="en-US" sz="1800" b="0" i="0" u="none" strike="noStrike" baseline="0" dirty="0">
                <a:latin typeface="Abadi" panose="020B0604020104020204" pitchFamily="34" charset="0"/>
              </a:rPr>
              <a:t>A software change (i.e., changeset) is the difference between two revisions of the software in a SCM (e.g., git). </a:t>
            </a:r>
          </a:p>
          <a:p>
            <a:pPr algn="l"/>
            <a:r>
              <a:rPr lang="en-US" sz="1800" b="0" i="0" u="none" strike="noStrike" baseline="0" dirty="0">
                <a:latin typeface="Abadi" panose="020B0604020104020204" pitchFamily="34" charset="0"/>
              </a:rPr>
              <a:t>Upon completing a modification to a software project, a developer records the change to a SCM using the commit command, which results in a creation of a new revision number in the SCM. </a:t>
            </a:r>
          </a:p>
          <a:p>
            <a:pPr algn="l"/>
            <a:endParaRPr lang="en-US" sz="1800" b="0" i="0" u="none" strike="noStrike" baseline="0" dirty="0">
              <a:latin typeface="Abadi" panose="020B0604020104020204" pitchFamily="34" charset="0"/>
            </a:endParaRPr>
          </a:p>
          <a:p>
            <a:pPr algn="l"/>
            <a:r>
              <a:rPr lang="en-US" sz="1800" b="0" i="0" u="none" strike="noStrike" baseline="0" dirty="0">
                <a:latin typeface="Abadi" panose="020B0604020104020204" pitchFamily="34" charset="0"/>
              </a:rPr>
              <a:t>We compute a software change as the difference of two successive revisions in the SCM, e.g., the output of the git diff command.</a:t>
            </a:r>
          </a:p>
          <a:p>
            <a:pPr algn="l"/>
            <a:endParaRPr lang="en-US" sz="1800" b="0" i="0" u="none" strike="noStrike" baseline="0" dirty="0">
              <a:latin typeface="Abadi" panose="020B0604020104020204" pitchFamily="34" charset="0"/>
            </a:endParaRPr>
          </a:p>
          <a:p>
            <a:pPr algn="l"/>
            <a:r>
              <a:rPr lang="en-US" sz="1800" b="0" i="0" u="none" strike="noStrike" baseline="0" dirty="0">
                <a:latin typeface="Abadi" panose="020B0604020104020204" pitchFamily="34" charset="0"/>
              </a:rPr>
              <a:t>Figure 2 is an example of a software change computed by the git diff command containing two hunks. Each of the hunks corresponds to a part of a file in the commit, consisting of one or more</a:t>
            </a:r>
          </a:p>
          <a:p>
            <a:pPr algn="l"/>
            <a:r>
              <a:rPr lang="en-US" sz="1800" b="0" i="0" u="none" strike="noStrike" baseline="0" dirty="0">
                <a:latin typeface="Abadi" panose="020B0604020104020204" pitchFamily="34" charset="0"/>
              </a:rPr>
              <a:t>nearby modifications, i.e., lines of code added or deleted.</a:t>
            </a:r>
            <a:endParaRPr dirty="0"/>
          </a:p>
        </p:txBody>
      </p:sp>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95258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6595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11991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56" name="Google Shape;15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58582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38581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3" name="Google Shape;1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172056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68341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8898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17157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78" name="Google Shape;17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47842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4070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8" name="Google Shape;1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8" name="Google Shape;1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8816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80633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sz="1800" dirty="0">
                <a:latin typeface="+mn-lt"/>
              </a:rPr>
              <a:t>• </a:t>
            </a:r>
            <a:r>
              <a:rPr lang="en-US" sz="1800" b="1" dirty="0">
                <a:latin typeface="+mn-lt"/>
              </a:rPr>
              <a:t>Preprocessing</a:t>
            </a:r>
            <a:r>
              <a:rPr lang="en-US" sz="1800" dirty="0">
                <a:latin typeface="+mn-lt"/>
              </a:rPr>
              <a:t>: This part takes information from the code change of the given patch as an input and outputs a list of files. Each file includes a set of removed code lines and added code lines.</a:t>
            </a:r>
          </a:p>
          <a:p>
            <a:pPr marL="0" lvl="0" indent="0" algn="l" rtl="0">
              <a:lnSpc>
                <a:spcPct val="90000"/>
              </a:lnSpc>
              <a:spcBef>
                <a:spcPts val="0"/>
              </a:spcBef>
              <a:spcAft>
                <a:spcPts val="0"/>
              </a:spcAft>
              <a:buClr>
                <a:schemeClr val="dk1"/>
              </a:buClr>
              <a:buSzPts val="2000"/>
              <a:buNone/>
            </a:pPr>
            <a:r>
              <a:rPr lang="en-US" sz="1800" dirty="0">
                <a:latin typeface="+mn-lt"/>
              </a:rPr>
              <a:t>• </a:t>
            </a:r>
            <a:r>
              <a:rPr lang="en-US" sz="1800" b="1" dirty="0">
                <a:latin typeface="+mn-lt"/>
              </a:rPr>
              <a:t>Input layer</a:t>
            </a:r>
            <a:r>
              <a:rPr lang="en-US" sz="1800" dirty="0">
                <a:latin typeface="+mn-lt"/>
              </a:rPr>
              <a:t>: This part encodes each changed file as a three-dimensional</a:t>
            </a:r>
          </a:p>
          <a:p>
            <a:pPr marL="0" lvl="0" indent="0" algn="l" rtl="0">
              <a:lnSpc>
                <a:spcPct val="90000"/>
              </a:lnSpc>
              <a:spcBef>
                <a:spcPts val="0"/>
              </a:spcBef>
              <a:spcAft>
                <a:spcPts val="0"/>
              </a:spcAft>
              <a:buClr>
                <a:schemeClr val="dk1"/>
              </a:buClr>
              <a:buSzPts val="2000"/>
              <a:buNone/>
            </a:pPr>
            <a:r>
              <a:rPr lang="en-US" sz="1800" dirty="0">
                <a:latin typeface="+mn-lt"/>
              </a:rPr>
              <a:t>matrix to be given as input to the hierarchical attention network (HAN) for extracting features.</a:t>
            </a:r>
          </a:p>
          <a:p>
            <a:pPr marL="0" lvl="0" indent="0" algn="l" rtl="0">
              <a:lnSpc>
                <a:spcPct val="90000"/>
              </a:lnSpc>
              <a:spcBef>
                <a:spcPts val="0"/>
              </a:spcBef>
              <a:spcAft>
                <a:spcPts val="0"/>
              </a:spcAft>
              <a:buClr>
                <a:schemeClr val="dk1"/>
              </a:buClr>
              <a:buSzPts val="2000"/>
              <a:buNone/>
            </a:pPr>
            <a:r>
              <a:rPr lang="en-US" sz="1800" dirty="0">
                <a:latin typeface="+mn-lt"/>
              </a:rPr>
              <a:t>• </a:t>
            </a:r>
            <a:r>
              <a:rPr lang="en-US" sz="1800" b="1" dirty="0">
                <a:latin typeface="+mn-lt"/>
              </a:rPr>
              <a:t>Feature extraction layers</a:t>
            </a:r>
            <a:r>
              <a:rPr lang="en-US" sz="1800" dirty="0">
                <a:latin typeface="+mn-lt"/>
              </a:rPr>
              <a:t>: This part extracts the embedding vector (a.k.a. features) of each changed file. The resulting embedding vectors are then concatenated to form the vector representation of the code change in a given patch.</a:t>
            </a:r>
          </a:p>
          <a:p>
            <a:pPr marL="0" lvl="0" indent="0" algn="l" rtl="0">
              <a:lnSpc>
                <a:spcPct val="90000"/>
              </a:lnSpc>
              <a:spcBef>
                <a:spcPts val="0"/>
              </a:spcBef>
              <a:spcAft>
                <a:spcPts val="0"/>
              </a:spcAft>
              <a:buClr>
                <a:schemeClr val="dk1"/>
              </a:buClr>
              <a:buSzPts val="2000"/>
              <a:buNone/>
            </a:pPr>
            <a:r>
              <a:rPr lang="en-US" sz="1800" dirty="0">
                <a:latin typeface="+mn-lt"/>
              </a:rPr>
              <a:t>• </a:t>
            </a:r>
            <a:r>
              <a:rPr lang="en-US" sz="1800" b="1" dirty="0">
                <a:latin typeface="+mn-lt"/>
              </a:rPr>
              <a:t>Feature fusion layers and word prediction layer</a:t>
            </a:r>
            <a:r>
              <a:rPr lang="en-US" sz="1800" dirty="0">
                <a:latin typeface="+mn-lt"/>
              </a:rPr>
              <a:t>: This part maps the vector representation of the code change to a word vector extracted from the first line of log message; the word vector indicates the probabilities that various words describe the patch.</a:t>
            </a:r>
          </a:p>
          <a:p>
            <a:pPr algn="l"/>
            <a:endParaRPr lang="en-US" sz="1800" b="0" i="0" u="none" strike="noStrike" baseline="0" dirty="0">
              <a:latin typeface="Abadi" panose="020B0604020104020204" pitchFamily="34" charset="0"/>
            </a:endParaRPr>
          </a:p>
          <a:p>
            <a:pPr algn="l"/>
            <a:endParaRPr dirty="0"/>
          </a:p>
        </p:txBody>
      </p:sp>
      <p:sp>
        <p:nvSpPr>
          <p:cNvPr id="198" name="Google Shape;1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5925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8035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697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880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9" name="Google Shape;20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75330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98064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16" name="Google Shape;21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47060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39" name="Google Shape;23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999642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65" name="Google Shape;26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b="0" i="0" u="none" strike="noStrike" baseline="0" dirty="0">
                <a:latin typeface="Abadi" panose="020B0604020104020204" pitchFamily="34" charset="0"/>
              </a:rPr>
              <a:t>There are several key decisions we ought to make in JIT-SDP Modeling.</a:t>
            </a:r>
            <a:endParaRPr dirty="0"/>
          </a:p>
        </p:txBody>
      </p:sp>
      <p:sp>
        <p:nvSpPr>
          <p:cNvPr id="254" name="Google Shape;2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5" name="Google Shape;285;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b="0" i="0" u="none" strike="noStrike" baseline="0" dirty="0">
                <a:latin typeface="Abadi" panose="020B0604020104020204" pitchFamily="34" charset="0"/>
              </a:rPr>
              <a:t>There are several key decisions we ought to make in JIT-SDP Modeling.</a:t>
            </a:r>
            <a:endParaRPr dirty="0"/>
          </a:p>
        </p:txBody>
      </p:sp>
      <p:sp>
        <p:nvSpPr>
          <p:cNvPr id="254" name="Google Shape;2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26367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b="0" i="0" u="none" strike="noStrike" baseline="0" dirty="0">
                <a:latin typeface="Abadi" panose="020B0604020104020204" pitchFamily="34" charset="0"/>
              </a:rPr>
              <a:t>There are several key decisions we ought to make in JIT-SDP Modeling.</a:t>
            </a:r>
            <a:endParaRPr dirty="0"/>
          </a:p>
        </p:txBody>
      </p:sp>
      <p:sp>
        <p:nvSpPr>
          <p:cNvPr id="254" name="Google Shape;25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68841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10" name="Google Shape;310;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7" name="Google Shape;31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r>
              <a:rPr lang="en-US" sz="1800" b="0" i="0" u="none" strike="noStrike" baseline="0" dirty="0">
                <a:latin typeface="Abadi" panose="020B0604020104020204" pitchFamily="34" charset="0"/>
              </a:rPr>
              <a:t>Lin et al. [44] report that the most important metric of the CP-JIT-SDP model using data merging (global model) is only consistent with 55% of the studied projects’ local models (a model trained from an individual project), which suggests that the interpretation of global models cannot capture the variation of the interpretation for all local models.</a:t>
            </a:r>
            <a:endParaRPr dirty="0"/>
          </a:p>
        </p:txBody>
      </p:sp>
      <p:sp>
        <p:nvSpPr>
          <p:cNvPr id="324" name="Google Shape;324;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883139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8" name="Google Shape;33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3" name="Google Shape;35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1" name="Google Shape;37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742455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9" name="Google Shape;379;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r>
              <a:rPr lang="en-US" sz="1800" b="0" i="0" u="none" strike="noStrike" baseline="0" dirty="0">
                <a:latin typeface="Abadi" panose="020B0604020104020204" pitchFamily="34" charset="0"/>
              </a:rPr>
              <a:t>Figure 3 shows the violin plots of F1 score in the selected JIT-SDP studies; the filled violin plots represent the studies that use the Kamei-2012 data set. For clarity, we sort the filled violin plots by the median F1-scores reported in those studies. </a:t>
            </a:r>
          </a:p>
          <a:p>
            <a:pPr algn="l"/>
            <a:r>
              <a:rPr lang="en-US" sz="1800" b="0" i="0" u="none" strike="noStrike" baseline="0" dirty="0">
                <a:latin typeface="Abadi" panose="020B0604020104020204" pitchFamily="34" charset="0"/>
              </a:rPr>
              <a:t>Although 14 studies report F1-scores, we exclude the study by </a:t>
            </a:r>
            <a:r>
              <a:rPr lang="en-US" sz="1800" b="0" i="0" u="none" strike="noStrike" baseline="0" dirty="0" err="1">
                <a:latin typeface="Abadi" panose="020B0604020104020204" pitchFamily="34" charset="0"/>
              </a:rPr>
              <a:t>Trautsch</a:t>
            </a:r>
            <a:r>
              <a:rPr lang="en-US" sz="1800" b="0" i="0" u="none" strike="noStrike" baseline="0" dirty="0">
                <a:latin typeface="Abadi" panose="020B0604020104020204" pitchFamily="34" charset="0"/>
              </a:rPr>
              <a:t> et al. [75] from the figure since it only gives a single mean and standard deviation of the 39 projects evaluated, which is not sufficient to produce a violin plot.</a:t>
            </a:r>
          </a:p>
          <a:p>
            <a:pPr algn="l"/>
            <a:r>
              <a:rPr lang="en-US" sz="1800" b="0" i="0" u="none" strike="noStrike" baseline="0" dirty="0">
                <a:latin typeface="Abadi" panose="020B0604020104020204" pitchFamily="34" charset="0"/>
              </a:rPr>
              <a:t>Our observations based on Figure 3 are as follows. The study by Zhu et al. [94] appears to be an outlier in that it offers by far the best performance on the Kamei-2012 data set. However, in their study, Zhu et al. [94] show widely improved performance for the baseline as well, indicating that the reported performance may not be comparable.</a:t>
            </a:r>
          </a:p>
          <a:p>
            <a:pPr algn="l"/>
            <a:r>
              <a:rPr lang="en-US" sz="1800" b="0" i="0" u="none" strike="noStrike" baseline="0" dirty="0">
                <a:latin typeface="Abadi" panose="020B0604020104020204" pitchFamily="34" charset="0"/>
              </a:rPr>
              <a:t>A method of visualization is violin plots, which illustrate the distribution of the predictive performance. A violin plot is like a box plot that reports summary statistics such as minima, maxima, and median, but is also more informative than a box plot since the violin plot also shows the distribution of the data. The form of the violin plots we render in</a:t>
            </a:r>
          </a:p>
          <a:p>
            <a:pPr algn="l"/>
            <a:r>
              <a:rPr lang="en-US" sz="1800" b="0" i="0" u="none" strike="noStrike" baseline="0" dirty="0">
                <a:latin typeface="Abadi" panose="020B0604020104020204" pitchFamily="34" charset="0"/>
              </a:rPr>
              <a:t>this section is as follows. </a:t>
            </a:r>
          </a:p>
          <a:p>
            <a:pPr algn="l"/>
            <a:r>
              <a:rPr lang="en-US" sz="1800" b="0" i="0" u="none" strike="noStrike" baseline="0" dirty="0">
                <a:latin typeface="Abadi" panose="020B0604020104020204" pitchFamily="34" charset="0"/>
              </a:rPr>
              <a:t>The left and right contours of a plot exhibit the distribution of the data.  The upper and lower limits of the plot show the maximum, and the minimum and the middle bar the average. The upper and lower limits of the filled rectangle inside the plot are the 3rd and 1</a:t>
            </a:r>
            <a:r>
              <a:rPr lang="en-US" sz="1800" b="0" i="0" u="none" strike="noStrike" baseline="30000" dirty="0">
                <a:latin typeface="Abadi" panose="020B0604020104020204" pitchFamily="34" charset="0"/>
              </a:rPr>
              <a:t>st</a:t>
            </a:r>
            <a:r>
              <a:rPr lang="en-US" sz="1800" b="0" i="0" u="none" strike="noStrike" baseline="0" dirty="0">
                <a:latin typeface="Abadi" panose="020B0604020104020204" pitchFamily="34" charset="0"/>
              </a:rPr>
              <a:t> quantile while the hollow circle is the median (i.e., the 2nd quantile).</a:t>
            </a:r>
            <a:endParaRPr dirty="0"/>
          </a:p>
        </p:txBody>
      </p:sp>
      <p:sp>
        <p:nvSpPr>
          <p:cNvPr id="420" name="Google Shape;42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algn="l"/>
            <a:r>
              <a:rPr lang="en-US" sz="1800" b="0" i="0" u="none" strike="noStrike" baseline="0" dirty="0">
                <a:latin typeface="Abadi" panose="020B0604020104020204" pitchFamily="34" charset="0"/>
              </a:rPr>
              <a:t>The number of changes can be considered as a measure for project maturity for JIT-SDP, </a:t>
            </a:r>
          </a:p>
          <a:p>
            <a:pPr algn="l"/>
            <a:r>
              <a:rPr lang="en-US" sz="1800" b="0" i="0" u="none" strike="noStrike" baseline="0" dirty="0">
                <a:latin typeface="Abadi" panose="020B0604020104020204" pitchFamily="34" charset="0"/>
              </a:rPr>
              <a:t>and the ratio of defect-inducing changes as a measure of project</a:t>
            </a:r>
          </a:p>
          <a:p>
            <a:pPr algn="l"/>
            <a:r>
              <a:rPr lang="en-US" sz="1800" b="0" i="0" u="none" strike="noStrike" baseline="0" dirty="0">
                <a:latin typeface="Abadi" panose="020B0604020104020204" pitchFamily="34" charset="0"/>
              </a:rPr>
              <a:t>quality.</a:t>
            </a:r>
            <a:endParaRPr dirty="0"/>
          </a:p>
        </p:txBody>
      </p:sp>
      <p:sp>
        <p:nvSpPr>
          <p:cNvPr id="442" name="Google Shape;442;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sz="1800" dirty="0">
                <a:effectLst/>
                <a:latin typeface="Segoe UI" panose="020B0502040204020203" pitchFamily="34" charset="0"/>
              </a:rPr>
              <a:t>Left figures from different researches which use different datasets, to prove the conclusion</a:t>
            </a:r>
            <a:endParaRPr dirty="0"/>
          </a:p>
        </p:txBody>
      </p:sp>
      <p:sp>
        <p:nvSpPr>
          <p:cNvPr id="458" name="Google Shape;45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91590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56782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800" dirty="0">
                <a:effectLst/>
                <a:latin typeface="Segoe UI" panose="020B0502040204020203" pitchFamily="34" charset="0"/>
              </a:rPr>
              <a:t>Explain figure b more, process stops earlier or memory enough, called less and so on</a:t>
            </a:r>
            <a:endParaRPr lang="en-US" sz="1800" dirty="0">
              <a:effectLst/>
              <a:latin typeface="Arial" panose="020B0604020202020204" pitchFamily="34" charset="0"/>
            </a:endParaRPr>
          </a:p>
          <a:p>
            <a:pPr marL="0" lvl="0" indent="0" algn="l" rtl="0">
              <a:spcBef>
                <a:spcPts val="0"/>
              </a:spcBef>
              <a:spcAft>
                <a:spcPts val="0"/>
              </a:spcAft>
              <a:buNone/>
            </a:pPr>
            <a:endParaRPr dirty="0"/>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184981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74215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28667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7" name="Google Shape;5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771246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503810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57540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8" name="Google Shape;51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first paper is to understand the research area</a:t>
            </a:r>
          </a:p>
          <a:p>
            <a:pPr marL="0" lvl="0" indent="0" algn="l" rtl="0">
              <a:spcBef>
                <a:spcPts val="0"/>
              </a:spcBef>
              <a:spcAft>
                <a:spcPts val="0"/>
              </a:spcAft>
              <a:buNone/>
            </a:pPr>
            <a:r>
              <a:rPr lang="en-US" dirty="0"/>
              <a:t>The second paper, we proposed the online learning model to address the concept drift problem based on the findings of the survey, and keep the </a:t>
            </a:r>
            <a:r>
              <a:rPr lang="en-US" dirty="0" err="1"/>
              <a:t>iner</a:t>
            </a:r>
            <a:r>
              <a:rPr lang="en-US" dirty="0"/>
              <a:t> relationship of changes, at the same time we proposed a class </a:t>
            </a:r>
            <a:r>
              <a:rPr lang="en-US" dirty="0" err="1"/>
              <a:t>imbalancing</a:t>
            </a:r>
            <a:r>
              <a:rPr lang="en-US" dirty="0"/>
              <a:t> method which maintains the closet data distribution as the original data</a:t>
            </a:r>
          </a:p>
          <a:p>
            <a:pPr marL="0" lvl="0" indent="0" algn="l" rtl="0">
              <a:spcBef>
                <a:spcPts val="0"/>
              </a:spcBef>
              <a:spcAft>
                <a:spcPts val="0"/>
              </a:spcAft>
              <a:buNone/>
            </a:pPr>
            <a:r>
              <a:rPr lang="en-US" dirty="0"/>
              <a:t>The third paper is about a specific defect type, vulnerable defect prediction</a:t>
            </a:r>
          </a:p>
          <a:p>
            <a:pPr marL="0" lvl="0" indent="0" algn="l" rtl="0">
              <a:spcBef>
                <a:spcPts val="0"/>
              </a:spcBef>
              <a:spcAft>
                <a:spcPts val="0"/>
              </a:spcAft>
              <a:buNone/>
            </a:pPr>
            <a:r>
              <a:rPr lang="en-US" dirty="0"/>
              <a:t>Now I am working on the explainable model with reinforcement learning, which could learn from experience and adapt to the little start data </a:t>
            </a:r>
            <a:r>
              <a:rPr lang="en-US" dirty="0" err="1"/>
              <a:t>charactor</a:t>
            </a:r>
            <a:endParaRPr dirty="0"/>
          </a:p>
        </p:txBody>
      </p:sp>
      <p:sp>
        <p:nvSpPr>
          <p:cNvPr id="518" name="Google Shape;51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13066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55" name="Google Shape;55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5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5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5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5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60"/>
          <p:cNvSpPr>
            <a:spLocks noGrp="1"/>
          </p:cNvSpPr>
          <p:nvPr>
            <p:ph type="pic" idx="2"/>
          </p:nvPr>
        </p:nvSpPr>
        <p:spPr>
          <a:xfrm>
            <a:off x="5183188" y="987425"/>
            <a:ext cx="6172200" cy="4873625"/>
          </a:xfrm>
          <a:prstGeom prst="rect">
            <a:avLst/>
          </a:prstGeom>
          <a:noFill/>
          <a:ln>
            <a:noFill/>
          </a:ln>
        </p:spPr>
      </p:sp>
      <p:sp>
        <p:nvSpPr>
          <p:cNvPr id="68" name="Google Shape;68;p6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6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8.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1.xml"/><Relationship Id="rId10" Type="http://schemas.openxmlformats.org/officeDocument/2006/relationships/slide" Target="slide51.xml"/><Relationship Id="rId4" Type="http://schemas.openxmlformats.org/officeDocument/2006/relationships/slide" Target="slide10.xml"/><Relationship Id="rId9" Type="http://schemas.openxmlformats.org/officeDocument/2006/relationships/slide" Target="slide44.xml"/><Relationship Id="rId14" Type="http://schemas.openxmlformats.org/officeDocument/2006/relationships/slide" Target="slide8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5.png"/><Relationship Id="rId7" Type="http://schemas.openxmlformats.org/officeDocument/2006/relationships/diagramColors" Target="../diagrams/colors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hyperlink" Target="https://github.com/FFmpeg/FFmpeg/commit/bd3a03db9aef72ee36a7cc964171e9f52967f4bc" TargetMode="External"/><Relationship Id="rId5" Type="http://schemas.openxmlformats.org/officeDocument/2006/relationships/hyperlink" Target="https://github.com/FFmpeg/FFmpeg/commit/bdc4553a7726d779e64f734b8cacfd5b9e293fb7" TargetMode="Externa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3.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0.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63.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hyperlink" Target="https://en.wikipedia.org/wiki/Receiver_operating_characteristic" TargetMode="Externa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hyperlink" Target="https://towardsdatascience.com/understanding-auc-roc-curve-68b2303cc9c5" TargetMode="External"/><Relationship Id="rId5" Type="http://schemas.openxmlformats.org/officeDocument/2006/relationships/image" Target="../media/image55.png"/><Relationship Id="rId10" Type="http://schemas.openxmlformats.org/officeDocument/2006/relationships/hyperlink" Target="https://www.bing.com/images/search?q=accuracy+recall+precision+f1+score&amp;id=9483E4E76897C4A1F6F7BEBE6314F58C3EBC3EF7&amp;s=1&amp;view=detailv2&amp;idpp=imgqna&amp;vt=1&amp;idpview=singleimage&amp;idpbck=1" TargetMode="External"/><Relationship Id="rId4" Type="http://schemas.openxmlformats.org/officeDocument/2006/relationships/image" Target="../media/image54.png"/><Relationship Id="rId9" Type="http://schemas.openxmlformats.org/officeDocument/2006/relationships/image" Target="../media/image59.png"/></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66.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6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6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hyperlink" Target="https://en.wikipedia.org/wiki/Spearman%27s_rank_correlation_coefficient" TargetMode="External"/><Relationship Id="rId5" Type="http://schemas.openxmlformats.org/officeDocument/2006/relationships/image" Target="../media/image76.png"/><Relationship Id="rId4" Type="http://schemas.openxmlformats.org/officeDocument/2006/relationships/image" Target="../media/image75.png"/></Relationships>
</file>

<file path=ppt/slides/_rels/slide74.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slide" Target="slide75.xml"/><Relationship Id="rId3" Type="http://schemas.openxmlformats.org/officeDocument/2006/relationships/slide" Target="slide11.xml"/><Relationship Id="rId7" Type="http://schemas.openxmlformats.org/officeDocument/2006/relationships/slide" Target="slide29.xml"/><Relationship Id="rId12" Type="http://schemas.openxmlformats.org/officeDocument/2006/relationships/slide" Target="slide67.xm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slide" Target="slide13.xml"/><Relationship Id="rId11" Type="http://schemas.openxmlformats.org/officeDocument/2006/relationships/slide" Target="slide63.xml"/><Relationship Id="rId5" Type="http://schemas.openxmlformats.org/officeDocument/2006/relationships/slide" Target="slide10.xml"/><Relationship Id="rId10" Type="http://schemas.openxmlformats.org/officeDocument/2006/relationships/slide" Target="slide51.xml"/><Relationship Id="rId4" Type="http://schemas.openxmlformats.org/officeDocument/2006/relationships/slide" Target="slide8.xml"/><Relationship Id="rId9" Type="http://schemas.openxmlformats.org/officeDocument/2006/relationships/slide" Target="slide44.xml"/><Relationship Id="rId14" Type="http://schemas.openxmlformats.org/officeDocument/2006/relationships/slide" Target="slide84.xml"/></Relationships>
</file>

<file path=ppt/slides/_rels/slide84.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jp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hyperlink" Target="https://github.com/huichen-cs/jitsdpsurvey" TargetMode="External"/><Relationship Id="rId3" Type="http://schemas.openxmlformats.org/officeDocument/2006/relationships/image" Target="../media/image79.png"/><Relationship Id="rId7" Type="http://schemas.openxmlformats.org/officeDocument/2006/relationships/image" Target="../media/image81.png"/><Relationship Id="rId2" Type="http://schemas.openxmlformats.org/officeDocument/2006/relationships/notesSlide" Target="../notesSlides/notesSlide86.xml"/><Relationship Id="rId1" Type="http://schemas.openxmlformats.org/officeDocument/2006/relationships/slideLayout" Target="../slideLayouts/slideLayout3.xml"/><Relationship Id="rId6" Type="http://schemas.openxmlformats.org/officeDocument/2006/relationships/hyperlink" Target="https://github.com/huichen-cs/deepicpreplication" TargetMode="External"/><Relationship Id="rId5" Type="http://schemas.openxmlformats.org/officeDocument/2006/relationships/image" Target="../media/image80.png"/><Relationship Id="rId4" Type="http://schemas.openxmlformats.org/officeDocument/2006/relationships/hyperlink" Target="https://dl.acm.org/doi/abs/10.1145/3567550" TargetMode="External"/><Relationship Id="rId9" Type="http://schemas.openxmlformats.org/officeDocument/2006/relationships/image" Target="../media/image8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894080" y="1518919"/>
            <a:ext cx="10088880" cy="165576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en-US">
                <a:latin typeface="Calibri"/>
                <a:ea typeface="Calibri"/>
                <a:cs typeface="Calibri"/>
                <a:sym typeface="Calibri"/>
              </a:rPr>
              <a:t>A Systematic Survey of Just-In-Time Software Defect Prediction</a:t>
            </a:r>
            <a:endParaRPr/>
          </a:p>
        </p:txBody>
      </p:sp>
      <p:sp>
        <p:nvSpPr>
          <p:cNvPr id="89" name="Google Shape;89;p1"/>
          <p:cNvSpPr txBox="1">
            <a:spLocks noGrp="1"/>
          </p:cNvSpPr>
          <p:nvPr>
            <p:ph type="subTitle" idx="1"/>
          </p:nvPr>
        </p:nvSpPr>
        <p:spPr>
          <a:xfrm>
            <a:off x="3962400" y="3602038"/>
            <a:ext cx="440944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Second Exam Presentation</a:t>
            </a:r>
            <a:endParaRPr/>
          </a:p>
          <a:p>
            <a:pPr marL="0" lvl="0" indent="0" algn="ctr" rtl="0">
              <a:lnSpc>
                <a:spcPct val="90000"/>
              </a:lnSpc>
              <a:spcBef>
                <a:spcPts val="1000"/>
              </a:spcBef>
              <a:spcAft>
                <a:spcPts val="0"/>
              </a:spcAft>
              <a:buClr>
                <a:schemeClr val="dk1"/>
              </a:buClr>
              <a:buSzPts val="2400"/>
              <a:buNone/>
            </a:pPr>
            <a:r>
              <a:rPr lang="en-US"/>
              <a:t>Yunhua Zhao</a:t>
            </a:r>
            <a:endParaRPr/>
          </a:p>
          <a:p>
            <a:pPr marL="0" lvl="0" indent="0" algn="ctr" rtl="0">
              <a:lnSpc>
                <a:spcPct val="90000"/>
              </a:lnSpc>
              <a:spcBef>
                <a:spcPts val="1000"/>
              </a:spcBef>
              <a:spcAft>
                <a:spcPts val="0"/>
              </a:spcAft>
              <a:buClr>
                <a:schemeClr val="dk1"/>
              </a:buClr>
              <a:buSzPts val="2400"/>
              <a:buNone/>
            </a:pPr>
            <a:r>
              <a:rPr lang="en-US"/>
              <a:t>Advisor: Prof.Hui Chen  </a:t>
            </a:r>
            <a:endParaRPr/>
          </a:p>
          <a:p>
            <a:pPr marL="0" lvl="0" indent="0" algn="ctr" rtl="0">
              <a:lnSpc>
                <a:spcPct val="90000"/>
              </a:lnSpc>
              <a:spcBef>
                <a:spcPts val="1000"/>
              </a:spcBef>
              <a:spcAft>
                <a:spcPts val="0"/>
              </a:spcAft>
              <a:buClr>
                <a:schemeClr val="dk1"/>
              </a:buClr>
              <a:buSzPts val="2400"/>
              <a:buNone/>
            </a:pPr>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337403" y="443291"/>
            <a:ext cx="2621280" cy="1354638"/>
          </a:xfrm>
          <a:prstGeom prst="ellipse">
            <a:avLst/>
          </a:prstGeom>
          <a:solidFill>
            <a:schemeClr val="tx1">
              <a:lumMod val="85000"/>
              <a:lumOff val="15000"/>
            </a:schemeClr>
          </a:solidFill>
          <a:ln w="174625" cmpd="thinThick">
            <a:solidFill>
              <a:schemeClr val="tx1">
                <a:lumMod val="85000"/>
                <a:lumOff val="15000"/>
              </a:schemeClr>
            </a:solidFill>
          </a:ln>
        </p:spPr>
        <p:txBody>
          <a:bodyPr spcFirstLastPara="1" vert="horz" lIns="91440" tIns="45720" rIns="91440" bIns="45720" rtlCol="0" anchor="ctr" anchorCtr="0">
            <a:normAutofit/>
          </a:bodyPr>
          <a:lstStyle/>
          <a:p>
            <a:pPr marL="0" lvl="0" indent="0" algn="ctr">
              <a:spcBef>
                <a:spcPct val="0"/>
              </a:spcBef>
              <a:spcAft>
                <a:spcPts val="0"/>
              </a:spcAft>
              <a:buClr>
                <a:schemeClr val="dk1"/>
              </a:buClr>
              <a:buSzPts val="4400"/>
            </a:pPr>
            <a:r>
              <a:rPr lang="en-US" sz="2400" kern="1200" dirty="0">
                <a:solidFill>
                  <a:schemeClr val="bg1"/>
                </a:solidFill>
                <a:latin typeface="+mj-lt"/>
                <a:ea typeface="+mj-ea"/>
                <a:cs typeface="+mj-cs"/>
                <a:sym typeface="Calibri"/>
              </a:rPr>
              <a:t>Background </a:t>
            </a:r>
            <a:endParaRPr lang="en-US" sz="2400" kern="1200" dirty="0">
              <a:solidFill>
                <a:schemeClr val="bg1"/>
              </a:solidFill>
              <a:latin typeface="+mj-lt"/>
              <a:ea typeface="+mj-ea"/>
              <a:cs typeface="+mj-cs"/>
            </a:endParaRPr>
          </a:p>
        </p:txBody>
      </p:sp>
      <p:sp>
        <p:nvSpPr>
          <p:cNvPr id="113" name="Google Shape;113;p4"/>
          <p:cNvSpPr txBox="1">
            <a:spLocks noGrp="1"/>
          </p:cNvSpPr>
          <p:nvPr>
            <p:ph type="sldNum" idx="12"/>
          </p:nvPr>
        </p:nvSpPr>
        <p:spPr>
          <a:xfrm>
            <a:off x="9679020" y="6356350"/>
            <a:ext cx="1674779"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2</a:t>
            </a:fld>
            <a:endParaRPr lang="en-US" kern="1200">
              <a:solidFill>
                <a:schemeClr val="tx1">
                  <a:tint val="75000"/>
                </a:schemeClr>
              </a:solidFill>
              <a:latin typeface="+mn-lt"/>
              <a:ea typeface="+mn-ea"/>
              <a:cs typeface="+mn-cs"/>
            </a:endParaRPr>
          </a:p>
        </p:txBody>
      </p:sp>
      <p:sp>
        <p:nvSpPr>
          <p:cNvPr id="2" name="TextBox 1">
            <a:extLst>
              <a:ext uri="{FF2B5EF4-FFF2-40B4-BE49-F238E27FC236}">
                <a16:creationId xmlns:a16="http://schemas.microsoft.com/office/drawing/2014/main" id="{987265F7-5B98-D7C7-FAD8-EB28D80A7663}"/>
              </a:ext>
            </a:extLst>
          </p:cNvPr>
          <p:cNvSpPr txBox="1"/>
          <p:nvPr/>
        </p:nvSpPr>
        <p:spPr>
          <a:xfrm>
            <a:off x="3497580" y="471682"/>
            <a:ext cx="8694420" cy="4154984"/>
          </a:xfrm>
          <a:prstGeom prst="rect">
            <a:avLst/>
          </a:prstGeom>
          <a:noFill/>
        </p:spPr>
        <p:txBody>
          <a:bodyPr wrap="square" rtlCol="0">
            <a:spAutoFit/>
          </a:bodyPr>
          <a:lstStyle/>
          <a:p>
            <a:r>
              <a:rPr lang="en-US" sz="2400" b="0" i="0" dirty="0">
                <a:solidFill>
                  <a:srgbClr val="2D2D2D"/>
                </a:solidFill>
                <a:effectLst/>
                <a:latin typeface="Arial" panose="020B0604020202020204" pitchFamily="34" charset="0"/>
                <a:cs typeface="Arial" panose="020B0604020202020204" pitchFamily="34" charset="0"/>
              </a:rPr>
              <a:t>Software quality </a:t>
            </a:r>
            <a:r>
              <a:rPr lang="en-US" sz="2400" dirty="0">
                <a:solidFill>
                  <a:srgbClr val="2D2D2D"/>
                </a:solidFill>
                <a:latin typeface="Arial" panose="020B0604020202020204" pitchFamily="34" charset="0"/>
                <a:cs typeface="Arial" panose="020B0604020202020204" pitchFamily="34" charset="0"/>
              </a:rPr>
              <a:t>is very important:</a:t>
            </a:r>
          </a:p>
          <a:p>
            <a:pPr marL="342900" indent="-342900">
              <a:buFont typeface="Wingdings" panose="05000000000000000000" pitchFamily="2" charset="2"/>
              <a:buChar char="§"/>
            </a:pPr>
            <a:r>
              <a:rPr lang="en-US" sz="2400" b="0" i="0" dirty="0">
                <a:solidFill>
                  <a:srgbClr val="2D2D2D"/>
                </a:solidFill>
                <a:effectLst/>
                <a:latin typeface="Arial" panose="020B0604020202020204" pitchFamily="34" charset="0"/>
                <a:cs typeface="Arial" panose="020B0604020202020204" pitchFamily="34" charset="0"/>
              </a:rPr>
              <a:t>Influence customer loyalty, brand reputation, and profitability</a:t>
            </a:r>
          </a:p>
          <a:p>
            <a:pPr marL="342900" indent="-342900">
              <a:buFont typeface="Wingdings" panose="05000000000000000000" pitchFamily="2" charset="2"/>
              <a:buChar char="§"/>
            </a:pPr>
            <a:r>
              <a:rPr lang="en-US" sz="2400" dirty="0">
                <a:solidFill>
                  <a:srgbClr val="2D2D2D"/>
                </a:solidFill>
                <a:latin typeface="Arial" panose="020B0604020202020204" pitchFamily="34" charset="0"/>
                <a:cs typeface="Arial" panose="020B0604020202020204" pitchFamily="34" charset="0"/>
              </a:rPr>
              <a:t>Cause critical problems in specific industry area</a:t>
            </a: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solidFill>
                <a:srgbClr val="2D2D2D"/>
              </a:solidFill>
              <a:latin typeface="Abadi" panose="020B0604020104020204" pitchFamily="34" charset="0"/>
            </a:endParaRPr>
          </a:p>
          <a:p>
            <a:endParaRPr lang="en-US" sz="2400" dirty="0"/>
          </a:p>
        </p:txBody>
      </p:sp>
      <p:pic>
        <p:nvPicPr>
          <p:cNvPr id="3" name="Picture 1">
            <a:extLst>
              <a:ext uri="{FF2B5EF4-FFF2-40B4-BE49-F238E27FC236}">
                <a16:creationId xmlns:a16="http://schemas.microsoft.com/office/drawing/2014/main" id="{33DFB3C7-2D84-0996-6CC7-C67ECFA850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7253" y="2384940"/>
            <a:ext cx="2784158" cy="208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DE9DAC6E-2EE3-7203-2847-7C0972FA04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584595"/>
            <a:ext cx="1624591" cy="168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a:extLst>
              <a:ext uri="{FF2B5EF4-FFF2-40B4-BE49-F238E27FC236}">
                <a16:creationId xmlns:a16="http://schemas.microsoft.com/office/drawing/2014/main" id="{10E60F53-4CB4-17E0-1BAD-EB229F8026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3892" y="2946098"/>
            <a:ext cx="689582" cy="876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utoShape 5">
            <a:extLst>
              <a:ext uri="{FF2B5EF4-FFF2-40B4-BE49-F238E27FC236}">
                <a16:creationId xmlns:a16="http://schemas.microsoft.com/office/drawing/2014/main" id="{5F74305B-4104-218F-14F4-263EDE63C74B}"/>
              </a:ext>
            </a:extLst>
          </p:cNvPr>
          <p:cNvSpPr>
            <a:spLocks/>
          </p:cNvSpPr>
          <p:nvPr/>
        </p:nvSpPr>
        <p:spPr bwMode="auto">
          <a:xfrm>
            <a:off x="5065771" y="3187549"/>
            <a:ext cx="727333" cy="482902"/>
          </a:xfrm>
          <a:prstGeom prst="rightArrow">
            <a:avLst>
              <a:gd name="adj1" fmla="val 32000"/>
              <a:gd name="adj2" fmla="val 73338"/>
            </a:avLst>
          </a:prstGeom>
          <a:blipFill dpi="0" rotWithShape="0">
            <a:blip r:embed="rId6"/>
            <a:srcRect/>
            <a:tile tx="0" ty="0" sx="100000" sy="100000" flip="none" algn="tl"/>
          </a:blipFill>
          <a:ln w="25400">
            <a:solidFill>
              <a:schemeClr val="tx1"/>
            </a:solidFill>
            <a:miter lim="800000"/>
            <a:headEnd/>
            <a:tailEnd/>
          </a:ln>
        </p:spPr>
        <p:txBody>
          <a:bodyPr/>
          <a:lstStyle/>
          <a:p>
            <a:endParaRPr lang="en-US" sz="1620"/>
          </a:p>
        </p:txBody>
      </p:sp>
      <p:sp>
        <p:nvSpPr>
          <p:cNvPr id="7" name="TextBox 6">
            <a:extLst>
              <a:ext uri="{FF2B5EF4-FFF2-40B4-BE49-F238E27FC236}">
                <a16:creationId xmlns:a16="http://schemas.microsoft.com/office/drawing/2014/main" id="{68F2C73F-0BD3-B08B-3340-AA6B1652A792}"/>
              </a:ext>
            </a:extLst>
          </p:cNvPr>
          <p:cNvSpPr txBox="1"/>
          <p:nvPr/>
        </p:nvSpPr>
        <p:spPr>
          <a:xfrm>
            <a:off x="562121" y="4699117"/>
            <a:ext cx="11272982" cy="1938992"/>
          </a:xfrm>
          <a:prstGeom prst="rect">
            <a:avLst/>
          </a:prstGeom>
          <a:noFill/>
        </p:spPr>
        <p:txBody>
          <a:bodyPr wrap="square" rtlCol="0">
            <a:spAutoFit/>
          </a:bodyPr>
          <a:lstStyle/>
          <a:p>
            <a:r>
              <a:rPr lang="en-US" sz="2000" dirty="0">
                <a:solidFill>
                  <a:srgbClr val="2D2D2D"/>
                </a:solidFill>
                <a:latin typeface="Arial" panose="020B0604020202020204" pitchFamily="34" charset="0"/>
                <a:cs typeface="Arial" panose="020B0604020202020204" pitchFamily="34" charset="0"/>
              </a:rPr>
              <a:t>In 2016, the global software failure cost crossed $1.1 trillion because of software bugs. </a:t>
            </a:r>
          </a:p>
          <a:p>
            <a:endParaRPr lang="en-US" sz="2000" dirty="0">
              <a:solidFill>
                <a:srgbClr val="2D2D2D"/>
              </a:solidFill>
              <a:latin typeface="Arial" panose="020B0604020202020204" pitchFamily="34" charset="0"/>
              <a:cs typeface="Arial" panose="020B0604020202020204" pitchFamily="34" charset="0"/>
            </a:endParaRPr>
          </a:p>
          <a:p>
            <a:r>
              <a:rPr lang="en-US" sz="2000" dirty="0">
                <a:solidFill>
                  <a:srgbClr val="2D2D2D"/>
                </a:solidFill>
                <a:latin typeface="Arial" panose="020B0604020202020204" pitchFamily="34" charset="0"/>
                <a:cs typeface="Arial" panose="020B0604020202020204" pitchFamily="34" charset="0"/>
              </a:rPr>
              <a:t>These failures were reported by 363 companies and affected almost 4.4 billion consumers. </a:t>
            </a:r>
          </a:p>
          <a:p>
            <a:endParaRPr lang="en-US" sz="2000" dirty="0">
              <a:solidFill>
                <a:srgbClr val="2D2D2D"/>
              </a:solidFill>
              <a:latin typeface="Arial" panose="020B0604020202020204" pitchFamily="34" charset="0"/>
              <a:cs typeface="Arial" panose="020B0604020202020204" pitchFamily="34" charset="0"/>
            </a:endParaRPr>
          </a:p>
          <a:p>
            <a:r>
              <a:rPr lang="en-US" sz="2000" dirty="0">
                <a:solidFill>
                  <a:srgbClr val="2D2D2D"/>
                </a:solidFill>
                <a:latin typeface="Arial" panose="020B0604020202020204" pitchFamily="34" charset="0"/>
                <a:cs typeface="Arial" panose="020B0604020202020204" pitchFamily="34" charset="0"/>
              </a:rPr>
              <a:t>Majority of these incidents could have been avoided, but the software passed onto the customers without proper quality assurance.</a:t>
            </a:r>
          </a:p>
        </p:txBody>
      </p:sp>
      <p:graphicFrame>
        <p:nvGraphicFramePr>
          <p:cNvPr id="8" name="Table 7">
            <a:extLst>
              <a:ext uri="{FF2B5EF4-FFF2-40B4-BE49-F238E27FC236}">
                <a16:creationId xmlns:a16="http://schemas.microsoft.com/office/drawing/2014/main" id="{905583F0-9196-0975-8019-539BFC7A2559}"/>
              </a:ext>
            </a:extLst>
          </p:cNvPr>
          <p:cNvGraphicFramePr>
            <a:graphicFrameLocks noGrp="1"/>
          </p:cNvGraphicFramePr>
          <p:nvPr>
            <p:extLst>
              <p:ext uri="{D42A27DB-BD31-4B8C-83A1-F6EECF244321}">
                <p14:modId xmlns:p14="http://schemas.microsoft.com/office/powerpoint/2010/main" val="3048817316"/>
              </p:ext>
            </p:extLst>
          </p:nvPr>
        </p:nvGraphicFramePr>
        <p:xfrm>
          <a:off x="0" y="-35634"/>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Software Quality is important</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Examples from companies</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627547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4" name="Google Shape;114;p4"/>
          <p:cNvSpPr txBox="1"/>
          <p:nvPr/>
        </p:nvSpPr>
        <p:spPr>
          <a:xfrm>
            <a:off x="4038599" y="6356350"/>
            <a:ext cx="8046721" cy="477044"/>
          </a:xfrm>
          <a:prstGeom prst="rect">
            <a:avLst/>
          </a:prstGeom>
          <a:solidFill>
            <a:srgbClr val="000000">
              <a:alpha val="50000"/>
            </a:srgbClr>
          </a:solidFill>
          <a:ln>
            <a:noFill/>
          </a:ln>
        </p:spPr>
        <p:txBody>
          <a:bodyPr spcFirstLastPara="1" wrap="square" lIns="91425" tIns="45700" rIns="91425" bIns="45700" anchor="ctr" anchorCtr="0">
            <a:noAutofit/>
          </a:bodyPr>
          <a:lstStyle/>
          <a:p>
            <a:pPr marL="0" marR="0" lvl="0" indent="0" algn="ctr" rtl="0">
              <a:spcBef>
                <a:spcPts val="0"/>
              </a:spcBef>
              <a:spcAft>
                <a:spcPts val="600"/>
              </a:spcAft>
              <a:buNone/>
            </a:pPr>
            <a:r>
              <a:rPr lang="en-US" sz="1300" dirty="0">
                <a:solidFill>
                  <a:srgbClr val="FFFFFF"/>
                </a:solidFill>
              </a:rPr>
              <a:t>https://www.kualitee.com/bug-management/3-cases-where-software-bugs-deteriorated-companys-profile/</a:t>
            </a:r>
          </a:p>
        </p:txBody>
      </p:sp>
      <p:sp>
        <p:nvSpPr>
          <p:cNvPr id="112" name="Google Shape;112;p4"/>
          <p:cNvSpPr txBox="1">
            <a:spLocks noGrp="1"/>
          </p:cNvSpPr>
          <p:nvPr>
            <p:ph type="title"/>
          </p:nvPr>
        </p:nvSpPr>
        <p:spPr>
          <a:xfrm>
            <a:off x="301466" y="385637"/>
            <a:ext cx="2621280" cy="1354638"/>
          </a:xfrm>
          <a:prstGeom prst="ellipse">
            <a:avLst/>
          </a:prstGeom>
          <a:solidFill>
            <a:schemeClr val="tx1">
              <a:lumMod val="85000"/>
              <a:lumOff val="15000"/>
            </a:schemeClr>
          </a:solidFill>
          <a:ln w="174625" cmpd="thinThick">
            <a:solidFill>
              <a:schemeClr val="tx1">
                <a:lumMod val="85000"/>
                <a:lumOff val="15000"/>
              </a:schemeClr>
            </a:solidFill>
          </a:ln>
        </p:spPr>
        <p:txBody>
          <a:bodyPr spcFirstLastPara="1" vert="horz" lIns="91440" tIns="45720" rIns="91440" bIns="45720" rtlCol="0" anchor="ctr" anchorCtr="0">
            <a:normAutofit/>
          </a:bodyPr>
          <a:lstStyle/>
          <a:p>
            <a:pPr marL="0" lvl="0" indent="0" algn="ctr">
              <a:spcBef>
                <a:spcPct val="0"/>
              </a:spcBef>
              <a:spcAft>
                <a:spcPts val="0"/>
              </a:spcAft>
              <a:buClr>
                <a:schemeClr val="dk1"/>
              </a:buClr>
              <a:buSzPts val="4400"/>
            </a:pPr>
            <a:r>
              <a:rPr lang="en-US" sz="2400" kern="1200" dirty="0">
                <a:solidFill>
                  <a:schemeClr val="bg1"/>
                </a:solidFill>
                <a:latin typeface="+mj-lt"/>
                <a:ea typeface="+mj-ea"/>
                <a:cs typeface="+mj-cs"/>
                <a:sym typeface="Calibri"/>
              </a:rPr>
              <a:t>Background </a:t>
            </a:r>
            <a:endParaRPr lang="en-US" sz="2400" kern="1200" dirty="0">
              <a:solidFill>
                <a:schemeClr val="bg1"/>
              </a:solidFill>
              <a:latin typeface="+mj-lt"/>
              <a:ea typeface="+mj-ea"/>
              <a:cs typeface="+mj-cs"/>
            </a:endParaRPr>
          </a:p>
        </p:txBody>
      </p:sp>
      <p:sp>
        <p:nvSpPr>
          <p:cNvPr id="113" name="Google Shape;113;p4"/>
          <p:cNvSpPr txBox="1">
            <a:spLocks noGrp="1"/>
          </p:cNvSpPr>
          <p:nvPr>
            <p:ph type="sldNum" idx="12"/>
          </p:nvPr>
        </p:nvSpPr>
        <p:spPr>
          <a:xfrm>
            <a:off x="9679020" y="6356350"/>
            <a:ext cx="1674779"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3</a:t>
            </a:fld>
            <a:endParaRPr lang="en-US" kern="1200">
              <a:solidFill>
                <a:schemeClr val="tx1">
                  <a:tint val="75000"/>
                </a:schemeClr>
              </a:solidFill>
              <a:latin typeface="+mn-lt"/>
              <a:ea typeface="+mn-ea"/>
              <a:cs typeface="+mn-cs"/>
            </a:endParaRPr>
          </a:p>
        </p:txBody>
      </p:sp>
      <p:sp>
        <p:nvSpPr>
          <p:cNvPr id="2" name="TextBox 1">
            <a:extLst>
              <a:ext uri="{FF2B5EF4-FFF2-40B4-BE49-F238E27FC236}">
                <a16:creationId xmlns:a16="http://schemas.microsoft.com/office/drawing/2014/main" id="{987265F7-5B98-D7C7-FAD8-EB28D80A7663}"/>
              </a:ext>
            </a:extLst>
          </p:cNvPr>
          <p:cNvSpPr txBox="1"/>
          <p:nvPr/>
        </p:nvSpPr>
        <p:spPr>
          <a:xfrm>
            <a:off x="301466" y="3119437"/>
            <a:ext cx="3798094" cy="2862322"/>
          </a:xfrm>
          <a:prstGeom prst="rect">
            <a:avLst/>
          </a:prstGeom>
          <a:noFill/>
        </p:spPr>
        <p:txBody>
          <a:bodyPr wrap="square" rtlCol="0">
            <a:spAutoFit/>
          </a:bodyPr>
          <a:lstStyle/>
          <a:p>
            <a:r>
              <a:rPr lang="en-US" sz="1800" b="0" i="0" dirty="0">
                <a:solidFill>
                  <a:srgbClr val="2D2D2D"/>
                </a:solidFill>
                <a:effectLst/>
                <a:latin typeface="Arial" panose="020B0604020202020204" pitchFamily="34" charset="0"/>
                <a:cs typeface="Arial" panose="020B0604020202020204" pitchFamily="34" charset="0"/>
              </a:rPr>
              <a:t>NASA launched the Mars Climate Orbiter in 1998, </a:t>
            </a:r>
            <a:r>
              <a:rPr lang="en-US" altLang="zh-CN" sz="1800" b="0" i="0" dirty="0">
                <a:solidFill>
                  <a:srgbClr val="2D2D2D"/>
                </a:solidFill>
                <a:effectLst/>
                <a:latin typeface="Arial" panose="020B0604020202020204" pitchFamily="34" charset="0"/>
                <a:cs typeface="Arial" panose="020B0604020202020204" pitchFamily="34" charset="0"/>
              </a:rPr>
              <a:t>which</a:t>
            </a:r>
            <a:r>
              <a:rPr lang="en-US" sz="1800" b="0" i="0" dirty="0">
                <a:solidFill>
                  <a:srgbClr val="2D2D2D"/>
                </a:solidFill>
                <a:effectLst/>
                <a:latin typeface="Arial" panose="020B0604020202020204" pitchFamily="34" charset="0"/>
                <a:cs typeface="Arial" panose="020B0604020202020204" pitchFamily="34" charset="0"/>
              </a:rPr>
              <a:t> got lost into space and the communication got cut-off.</a:t>
            </a:r>
          </a:p>
          <a:p>
            <a:r>
              <a:rPr lang="en-US" sz="1800" dirty="0"/>
              <a:t>The $125 million spacecraft revolved very close to Mars’ surface and broke due to the engineering team failure to transform their measurements from U.S. units to metric</a:t>
            </a:r>
          </a:p>
        </p:txBody>
      </p:sp>
      <p:pic>
        <p:nvPicPr>
          <p:cNvPr id="4" name="Picture 3" descr="A logo with a red and white design&#10;&#10;Description automatically generated">
            <a:extLst>
              <a:ext uri="{FF2B5EF4-FFF2-40B4-BE49-F238E27FC236}">
                <a16:creationId xmlns:a16="http://schemas.microsoft.com/office/drawing/2014/main" id="{2EA93BDB-D0FA-5CAA-8873-B1E5E38567DA}"/>
              </a:ext>
            </a:extLst>
          </p:cNvPr>
          <p:cNvPicPr>
            <a:picLocks noChangeAspect="1"/>
          </p:cNvPicPr>
          <p:nvPr/>
        </p:nvPicPr>
        <p:blipFill>
          <a:blip r:embed="rId3"/>
          <a:stretch>
            <a:fillRect/>
          </a:stretch>
        </p:blipFill>
        <p:spPr>
          <a:xfrm>
            <a:off x="222885" y="1604962"/>
            <a:ext cx="3028950" cy="1514475"/>
          </a:xfrm>
          <a:prstGeom prst="rect">
            <a:avLst/>
          </a:prstGeom>
        </p:spPr>
      </p:pic>
      <p:pic>
        <p:nvPicPr>
          <p:cNvPr id="6" name="Picture 5" descr="A logo of a company&#10;&#10;Description automatically generated">
            <a:extLst>
              <a:ext uri="{FF2B5EF4-FFF2-40B4-BE49-F238E27FC236}">
                <a16:creationId xmlns:a16="http://schemas.microsoft.com/office/drawing/2014/main" id="{44B9B0B4-DB59-BF6D-7653-99C18CC2566A}"/>
              </a:ext>
            </a:extLst>
          </p:cNvPr>
          <p:cNvPicPr>
            <a:picLocks noChangeAspect="1"/>
          </p:cNvPicPr>
          <p:nvPr/>
        </p:nvPicPr>
        <p:blipFill>
          <a:blip r:embed="rId4"/>
          <a:stretch>
            <a:fillRect/>
          </a:stretch>
        </p:blipFill>
        <p:spPr>
          <a:xfrm>
            <a:off x="4475797" y="976312"/>
            <a:ext cx="2143125" cy="2143125"/>
          </a:xfrm>
          <a:prstGeom prst="rect">
            <a:avLst/>
          </a:prstGeom>
        </p:spPr>
      </p:pic>
      <p:sp>
        <p:nvSpPr>
          <p:cNvPr id="9" name="TextBox 8">
            <a:extLst>
              <a:ext uri="{FF2B5EF4-FFF2-40B4-BE49-F238E27FC236}">
                <a16:creationId xmlns:a16="http://schemas.microsoft.com/office/drawing/2014/main" id="{8A049B25-C4AB-A44F-11F7-3B903EB7F278}"/>
              </a:ext>
            </a:extLst>
          </p:cNvPr>
          <p:cNvSpPr txBox="1"/>
          <p:nvPr/>
        </p:nvSpPr>
        <p:spPr>
          <a:xfrm>
            <a:off x="4178141" y="3092470"/>
            <a:ext cx="3798094" cy="2585323"/>
          </a:xfrm>
          <a:prstGeom prst="rect">
            <a:avLst/>
          </a:prstGeom>
          <a:noFill/>
        </p:spPr>
        <p:txBody>
          <a:bodyPr wrap="square" rtlCol="0">
            <a:spAutoFit/>
          </a:bodyPr>
          <a:lstStyle/>
          <a:p>
            <a:r>
              <a:rPr lang="en-US" sz="1800" b="0" i="0" dirty="0">
                <a:solidFill>
                  <a:srgbClr val="2D2D2D"/>
                </a:solidFill>
                <a:effectLst/>
                <a:latin typeface="Arial" panose="020B0604020202020204" pitchFamily="34" charset="0"/>
                <a:cs typeface="Arial" panose="020B0604020202020204" pitchFamily="34" charset="0"/>
              </a:rPr>
              <a:t>AT&amp;T failed to meet the rudimentary requirements of their consumers in January 1990. It totally lost 200,000 lost airline reservations and 75 million missed phone calls.</a:t>
            </a:r>
          </a:p>
          <a:p>
            <a:endParaRPr lang="en-US" sz="1800" b="0" i="0" dirty="0">
              <a:solidFill>
                <a:srgbClr val="2D2D2D"/>
              </a:solidFill>
              <a:effectLst/>
              <a:latin typeface="Arial" panose="020B0604020202020204" pitchFamily="34" charset="0"/>
              <a:cs typeface="Arial" panose="020B0604020202020204" pitchFamily="34" charset="0"/>
            </a:endParaRPr>
          </a:p>
          <a:p>
            <a:r>
              <a:rPr lang="en-US" sz="1800" dirty="0"/>
              <a:t>one-liner buggy code caused a loss to AT&amp;T of about $60 million.</a:t>
            </a:r>
          </a:p>
        </p:txBody>
      </p:sp>
      <p:sp>
        <p:nvSpPr>
          <p:cNvPr id="10" name="TextBox 9">
            <a:extLst>
              <a:ext uri="{FF2B5EF4-FFF2-40B4-BE49-F238E27FC236}">
                <a16:creationId xmlns:a16="http://schemas.microsoft.com/office/drawing/2014/main" id="{6AB237B9-D32B-166B-3E21-54C136F2BA96}"/>
              </a:ext>
            </a:extLst>
          </p:cNvPr>
          <p:cNvSpPr txBox="1"/>
          <p:nvPr/>
        </p:nvSpPr>
        <p:spPr>
          <a:xfrm>
            <a:off x="8150066" y="3119437"/>
            <a:ext cx="3798094" cy="2862322"/>
          </a:xfrm>
          <a:prstGeom prst="rect">
            <a:avLst/>
          </a:prstGeom>
          <a:noFill/>
        </p:spPr>
        <p:txBody>
          <a:bodyPr wrap="square" rtlCol="0">
            <a:spAutoFit/>
          </a:bodyPr>
          <a:lstStyle/>
          <a:p>
            <a:r>
              <a:rPr lang="en-US" sz="1800" b="0" i="0" dirty="0">
                <a:solidFill>
                  <a:srgbClr val="2D2D2D"/>
                </a:solidFill>
                <a:effectLst/>
                <a:latin typeface="Arial" panose="020B0604020202020204" pitchFamily="34" charset="0"/>
                <a:cs typeface="Arial" panose="020B0604020202020204" pitchFamily="34" charset="0"/>
              </a:rPr>
              <a:t>Knight Capital Group released a new trading software to help them on the stock markets in 2012. Several software errors combined to send Knight on a crazy buying spree, spending more than $7 billion on 150 different stocks.</a:t>
            </a:r>
          </a:p>
          <a:p>
            <a:endParaRPr lang="en-US" sz="1800" dirty="0">
              <a:solidFill>
                <a:srgbClr val="2D2D2D"/>
              </a:solidFill>
              <a:latin typeface="Arial" panose="020B0604020202020204" pitchFamily="34" charset="0"/>
              <a:cs typeface="Arial" panose="020B0604020202020204" pitchFamily="34" charset="0"/>
            </a:endParaRPr>
          </a:p>
          <a:p>
            <a:r>
              <a:rPr lang="en-US" sz="1800" dirty="0"/>
              <a:t>The unintended trades ended up costing the company $440 million.</a:t>
            </a:r>
          </a:p>
        </p:txBody>
      </p:sp>
      <p:pic>
        <p:nvPicPr>
          <p:cNvPr id="12" name="Picture 11" descr="A blue and black logo&#10;&#10;Description automatically generated">
            <a:extLst>
              <a:ext uri="{FF2B5EF4-FFF2-40B4-BE49-F238E27FC236}">
                <a16:creationId xmlns:a16="http://schemas.microsoft.com/office/drawing/2014/main" id="{9943115F-D1EE-2DA5-E93B-B13C9E2DCA65}"/>
              </a:ext>
            </a:extLst>
          </p:cNvPr>
          <p:cNvPicPr>
            <a:picLocks noChangeAspect="1"/>
          </p:cNvPicPr>
          <p:nvPr/>
        </p:nvPicPr>
        <p:blipFill>
          <a:blip r:embed="rId5"/>
          <a:stretch>
            <a:fillRect/>
          </a:stretch>
        </p:blipFill>
        <p:spPr>
          <a:xfrm>
            <a:off x="8273415" y="1741516"/>
            <a:ext cx="3143250" cy="1190625"/>
          </a:xfrm>
          <a:prstGeom prst="rect">
            <a:avLst/>
          </a:prstGeom>
        </p:spPr>
      </p:pic>
      <p:graphicFrame>
        <p:nvGraphicFramePr>
          <p:cNvPr id="3" name="Table 2">
            <a:extLst>
              <a:ext uri="{FF2B5EF4-FFF2-40B4-BE49-F238E27FC236}">
                <a16:creationId xmlns:a16="http://schemas.microsoft.com/office/drawing/2014/main" id="{FCA6DCF4-25F3-F3E2-BD0D-EEAC2A2536A5}"/>
              </a:ext>
            </a:extLst>
          </p:cNvPr>
          <p:cNvGraphicFramePr>
            <a:graphicFrameLocks noGrp="1"/>
          </p:cNvGraphicFramePr>
          <p:nvPr>
            <p:extLst>
              <p:ext uri="{D42A27DB-BD31-4B8C-83A1-F6EECF244321}">
                <p14:modId xmlns:p14="http://schemas.microsoft.com/office/powerpoint/2010/main" val="2153684215"/>
              </p:ext>
            </p:extLst>
          </p:nvPr>
        </p:nvGraphicFramePr>
        <p:xfrm>
          <a:off x="0" y="0"/>
          <a:ext cx="12192000" cy="335206"/>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352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Examples from companies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Findings from IBM</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604876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285933" y="500812"/>
            <a:ext cx="2621280" cy="1354638"/>
          </a:xfrm>
          <a:prstGeom prst="ellipse">
            <a:avLst/>
          </a:prstGeom>
          <a:solidFill>
            <a:schemeClr val="tx1">
              <a:lumMod val="85000"/>
              <a:lumOff val="15000"/>
            </a:schemeClr>
          </a:solidFill>
          <a:ln w="174625" cmpd="thinThick">
            <a:solidFill>
              <a:schemeClr val="tx1">
                <a:lumMod val="85000"/>
                <a:lumOff val="15000"/>
              </a:schemeClr>
            </a:solidFill>
          </a:ln>
        </p:spPr>
        <p:txBody>
          <a:bodyPr spcFirstLastPara="1" vert="horz" lIns="91440" tIns="45720" rIns="91440" bIns="45720" rtlCol="0" anchor="ctr" anchorCtr="0">
            <a:normAutofit/>
          </a:bodyPr>
          <a:lstStyle/>
          <a:p>
            <a:pPr marL="0" lvl="0" indent="0" algn="ctr">
              <a:spcBef>
                <a:spcPct val="0"/>
              </a:spcBef>
              <a:spcAft>
                <a:spcPts val="0"/>
              </a:spcAft>
              <a:buClr>
                <a:schemeClr val="dk1"/>
              </a:buClr>
              <a:buSzPts val="4400"/>
            </a:pPr>
            <a:r>
              <a:rPr lang="en-US" sz="2400" kern="1200" dirty="0">
                <a:solidFill>
                  <a:schemeClr val="bg1"/>
                </a:solidFill>
                <a:latin typeface="+mj-lt"/>
                <a:ea typeface="+mj-ea"/>
                <a:cs typeface="+mj-cs"/>
                <a:sym typeface="Calibri"/>
              </a:rPr>
              <a:t>Background </a:t>
            </a:r>
            <a:endParaRPr lang="en-US" sz="2400" kern="1200" dirty="0">
              <a:solidFill>
                <a:schemeClr val="bg1"/>
              </a:solidFill>
              <a:latin typeface="+mj-lt"/>
              <a:ea typeface="+mj-ea"/>
              <a:cs typeface="+mj-cs"/>
            </a:endParaRPr>
          </a:p>
        </p:txBody>
      </p:sp>
      <p:sp>
        <p:nvSpPr>
          <p:cNvPr id="113" name="Google Shape;113;p4"/>
          <p:cNvSpPr txBox="1">
            <a:spLocks noGrp="1"/>
          </p:cNvSpPr>
          <p:nvPr>
            <p:ph type="sldNum" idx="12"/>
          </p:nvPr>
        </p:nvSpPr>
        <p:spPr>
          <a:xfrm>
            <a:off x="9679020" y="6356350"/>
            <a:ext cx="1674779"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4</a:t>
            </a:fld>
            <a:endParaRPr lang="en-US" kern="1200">
              <a:solidFill>
                <a:schemeClr val="tx1">
                  <a:tint val="75000"/>
                </a:schemeClr>
              </a:solidFill>
              <a:latin typeface="+mn-lt"/>
              <a:ea typeface="+mn-ea"/>
              <a:cs typeface="+mn-cs"/>
            </a:endParaRPr>
          </a:p>
        </p:txBody>
      </p:sp>
      <p:sp>
        <p:nvSpPr>
          <p:cNvPr id="2" name="TextBox 1">
            <a:extLst>
              <a:ext uri="{FF2B5EF4-FFF2-40B4-BE49-F238E27FC236}">
                <a16:creationId xmlns:a16="http://schemas.microsoft.com/office/drawing/2014/main" id="{987265F7-5B98-D7C7-FAD8-EB28D80A7663}"/>
              </a:ext>
            </a:extLst>
          </p:cNvPr>
          <p:cNvSpPr txBox="1"/>
          <p:nvPr/>
        </p:nvSpPr>
        <p:spPr>
          <a:xfrm>
            <a:off x="285933" y="1968500"/>
            <a:ext cx="6216467" cy="5509200"/>
          </a:xfrm>
          <a:prstGeom prst="rect">
            <a:avLst/>
          </a:prstGeom>
          <a:noFill/>
        </p:spPr>
        <p:txBody>
          <a:bodyPr wrap="square" rtlCol="0">
            <a:spAutoFit/>
          </a:bodyPr>
          <a:lstStyle/>
          <a:p>
            <a:r>
              <a:rPr lang="en-US" sz="2400" b="0" i="0" dirty="0">
                <a:solidFill>
                  <a:srgbClr val="2D2D2D"/>
                </a:solidFill>
                <a:effectLst/>
                <a:latin typeface="Arial" panose="020B0604020202020204" pitchFamily="34" charset="0"/>
                <a:cs typeface="Arial" panose="020B0604020202020204" pitchFamily="34" charset="0"/>
              </a:rPr>
              <a:t>IBM found out that:</a:t>
            </a:r>
          </a:p>
          <a:p>
            <a:pPr marL="457200" indent="-457200">
              <a:buAutoNum type="arabicParenR"/>
            </a:pPr>
            <a:r>
              <a:rPr lang="en-US" sz="2000" b="0" i="0" dirty="0">
                <a:solidFill>
                  <a:srgbClr val="2D2D2D"/>
                </a:solidFill>
                <a:effectLst/>
                <a:latin typeface="Arial" panose="020B0604020202020204" pitchFamily="34" charset="0"/>
                <a:cs typeface="Arial" panose="020B0604020202020204" pitchFamily="34" charset="0"/>
              </a:rPr>
              <a:t>the cost goes up as the bug passes by the software development lifecycle.</a:t>
            </a:r>
          </a:p>
          <a:p>
            <a:endParaRPr lang="en-US" sz="2000" b="0" i="0" dirty="0">
              <a:solidFill>
                <a:srgbClr val="2D2D2D"/>
              </a:solidFill>
              <a:effectLst/>
              <a:latin typeface="Arial" panose="020B0604020202020204" pitchFamily="34" charset="0"/>
              <a:cs typeface="Arial" panose="020B0604020202020204" pitchFamily="34" charset="0"/>
            </a:endParaRPr>
          </a:p>
          <a:p>
            <a:r>
              <a:rPr lang="en-US" sz="2000" b="0" i="0" dirty="0">
                <a:solidFill>
                  <a:srgbClr val="2D2D2D"/>
                </a:solidFill>
                <a:effectLst/>
                <a:latin typeface="Arial" panose="020B0604020202020204" pitchFamily="34" charset="0"/>
                <a:cs typeface="Arial" panose="020B0604020202020204" pitchFamily="34" charset="0"/>
              </a:rPr>
              <a:t>The cost of fixing the errors after the release is four to five times more than if it is detected during the designing phase. </a:t>
            </a:r>
            <a:endParaRPr lang="en-US" sz="2000" dirty="0">
              <a:solidFill>
                <a:srgbClr val="2D2D2D"/>
              </a:solidFill>
              <a:latin typeface="Arial" panose="020B0604020202020204" pitchFamily="34" charset="0"/>
              <a:cs typeface="Arial" panose="020B0604020202020204" pitchFamily="34" charset="0"/>
            </a:endParaRPr>
          </a:p>
          <a:p>
            <a:endParaRPr lang="en-US" sz="2000" b="0" i="0" dirty="0">
              <a:solidFill>
                <a:srgbClr val="2D2D2D"/>
              </a:solidFill>
              <a:effectLst/>
              <a:latin typeface="Arial" panose="020B0604020202020204" pitchFamily="34" charset="0"/>
              <a:cs typeface="Arial" panose="020B0604020202020204" pitchFamily="34" charset="0"/>
            </a:endParaRPr>
          </a:p>
          <a:p>
            <a:r>
              <a:rPr lang="en-US" sz="2000" b="0" i="0" dirty="0">
                <a:solidFill>
                  <a:srgbClr val="2D2D2D"/>
                </a:solidFill>
                <a:effectLst/>
                <a:latin typeface="Arial" panose="020B0604020202020204" pitchFamily="34" charset="0"/>
                <a:cs typeface="Arial" panose="020B0604020202020204" pitchFamily="34" charset="0"/>
              </a:rPr>
              <a:t>It becomes a hundred times more expensive when the errors are identified during the maintenance phase.</a:t>
            </a:r>
          </a:p>
          <a:p>
            <a:endParaRPr lang="en-US" sz="2000" dirty="0">
              <a:solidFill>
                <a:srgbClr val="2D2D2D"/>
              </a:solidFill>
              <a:latin typeface="Arial" panose="020B0604020202020204" pitchFamily="34" charset="0"/>
              <a:cs typeface="Arial" panose="020B0604020202020204" pitchFamily="34" charset="0"/>
            </a:endParaRPr>
          </a:p>
          <a:p>
            <a:r>
              <a:rPr lang="en-US" sz="2000" b="0" i="0" dirty="0">
                <a:solidFill>
                  <a:srgbClr val="2D2D2D"/>
                </a:solidFill>
                <a:effectLst/>
                <a:latin typeface="Arial" panose="020B0604020202020204" pitchFamily="34" charset="0"/>
                <a:cs typeface="Arial" panose="020B0604020202020204" pitchFamily="34" charset="0"/>
              </a:rPr>
              <a:t>2) the software bug expenses also cause the loss of an average $2.3 billion of shareholder value on the very first day.</a:t>
            </a:r>
            <a:endParaRPr lang="en-US" sz="2000" dirty="0">
              <a:solidFill>
                <a:srgbClr val="2D2D2D"/>
              </a:solidFill>
              <a:latin typeface="Arial" panose="020B0604020202020204" pitchFamily="34" charset="0"/>
              <a:cs typeface="Arial" panose="020B0604020202020204" pitchFamily="34" charset="0"/>
            </a:endParaRPr>
          </a:p>
          <a:p>
            <a:endParaRPr lang="en-US" sz="2400" dirty="0">
              <a:solidFill>
                <a:srgbClr val="2D2D2D"/>
              </a:solidFill>
              <a:latin typeface="Abadi" panose="020B0604020104020204" pitchFamily="34" charset="0"/>
            </a:endParaRPr>
          </a:p>
          <a:p>
            <a:endParaRPr lang="en-US" sz="2400" dirty="0"/>
          </a:p>
        </p:txBody>
      </p:sp>
      <p:sp>
        <p:nvSpPr>
          <p:cNvPr id="3" name="Google Shape;114;p4">
            <a:extLst>
              <a:ext uri="{FF2B5EF4-FFF2-40B4-BE49-F238E27FC236}">
                <a16:creationId xmlns:a16="http://schemas.microsoft.com/office/drawing/2014/main" id="{98B2F17C-74E4-95CF-4564-F578AC6F8D8B}"/>
              </a:ext>
            </a:extLst>
          </p:cNvPr>
          <p:cNvSpPr txBox="1"/>
          <p:nvPr/>
        </p:nvSpPr>
        <p:spPr>
          <a:xfrm>
            <a:off x="4038599" y="6356350"/>
            <a:ext cx="8046721" cy="477044"/>
          </a:xfrm>
          <a:prstGeom prst="rect">
            <a:avLst/>
          </a:prstGeom>
          <a:solidFill>
            <a:srgbClr val="000000">
              <a:alpha val="50000"/>
            </a:srgbClr>
          </a:solidFill>
          <a:ln>
            <a:noFill/>
          </a:ln>
        </p:spPr>
        <p:txBody>
          <a:bodyPr spcFirstLastPara="1" wrap="square" lIns="91425" tIns="45700" rIns="91425" bIns="45700" anchor="ctr" anchorCtr="0">
            <a:noAutofit/>
          </a:bodyPr>
          <a:lstStyle/>
          <a:p>
            <a:pPr marL="0" marR="0" lvl="0" indent="0" algn="ctr" rtl="0">
              <a:spcBef>
                <a:spcPts val="0"/>
              </a:spcBef>
              <a:spcAft>
                <a:spcPts val="600"/>
              </a:spcAft>
              <a:buNone/>
            </a:pPr>
            <a:r>
              <a:rPr lang="en-US" sz="1300" dirty="0">
                <a:solidFill>
                  <a:srgbClr val="FFFFFF"/>
                </a:solidFill>
              </a:rPr>
              <a:t>https://www.kualitee.com/bug-management/3-cases-where-software-bugs-deteriorated-companys-profile/</a:t>
            </a:r>
          </a:p>
        </p:txBody>
      </p:sp>
      <p:pic>
        <p:nvPicPr>
          <p:cNvPr id="13314" name="Picture 2">
            <a:extLst>
              <a:ext uri="{FF2B5EF4-FFF2-40B4-BE49-F238E27FC236}">
                <a16:creationId xmlns:a16="http://schemas.microsoft.com/office/drawing/2014/main" id="{9E7FAED6-1790-787C-6402-F8747D1CD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635357"/>
            <a:ext cx="5295900" cy="186757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40A1C11-B923-E004-BAB0-3934BAC1D87C}"/>
              </a:ext>
            </a:extLst>
          </p:cNvPr>
          <p:cNvPicPr>
            <a:picLocks noChangeAspect="1"/>
          </p:cNvPicPr>
          <p:nvPr/>
        </p:nvPicPr>
        <p:blipFill>
          <a:blip r:embed="rId4"/>
          <a:stretch>
            <a:fillRect/>
          </a:stretch>
        </p:blipFill>
        <p:spPr>
          <a:xfrm>
            <a:off x="8415337" y="2614848"/>
            <a:ext cx="2981325" cy="3400425"/>
          </a:xfrm>
          <a:prstGeom prst="rect">
            <a:avLst/>
          </a:prstGeom>
        </p:spPr>
      </p:pic>
      <p:graphicFrame>
        <p:nvGraphicFramePr>
          <p:cNvPr id="10" name="Table 9">
            <a:extLst>
              <a:ext uri="{FF2B5EF4-FFF2-40B4-BE49-F238E27FC236}">
                <a16:creationId xmlns:a16="http://schemas.microsoft.com/office/drawing/2014/main" id="{6CC25DF6-8081-68BD-6516-B5B8B981433D}"/>
              </a:ext>
            </a:extLst>
          </p:cNvPr>
          <p:cNvGraphicFramePr>
            <a:graphicFrameLocks noGrp="1"/>
          </p:cNvGraphicFramePr>
          <p:nvPr>
            <p:extLst>
              <p:ext uri="{D42A27DB-BD31-4B8C-83A1-F6EECF244321}">
                <p14:modId xmlns:p14="http://schemas.microsoft.com/office/powerpoint/2010/main" val="3658328475"/>
              </p:ext>
            </p:extLst>
          </p:nvPr>
        </p:nvGraphicFramePr>
        <p:xfrm>
          <a:off x="0" y="0"/>
          <a:ext cx="12192000" cy="335206"/>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352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Findings from IBM</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Motivation</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7619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0" y="445770"/>
            <a:ext cx="10515600" cy="65532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Motivation</a:t>
            </a:r>
            <a:endParaRPr lang="en-US" dirty="0"/>
          </a:p>
        </p:txBody>
      </p:sp>
      <p:sp>
        <p:nvSpPr>
          <p:cNvPr id="113" name="Google Shape;11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
        <p:nvSpPr>
          <p:cNvPr id="116" name="Google Shape;116;p4"/>
          <p:cNvSpPr txBox="1"/>
          <p:nvPr/>
        </p:nvSpPr>
        <p:spPr>
          <a:xfrm>
            <a:off x="-1" y="1101090"/>
            <a:ext cx="12532659" cy="5513070"/>
          </a:xfrm>
          <a:prstGeom prst="rect">
            <a:avLst/>
          </a:prstGeom>
          <a:noFill/>
          <a:ln>
            <a:noFill/>
          </a:ln>
        </p:spPr>
        <p:txBody>
          <a:bodyPr spcFirstLastPara="1" wrap="square" lIns="91425" tIns="45700" rIns="91425" bIns="45700" anchor="t" anchorCtr="0">
            <a:normAutofit/>
          </a:bodyPr>
          <a:lstStyle/>
          <a:p>
            <a:pPr>
              <a:lnSpc>
                <a:spcPct val="90000"/>
              </a:lnSpc>
              <a:spcBef>
                <a:spcPts val="1000"/>
              </a:spcBef>
              <a:buClr>
                <a:schemeClr val="dk1"/>
              </a:buClr>
              <a:buSzPct val="100000"/>
            </a:pPr>
            <a:r>
              <a:rPr lang="en-US" sz="2400" dirty="0">
                <a:solidFill>
                  <a:schemeClr val="dk1"/>
                </a:solidFill>
                <a:latin typeface="+mn-lt"/>
                <a:cs typeface="Calibri"/>
                <a:sym typeface="Calibri"/>
              </a:rPr>
              <a:t>Companies trying to outdo each other, software fast releasing and updating </a:t>
            </a:r>
            <a:r>
              <a:rPr lang="en-US" sz="2400" b="0" u="none" dirty="0">
                <a:solidFill>
                  <a:schemeClr val="dk1"/>
                </a:solidFill>
                <a:latin typeface="+mn-lt"/>
                <a:ea typeface="Calibri"/>
                <a:cs typeface="Calibri"/>
                <a:sym typeface="Calibri"/>
              </a:rPr>
              <a:t>Cause software defects in released products, which leads to:</a:t>
            </a:r>
            <a:endParaRPr lang="en-US" sz="2400" dirty="0">
              <a:latin typeface="+mn-lt"/>
            </a:endParaRPr>
          </a:p>
          <a:p>
            <a:pPr marL="228600" marR="0" lvl="0" indent="-228600" algn="l" rtl="0">
              <a:lnSpc>
                <a:spcPct val="90000"/>
              </a:lnSpc>
              <a:spcBef>
                <a:spcPts val="1000"/>
              </a:spcBef>
              <a:spcAft>
                <a:spcPts val="0"/>
              </a:spcAft>
              <a:buClr>
                <a:schemeClr val="dk1"/>
              </a:buClr>
              <a:buSzPct val="100000"/>
              <a:buFont typeface="Noto Sans Symbols"/>
              <a:buChar char="⮚"/>
            </a:pPr>
            <a:r>
              <a:rPr lang="en-US" sz="2000" b="0" u="none" dirty="0">
                <a:solidFill>
                  <a:schemeClr val="dk1"/>
                </a:solidFill>
                <a:latin typeface="+mn-lt"/>
                <a:ea typeface="Calibri"/>
                <a:cs typeface="Calibri"/>
                <a:sym typeface="Calibri"/>
              </a:rPr>
              <a:t>Expensive consequences</a:t>
            </a:r>
          </a:p>
          <a:p>
            <a:pPr marL="228600" marR="0" lvl="0" indent="-228600" algn="l" rtl="0">
              <a:lnSpc>
                <a:spcPct val="90000"/>
              </a:lnSpc>
              <a:spcBef>
                <a:spcPts val="1000"/>
              </a:spcBef>
              <a:spcAft>
                <a:spcPts val="0"/>
              </a:spcAft>
              <a:buClr>
                <a:schemeClr val="dk1"/>
              </a:buClr>
              <a:buSzPct val="100000"/>
              <a:buFont typeface="Noto Sans Symbols"/>
              <a:buChar char="⮚"/>
            </a:pPr>
            <a:r>
              <a:rPr lang="en-US" sz="2000" b="0" u="none" dirty="0">
                <a:solidFill>
                  <a:schemeClr val="dk1"/>
                </a:solidFill>
                <a:latin typeface="+mn-lt"/>
                <a:ea typeface="Calibri"/>
                <a:cs typeface="Calibri"/>
                <a:sym typeface="Calibri"/>
              </a:rPr>
              <a:t>Affect company reputation</a:t>
            </a:r>
          </a:p>
          <a:p>
            <a:pPr marL="0" marR="0" lvl="0" indent="0" algn="l" rtl="0">
              <a:lnSpc>
                <a:spcPct val="90000"/>
              </a:lnSpc>
              <a:spcBef>
                <a:spcPts val="0"/>
              </a:spcBef>
              <a:spcAft>
                <a:spcPts val="0"/>
              </a:spcAft>
              <a:buClr>
                <a:schemeClr val="dk1"/>
              </a:buClr>
              <a:buSzPct val="100000"/>
              <a:buFont typeface="Arial"/>
              <a:buNone/>
            </a:pPr>
            <a:endParaRPr lang="en-US" sz="2800" b="0" u="none" dirty="0">
              <a:solidFill>
                <a:schemeClr val="dk1"/>
              </a:solidFill>
              <a:latin typeface="Calibri"/>
              <a:ea typeface="Calibri"/>
              <a:cs typeface="Calibri"/>
              <a:sym typeface="Calibri"/>
            </a:endParaRPr>
          </a:p>
          <a:p>
            <a:pPr>
              <a:lnSpc>
                <a:spcPct val="90000"/>
              </a:lnSpc>
              <a:buClr>
                <a:schemeClr val="dk1"/>
              </a:buClr>
              <a:buSzPct val="100000"/>
            </a:pPr>
            <a:r>
              <a:rPr lang="en-US" sz="2800" b="1" dirty="0">
                <a:solidFill>
                  <a:schemeClr val="dk1"/>
                </a:solidFill>
                <a:latin typeface="Calibri"/>
                <a:cs typeface="Calibri"/>
                <a:sym typeface="Calibri"/>
              </a:rPr>
              <a:t>Goal</a:t>
            </a:r>
            <a:r>
              <a:rPr lang="en-US" sz="2800" dirty="0">
                <a:solidFill>
                  <a:schemeClr val="dk1"/>
                </a:solidFill>
                <a:latin typeface="Calibri"/>
                <a:cs typeface="Calibri"/>
                <a:sym typeface="Calibri"/>
              </a:rPr>
              <a:t>: Detect more defects before software releasing</a:t>
            </a:r>
            <a:endParaRPr lang="en-US" sz="2800" dirty="0"/>
          </a:p>
          <a:p>
            <a:pPr marL="0" marR="0" lvl="0" indent="0" algn="l" rtl="0">
              <a:lnSpc>
                <a:spcPct val="90000"/>
              </a:lnSpc>
              <a:spcBef>
                <a:spcPts val="0"/>
              </a:spcBef>
              <a:spcAft>
                <a:spcPts val="0"/>
              </a:spcAft>
              <a:buClr>
                <a:schemeClr val="dk1"/>
              </a:buClr>
              <a:buSzPct val="100000"/>
              <a:buFont typeface="Arial"/>
              <a:buNone/>
            </a:pPr>
            <a:endParaRPr lang="en-US" sz="2800" dirty="0">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0000"/>
              <a:buFont typeface="Arial"/>
              <a:buNone/>
            </a:pPr>
            <a:endParaRPr lang="en-US" sz="2800" b="0" u="none" dirty="0">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ct val="100000"/>
              <a:buFont typeface="Arial"/>
              <a:buNone/>
            </a:pPr>
            <a:r>
              <a:rPr lang="en-US" sz="2000" b="0" u="none" dirty="0">
                <a:solidFill>
                  <a:schemeClr val="dk1"/>
                </a:solidFill>
                <a:latin typeface="+mn-lt"/>
                <a:ea typeface="Calibri"/>
                <a:cs typeface="Calibri"/>
                <a:sym typeface="Calibri"/>
              </a:rPr>
              <a:t>Software Quality Assurance plays an important role in producing high quality software.</a:t>
            </a:r>
            <a:endParaRPr sz="2000" dirty="0">
              <a:latin typeface="+mn-lt"/>
            </a:endParaRPr>
          </a:p>
          <a:p>
            <a:pPr marR="0" lvl="0" algn="l" rtl="0">
              <a:lnSpc>
                <a:spcPct val="90000"/>
              </a:lnSpc>
              <a:spcBef>
                <a:spcPts val="1000"/>
              </a:spcBef>
              <a:spcAft>
                <a:spcPts val="0"/>
              </a:spcAft>
              <a:buClr>
                <a:schemeClr val="dk1"/>
              </a:buClr>
              <a:buSzPts val="2800"/>
            </a:pPr>
            <a:r>
              <a:rPr lang="en-US" sz="2000" dirty="0">
                <a:solidFill>
                  <a:schemeClr val="dk1"/>
                </a:solidFill>
                <a:latin typeface="+mn-lt"/>
                <a:ea typeface="Calibri"/>
                <a:cs typeface="Calibri"/>
                <a:sym typeface="Calibri"/>
              </a:rPr>
              <a:t>Software Defect Prediction (SDP) aims to predict the likelihood of defects in software artifacts, typically, in source code elements of different granularity (e.g., methods, classes, files, components).</a:t>
            </a:r>
          </a:p>
          <a:p>
            <a:pPr marL="285750" indent="-285750">
              <a:lnSpc>
                <a:spcPct val="90000"/>
              </a:lnSpc>
              <a:spcBef>
                <a:spcPts val="1000"/>
              </a:spcBef>
              <a:buClr>
                <a:schemeClr val="dk1"/>
              </a:buClr>
              <a:buSzPct val="100000"/>
              <a:buFont typeface="Wingdings" panose="05000000000000000000" pitchFamily="2" charset="2"/>
              <a:buChar char="§"/>
            </a:pPr>
            <a:r>
              <a:rPr lang="en-US" sz="2000" dirty="0">
                <a:solidFill>
                  <a:schemeClr val="dk1"/>
                </a:solidFill>
                <a:latin typeface="+mn-lt"/>
                <a:ea typeface="Calibri"/>
                <a:cs typeface="Calibri"/>
                <a:sym typeface="Calibri"/>
              </a:rPr>
              <a:t>SDP for prioritizing maintenance tasks, planning activities to reduce technical debt, estimating cost and needed resources for project Quality Assurance (QA) efforts</a:t>
            </a:r>
            <a:endParaRPr lang="en-US" sz="2000" dirty="0">
              <a:latin typeface="+mn-lt"/>
            </a:endParaRPr>
          </a:p>
          <a:p>
            <a:pPr marL="0" marR="0" lvl="0" indent="0" algn="l" rtl="0">
              <a:lnSpc>
                <a:spcPct val="90000"/>
              </a:lnSpc>
              <a:spcBef>
                <a:spcPts val="1000"/>
              </a:spcBef>
              <a:spcAft>
                <a:spcPts val="0"/>
              </a:spcAft>
              <a:buClr>
                <a:schemeClr val="dk1"/>
              </a:buClr>
              <a:buSzPct val="100000"/>
              <a:buFont typeface="Arial"/>
              <a:buNone/>
            </a:pPr>
            <a:endParaRPr lang="en-US" sz="2800" dirty="0">
              <a:solidFill>
                <a:schemeClr val="dk1"/>
              </a:solidFill>
              <a:latin typeface="Calibri"/>
              <a:cs typeface="Calibri"/>
              <a:sym typeface="Calibri"/>
            </a:endParaRPr>
          </a:p>
          <a:p>
            <a:pPr marL="0" marR="0" lvl="0" indent="0" algn="l" rtl="0">
              <a:lnSpc>
                <a:spcPct val="90000"/>
              </a:lnSpc>
              <a:spcBef>
                <a:spcPts val="1000"/>
              </a:spcBef>
              <a:spcAft>
                <a:spcPts val="0"/>
              </a:spcAft>
              <a:buClr>
                <a:schemeClr val="dk1"/>
              </a:buClr>
              <a:buSzPct val="100000"/>
              <a:buFont typeface="Arial"/>
              <a:buNone/>
            </a:pPr>
            <a:endParaRPr sz="2800" b="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ct val="100000"/>
              <a:buFont typeface="Arial"/>
              <a:buNone/>
            </a:pPr>
            <a:endParaRPr sz="2800" b="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ct val="100000"/>
              <a:buFont typeface="Arial"/>
              <a:buNone/>
            </a:pPr>
            <a:endParaRPr sz="2800" b="0" u="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ct val="100000"/>
              <a:buFont typeface="Arial"/>
              <a:buNone/>
            </a:pPr>
            <a:endParaRPr sz="2800" b="0" u="none"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D35E6844-1AD5-7CBD-4AE7-7BBE2B2E5787}"/>
              </a:ext>
            </a:extLst>
          </p:cNvPr>
          <p:cNvGraphicFramePr>
            <a:graphicFrameLocks noGrp="1"/>
          </p:cNvGraphicFramePr>
          <p:nvPr>
            <p:extLst>
              <p:ext uri="{D42A27DB-BD31-4B8C-83A1-F6EECF244321}">
                <p14:modId xmlns:p14="http://schemas.microsoft.com/office/powerpoint/2010/main" val="4005283590"/>
              </p:ext>
            </p:extLst>
          </p:nvPr>
        </p:nvGraphicFramePr>
        <p:xfrm>
          <a:off x="0" y="0"/>
          <a:ext cx="12192000" cy="335206"/>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352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Motivation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Summary</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5882510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297559" y="501650"/>
            <a:ext cx="2854569" cy="91269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Summary</a:t>
            </a:r>
            <a:endParaRPr dirty="0"/>
          </a:p>
        </p:txBody>
      </p:sp>
      <p:sp>
        <p:nvSpPr>
          <p:cNvPr id="122" name="Google Shape;12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
        <p:nvSpPr>
          <p:cNvPr id="123" name="Google Shape;123;p5"/>
          <p:cNvSpPr txBox="1"/>
          <p:nvPr/>
        </p:nvSpPr>
        <p:spPr>
          <a:xfrm>
            <a:off x="297559" y="1303704"/>
            <a:ext cx="11596881" cy="5052646"/>
          </a:xfrm>
          <a:prstGeom prst="rect">
            <a:avLst/>
          </a:prstGeom>
          <a:noFill/>
          <a:ln>
            <a:noFill/>
          </a:ln>
        </p:spPr>
        <p:txBody>
          <a:bodyPr spcFirstLastPara="1" wrap="square" lIns="91425" tIns="45700" rIns="91425" bIns="45700" anchor="t" anchorCtr="0">
            <a:normAutofit/>
          </a:bodyPr>
          <a:lstStyle/>
          <a:p>
            <a:pPr marR="0" lvl="0" algn="l" rtl="0">
              <a:lnSpc>
                <a:spcPct val="90000"/>
              </a:lnSpc>
              <a:spcBef>
                <a:spcPts val="1000"/>
              </a:spcBef>
              <a:spcAft>
                <a:spcPts val="0"/>
              </a:spcAft>
              <a:buClr>
                <a:schemeClr val="dk1"/>
              </a:buClr>
              <a:buSzPts val="2800"/>
            </a:pPr>
            <a:r>
              <a:rPr lang="en-US" sz="2000" dirty="0">
                <a:solidFill>
                  <a:schemeClr val="dk1"/>
                </a:solidFill>
                <a:latin typeface="+mn-lt"/>
                <a:ea typeface="Calibri"/>
                <a:cs typeface="Calibri"/>
                <a:sym typeface="Calibri"/>
              </a:rPr>
              <a:t>Just-in-Time Software Defect Prediction (JIT-SDP) aims to predict the defect likelihood of each software change and to be an earlier step of continuous quality control because it can be invoked as soon as a developer commits code to their private or to the team’s workspace.</a:t>
            </a:r>
          </a:p>
          <a:p>
            <a:pPr marL="457200" lvl="4" indent="-457200">
              <a:lnSpc>
                <a:spcPct val="90000"/>
              </a:lnSpc>
              <a:spcBef>
                <a:spcPts val="1000"/>
              </a:spcBef>
              <a:buClr>
                <a:schemeClr val="dk1"/>
              </a:buClr>
              <a:buSzPct val="100000"/>
              <a:buFont typeface="+mj-lt"/>
              <a:buAutoNum type="arabicPeriod"/>
            </a:pPr>
            <a:r>
              <a:rPr lang="en-US" sz="2000" b="1" i="0" u="none" strike="noStrike" baseline="0" dirty="0">
                <a:latin typeface="+mn-lt"/>
              </a:rPr>
              <a:t>Predictions are made at a fine granularity</a:t>
            </a:r>
            <a:r>
              <a:rPr lang="en-US" sz="2000" b="0" i="0" u="none" strike="noStrike" baseline="0" dirty="0">
                <a:latin typeface="+mn-lt"/>
              </a:rPr>
              <a:t>: Predictions identify defect-inducing changes which are mapped to small areas of the code and provide large effort savings over coarser grained predictions</a:t>
            </a:r>
          </a:p>
          <a:p>
            <a:pPr marL="457200" lvl="4" indent="-457200">
              <a:lnSpc>
                <a:spcPct val="90000"/>
              </a:lnSpc>
              <a:spcBef>
                <a:spcPts val="1000"/>
              </a:spcBef>
              <a:buClr>
                <a:schemeClr val="dk1"/>
              </a:buClr>
              <a:buSzPct val="100000"/>
              <a:buFont typeface="+mj-lt"/>
              <a:buAutoNum type="arabicPeriod"/>
            </a:pPr>
            <a:r>
              <a:rPr lang="en-US" sz="2000" b="1" i="0" u="none" strike="noStrike" baseline="0" dirty="0">
                <a:latin typeface="+mn-lt"/>
              </a:rPr>
              <a:t>Predictions can be expressed as concrete work assignments for a developer to fix a defect due to a change</a:t>
            </a:r>
            <a:r>
              <a:rPr lang="en-US" sz="2000" b="0" i="0" u="none" strike="noStrike" baseline="0" dirty="0">
                <a:latin typeface="+mn-lt"/>
              </a:rPr>
              <a:t>: Changes can be easily mapped to the person who committed the change. This can save time in finding the developer who introduced the defect (if a defect is induced) because the person who made the change is most familiar with it.</a:t>
            </a:r>
          </a:p>
          <a:p>
            <a:pPr marL="457200" lvl="4" indent="-457200">
              <a:lnSpc>
                <a:spcPct val="90000"/>
              </a:lnSpc>
              <a:spcBef>
                <a:spcPts val="1000"/>
              </a:spcBef>
              <a:buClr>
                <a:schemeClr val="dk1"/>
              </a:buClr>
              <a:buSzPct val="100000"/>
              <a:buFont typeface="+mj-lt"/>
              <a:buAutoNum type="arabicPeriod"/>
            </a:pPr>
            <a:r>
              <a:rPr lang="en-US" sz="2000" b="1" i="0" u="none" strike="noStrike" baseline="0" dirty="0">
                <a:latin typeface="+mn-lt"/>
              </a:rPr>
              <a:t>Predictions are made early on</a:t>
            </a:r>
            <a:r>
              <a:rPr lang="en-US" sz="2000" b="0" i="0" u="none" strike="noStrike" baseline="0" dirty="0">
                <a:latin typeface="+mn-lt"/>
              </a:rPr>
              <a:t>: Only change properties are used for predictions. Therefore, the prediction can be performed at the time when the change is submitted for unit test (private view) or integration. Such immediate feedback ensures that the design decisions are still fresh in the minds of developers.</a:t>
            </a:r>
            <a:endParaRPr lang="en-US" sz="2000" dirty="0">
              <a:latin typeface="+mn-lt"/>
            </a:endParaRPr>
          </a:p>
          <a:p>
            <a:pPr marL="0" marR="0" lvl="0" indent="0" algn="l" rtl="0">
              <a:lnSpc>
                <a:spcPct val="90000"/>
              </a:lnSpc>
              <a:spcBef>
                <a:spcPts val="1000"/>
              </a:spcBef>
              <a:spcAft>
                <a:spcPts val="0"/>
              </a:spcAft>
              <a:buClr>
                <a:schemeClr val="dk1"/>
              </a:buClr>
              <a:buSzPts val="2800"/>
              <a:buFont typeface="Arial"/>
              <a:buNone/>
            </a:pPr>
            <a:r>
              <a:rPr lang="en-US" sz="2000" dirty="0">
                <a:solidFill>
                  <a:schemeClr val="dk1"/>
                </a:solidFill>
                <a:latin typeface="+mn-lt"/>
                <a:ea typeface="Calibri"/>
                <a:cs typeface="Calibri"/>
                <a:sym typeface="Calibri"/>
              </a:rPr>
              <a:t> </a:t>
            </a:r>
            <a:endParaRPr sz="2000" dirty="0">
              <a:solidFill>
                <a:schemeClr val="dk1"/>
              </a:solidFill>
              <a:latin typeface="+mn-lt"/>
              <a:ea typeface="Calibri"/>
              <a:cs typeface="Calibri"/>
              <a:sym typeface="Calibri"/>
            </a:endParaRPr>
          </a:p>
        </p:txBody>
      </p:sp>
      <p:graphicFrame>
        <p:nvGraphicFramePr>
          <p:cNvPr id="2" name="Table 1">
            <a:extLst>
              <a:ext uri="{FF2B5EF4-FFF2-40B4-BE49-F238E27FC236}">
                <a16:creationId xmlns:a16="http://schemas.microsoft.com/office/drawing/2014/main" id="{19CE18E7-FFEE-5787-EE95-31D41A49523A}"/>
              </a:ext>
            </a:extLst>
          </p:cNvPr>
          <p:cNvGraphicFramePr>
            <a:graphicFrameLocks noGrp="1"/>
          </p:cNvGraphicFramePr>
          <p:nvPr>
            <p:extLst>
              <p:ext uri="{D42A27DB-BD31-4B8C-83A1-F6EECF244321}">
                <p14:modId xmlns:p14="http://schemas.microsoft.com/office/powerpoint/2010/main" val="3564051310"/>
              </p:ext>
            </p:extLst>
          </p:nvPr>
        </p:nvGraphicFramePr>
        <p:xfrm>
          <a:off x="0" y="0"/>
          <a:ext cx="12192000" cy="335206"/>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352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Summary</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074450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228600" indent="-228600">
              <a:buSzPct val="100000"/>
            </a:pPr>
            <a:r>
              <a:rPr lang="en-US" sz="2900" u="sng" dirty="0">
                <a:solidFill>
                  <a:schemeClr val="hlink"/>
                </a:solidFill>
                <a:hlinkClick r:id="rId3" action="ppaction://hlinksldjump"/>
              </a:rPr>
              <a:t>Introduction </a:t>
            </a:r>
            <a:endParaRPr lang="en-US" sz="2900" u="sng" dirty="0">
              <a:solidFill>
                <a:schemeClr val="hlink"/>
              </a:solidFill>
            </a:endParaRPr>
          </a:p>
          <a:p>
            <a:pPr marL="685800" lvl="1" indent="-228600">
              <a:buSzPct val="100000"/>
            </a:pPr>
            <a:r>
              <a:rPr lang="en-US" sz="2500" u="sng" dirty="0">
                <a:solidFill>
                  <a:schemeClr val="hlink"/>
                </a:solidFill>
                <a:hlinkClick r:id="rId3"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4"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5" action="ppaction://hlinksldjump"/>
              </a:rPr>
              <a:t>Overview of JIT-SDP</a:t>
            </a:r>
            <a:endParaRPr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u="sng" dirty="0">
                <a:solidFill>
                  <a:srgbClr val="0070C0"/>
                </a:solidFill>
                <a:hlinkClick r:id="rId6" action="ppaction://hlinksldjump">
                  <a:extLst>
                    <a:ext uri="{A12FA001-AC4F-418D-AE19-62706E023703}">
                      <ahyp:hlinkClr xmlns:ahyp="http://schemas.microsoft.com/office/drawing/2018/hyperlinkcolor" val="tx"/>
                    </a:ext>
                  </a:extLst>
                </a:hlinkClick>
              </a:rPr>
              <a:t>Data Sources</a:t>
            </a:r>
            <a:endParaRPr u="sng" dirty="0">
              <a:solidFill>
                <a:srgbClr val="0070C0"/>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aphicFrame>
        <p:nvGraphicFramePr>
          <p:cNvPr id="2" name="Table 1">
            <a:extLst>
              <a:ext uri="{FF2B5EF4-FFF2-40B4-BE49-F238E27FC236}">
                <a16:creationId xmlns:a16="http://schemas.microsoft.com/office/drawing/2014/main" id="{710665C4-C904-7607-B84F-FDFC3D6B9F3B}"/>
              </a:ext>
            </a:extLst>
          </p:cNvPr>
          <p:cNvGraphicFramePr>
            <a:graphicFrameLocks noGrp="1"/>
          </p:cNvGraphicFramePr>
          <p:nvPr>
            <p:extLst>
              <p:ext uri="{D42A27DB-BD31-4B8C-83A1-F6EECF244321}">
                <p14:modId xmlns:p14="http://schemas.microsoft.com/office/powerpoint/2010/main" val="3734564136"/>
              </p:ext>
            </p:extLst>
          </p:nvPr>
        </p:nvGraphicFramePr>
        <p:xfrm>
          <a:off x="0" y="0"/>
          <a:ext cx="12192000" cy="335206"/>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35206">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Paper Selection</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841774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115">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Google Shape;102;p3"/>
          <p:cNvSpPr txBox="1">
            <a:spLocks noGrp="1"/>
          </p:cNvSpPr>
          <p:nvPr>
            <p:ph type="title"/>
          </p:nvPr>
        </p:nvSpPr>
        <p:spPr>
          <a:xfrm>
            <a:off x="699715" y="288404"/>
            <a:ext cx="11222654" cy="977442"/>
          </a:xfrm>
          <a:prstGeom prst="rect">
            <a:avLst/>
          </a:prstGeom>
        </p:spPr>
        <p:txBody>
          <a:bodyPr spcFirstLastPara="1" vert="horz" lIns="91440" tIns="45720" rIns="91440" bIns="45720" rtlCol="0" anchor="ctr" anchorCtr="0">
            <a:normAutofit/>
          </a:bodyPr>
          <a:lstStyle/>
          <a:p>
            <a:pPr marL="0" lvl="0" indent="0">
              <a:spcBef>
                <a:spcPct val="0"/>
              </a:spcBef>
              <a:spcAft>
                <a:spcPts val="0"/>
              </a:spcAft>
              <a:buClr>
                <a:schemeClr val="dk1"/>
              </a:buClr>
              <a:buSzPts val="4400"/>
            </a:pPr>
            <a:r>
              <a:rPr lang="en-US" sz="3100" kern="1200" dirty="0">
                <a:solidFill>
                  <a:srgbClr val="FFFFFF"/>
                </a:solidFill>
                <a:latin typeface="+mj-lt"/>
                <a:ea typeface="+mj-ea"/>
                <a:cs typeface="+mj-cs"/>
                <a:sym typeface="Calibri"/>
              </a:rPr>
              <a:t>Paper Selection Method(1/2)</a:t>
            </a:r>
            <a:endParaRPr lang="en-US" sz="3100" kern="1200" dirty="0">
              <a:solidFill>
                <a:srgbClr val="FFFFFF"/>
              </a:solidFill>
              <a:latin typeface="+mj-lt"/>
              <a:ea typeface="+mj-ea"/>
              <a:cs typeface="+mj-cs"/>
            </a:endParaRPr>
          </a:p>
        </p:txBody>
      </p:sp>
      <p:sp>
        <p:nvSpPr>
          <p:cNvPr id="103" name="Google Shape;103;p3"/>
          <p:cNvSpPr txBox="1">
            <a:spLocks noGrp="1"/>
          </p:cNvSpPr>
          <p:nvPr>
            <p:ph type="sldNum" idx="12"/>
          </p:nvPr>
        </p:nvSpPr>
        <p:spPr>
          <a:xfrm>
            <a:off x="11704320" y="6452940"/>
            <a:ext cx="448056" cy="365760"/>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sz="1100" kern="1200">
                <a:solidFill>
                  <a:schemeClr val="tx1">
                    <a:lumMod val="50000"/>
                    <a:lumOff val="50000"/>
                  </a:schemeClr>
                </a:solidFill>
                <a:latin typeface="+mn-lt"/>
                <a:ea typeface="+mn-ea"/>
                <a:cs typeface="+mn-cs"/>
              </a:rPr>
              <a:pPr lvl="0" indent="0">
                <a:spcBef>
                  <a:spcPts val="0"/>
                </a:spcBef>
                <a:spcAft>
                  <a:spcPts val="600"/>
                </a:spcAft>
                <a:buNone/>
              </a:pPr>
              <a:t>8</a:t>
            </a:fld>
            <a:endParaRPr lang="en-US" sz="1100" kern="1200">
              <a:solidFill>
                <a:schemeClr val="tx1">
                  <a:lumMod val="50000"/>
                  <a:lumOff val="50000"/>
                </a:schemeClr>
              </a:solidFill>
              <a:latin typeface="+mn-lt"/>
              <a:ea typeface="+mn-ea"/>
              <a:cs typeface="+mn-cs"/>
            </a:endParaRPr>
          </a:p>
        </p:txBody>
      </p:sp>
      <p:sp>
        <p:nvSpPr>
          <p:cNvPr id="7" name="TextBox 6">
            <a:extLst>
              <a:ext uri="{FF2B5EF4-FFF2-40B4-BE49-F238E27FC236}">
                <a16:creationId xmlns:a16="http://schemas.microsoft.com/office/drawing/2014/main" id="{BBE4E2FB-5D8E-162E-7C07-EFC96DFD6134}"/>
              </a:ext>
            </a:extLst>
          </p:cNvPr>
          <p:cNvSpPr txBox="1"/>
          <p:nvPr/>
        </p:nvSpPr>
        <p:spPr>
          <a:xfrm>
            <a:off x="7290833" y="1575461"/>
            <a:ext cx="4790283" cy="5324535"/>
          </a:xfrm>
          <a:prstGeom prst="rect">
            <a:avLst/>
          </a:prstGeom>
          <a:noFill/>
          <a:ln w="3175">
            <a:solidFill>
              <a:srgbClr val="00B0F0"/>
            </a:solidFill>
          </a:ln>
        </p:spPr>
        <p:txBody>
          <a:bodyPr wrap="square" rtlCol="0">
            <a:spAutoFit/>
          </a:bodyPr>
          <a:lstStyle/>
          <a:p>
            <a:pPr algn="l"/>
            <a:r>
              <a:rPr lang="en-US" sz="2000" b="0" i="0" u="none" strike="noStrike" baseline="0" dirty="0">
                <a:latin typeface="+mn-lt"/>
              </a:rPr>
              <a:t>The digital library keyword search may not identify all of the relevant studies. </a:t>
            </a:r>
          </a:p>
          <a:p>
            <a:pPr algn="l"/>
            <a:endParaRPr lang="en-US" sz="2000" dirty="0">
              <a:latin typeface="+mn-lt"/>
            </a:endParaRPr>
          </a:p>
          <a:p>
            <a:pPr algn="l"/>
            <a:r>
              <a:rPr lang="en-US" sz="2000" b="0" i="0" u="none" strike="noStrike" baseline="0" dirty="0">
                <a:latin typeface="+mn-lt"/>
              </a:rPr>
              <a:t>To alleviate this problem, we use the </a:t>
            </a:r>
            <a:r>
              <a:rPr lang="en-US" sz="2000" b="1" i="0" u="none" strike="noStrike" baseline="0" dirty="0">
                <a:latin typeface="+mn-lt"/>
              </a:rPr>
              <a:t>snowball</a:t>
            </a:r>
            <a:r>
              <a:rPr lang="en-US" sz="2000" b="0" i="0" u="none" strike="noStrike" baseline="0" dirty="0">
                <a:latin typeface="+mn-lt"/>
              </a:rPr>
              <a:t> method to discover new studies starting</a:t>
            </a:r>
          </a:p>
          <a:p>
            <a:pPr algn="l"/>
            <a:r>
              <a:rPr lang="en-US" sz="2000" b="0" i="0" u="none" strike="noStrike" baseline="0" dirty="0">
                <a:latin typeface="+mn-lt"/>
              </a:rPr>
              <a:t>with the selected articles from the previous step. We consider a variant of the snowball method called the </a:t>
            </a:r>
            <a:r>
              <a:rPr lang="en-US" sz="2000" b="1" i="0" u="none" strike="noStrike" baseline="0" dirty="0">
                <a:latin typeface="+mn-lt"/>
              </a:rPr>
              <a:t>backward (or reverse) snowball </a:t>
            </a:r>
            <a:r>
              <a:rPr lang="en-US" sz="2000" b="0" i="0" u="none" strike="noStrike" baseline="0" dirty="0">
                <a:latin typeface="+mn-lt"/>
              </a:rPr>
              <a:t>where we examine the references of an identified article. </a:t>
            </a:r>
          </a:p>
          <a:p>
            <a:pPr algn="l"/>
            <a:endParaRPr lang="en-US" sz="2000" b="0" i="0" u="none" strike="noStrike" baseline="0" dirty="0">
              <a:latin typeface="+mn-lt"/>
            </a:endParaRPr>
          </a:p>
          <a:p>
            <a:pPr algn="l"/>
            <a:r>
              <a:rPr lang="en-US" sz="2000" b="0" i="0" u="none" strike="noStrike" baseline="0" dirty="0">
                <a:latin typeface="+mn-lt"/>
              </a:rPr>
              <a:t>Empirical evidence suggests that the snowball method should be effective to locate “high quality sources in obscure locations [20].”</a:t>
            </a:r>
            <a:endParaRPr lang="en-US" sz="2000" dirty="0">
              <a:latin typeface="+mn-lt"/>
            </a:endParaRPr>
          </a:p>
        </p:txBody>
      </p:sp>
      <p:sp>
        <p:nvSpPr>
          <p:cNvPr id="8" name="TextBox 7">
            <a:extLst>
              <a:ext uri="{FF2B5EF4-FFF2-40B4-BE49-F238E27FC236}">
                <a16:creationId xmlns:a16="http://schemas.microsoft.com/office/drawing/2014/main" id="{A47F7B8A-408D-3851-9A81-3D0299DF022D}"/>
              </a:ext>
            </a:extLst>
          </p:cNvPr>
          <p:cNvSpPr txBox="1"/>
          <p:nvPr/>
        </p:nvSpPr>
        <p:spPr>
          <a:xfrm>
            <a:off x="39624" y="1606426"/>
            <a:ext cx="6556232" cy="5109091"/>
          </a:xfrm>
          <a:prstGeom prst="rect">
            <a:avLst/>
          </a:prstGeom>
          <a:noFill/>
          <a:ln w="3175">
            <a:solidFill>
              <a:srgbClr val="00B0F0"/>
            </a:solidFill>
          </a:ln>
        </p:spPr>
        <p:txBody>
          <a:bodyPr wrap="square" rtlCol="0">
            <a:spAutoFit/>
          </a:bodyPr>
          <a:lstStyle/>
          <a:p>
            <a:r>
              <a:rPr lang="en-US" sz="1800" dirty="0"/>
              <a:t>Digital Library Keyword Search</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9" name="Google Shape;105;p3">
            <a:extLst>
              <a:ext uri="{FF2B5EF4-FFF2-40B4-BE49-F238E27FC236}">
                <a16:creationId xmlns:a16="http://schemas.microsoft.com/office/drawing/2014/main" id="{DC7DF991-D763-C305-504B-E720D10D7CD7}"/>
              </a:ext>
            </a:extLst>
          </p:cNvPr>
          <p:cNvPicPr preferRelativeResize="0"/>
          <p:nvPr/>
        </p:nvPicPr>
        <p:blipFill rotWithShape="1">
          <a:blip r:embed="rId3"/>
          <a:stretch/>
        </p:blipFill>
        <p:spPr>
          <a:xfrm>
            <a:off x="3354939" y="1959543"/>
            <a:ext cx="3240917" cy="1749269"/>
          </a:xfrm>
          <a:prstGeom prst="rect">
            <a:avLst/>
          </a:prstGeom>
          <a:noFill/>
        </p:spPr>
      </p:pic>
      <p:pic>
        <p:nvPicPr>
          <p:cNvPr id="10" name="Picture 9">
            <a:extLst>
              <a:ext uri="{FF2B5EF4-FFF2-40B4-BE49-F238E27FC236}">
                <a16:creationId xmlns:a16="http://schemas.microsoft.com/office/drawing/2014/main" id="{99323A2F-5E5C-63D7-1216-DE386A842EEC}"/>
              </a:ext>
            </a:extLst>
          </p:cNvPr>
          <p:cNvPicPr>
            <a:picLocks noChangeAspect="1"/>
          </p:cNvPicPr>
          <p:nvPr/>
        </p:nvPicPr>
        <p:blipFill>
          <a:blip r:embed="rId4"/>
          <a:stretch>
            <a:fillRect/>
          </a:stretch>
        </p:blipFill>
        <p:spPr>
          <a:xfrm>
            <a:off x="116779" y="3871682"/>
            <a:ext cx="5038344" cy="2897046"/>
          </a:xfrm>
          <a:prstGeom prst="rect">
            <a:avLst/>
          </a:prstGeom>
        </p:spPr>
      </p:pic>
      <p:pic>
        <p:nvPicPr>
          <p:cNvPr id="11" name="Google Shape;104;p3">
            <a:extLst>
              <a:ext uri="{FF2B5EF4-FFF2-40B4-BE49-F238E27FC236}">
                <a16:creationId xmlns:a16="http://schemas.microsoft.com/office/drawing/2014/main" id="{C9C55BB3-7164-07CC-6010-81453E03AC3D}"/>
              </a:ext>
            </a:extLst>
          </p:cNvPr>
          <p:cNvPicPr preferRelativeResize="0"/>
          <p:nvPr/>
        </p:nvPicPr>
        <p:blipFill rotWithShape="1">
          <a:blip r:embed="rId5"/>
          <a:stretch/>
        </p:blipFill>
        <p:spPr>
          <a:xfrm>
            <a:off x="147015" y="2239942"/>
            <a:ext cx="3167850" cy="1306001"/>
          </a:xfrm>
          <a:prstGeom prst="rect">
            <a:avLst/>
          </a:prstGeom>
          <a:noFill/>
        </p:spPr>
      </p:pic>
      <p:sp>
        <p:nvSpPr>
          <p:cNvPr id="12" name="Arrow: Right 11">
            <a:extLst>
              <a:ext uri="{FF2B5EF4-FFF2-40B4-BE49-F238E27FC236}">
                <a16:creationId xmlns:a16="http://schemas.microsoft.com/office/drawing/2014/main" id="{52185CCB-7C50-EB23-E0B6-BB1BD0BF2938}"/>
              </a:ext>
            </a:extLst>
          </p:cNvPr>
          <p:cNvSpPr/>
          <p:nvPr/>
        </p:nvSpPr>
        <p:spPr>
          <a:xfrm>
            <a:off x="6595856" y="3708812"/>
            <a:ext cx="694975" cy="3531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able 12">
            <a:extLst>
              <a:ext uri="{FF2B5EF4-FFF2-40B4-BE49-F238E27FC236}">
                <a16:creationId xmlns:a16="http://schemas.microsoft.com/office/drawing/2014/main" id="{ACDE3B74-B73C-47CC-66B5-4A4C55B9C1ED}"/>
              </a:ext>
            </a:extLst>
          </p:cNvPr>
          <p:cNvGraphicFramePr>
            <a:graphicFrameLocks noGrp="1"/>
          </p:cNvGraphicFramePr>
          <p:nvPr>
            <p:extLst>
              <p:ext uri="{D42A27DB-BD31-4B8C-83A1-F6EECF244321}">
                <p14:modId xmlns:p14="http://schemas.microsoft.com/office/powerpoint/2010/main" val="284819223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Paper selection Method(1/2)</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Paper selection Result(2/2)</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1"/>
        <p:cNvGrpSpPr/>
        <p:nvPr/>
      </p:nvGrpSpPr>
      <p:grpSpPr>
        <a:xfrm>
          <a:off x="0" y="0"/>
          <a:ext cx="0" cy="0"/>
          <a:chOff x="0" y="0"/>
          <a:chExt cx="0" cy="0"/>
        </a:xfrm>
      </p:grpSpPr>
      <p:sp useBgFill="1">
        <p:nvSpPr>
          <p:cNvPr id="119" name="Rectangle 118">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Google Shape;102;p3"/>
          <p:cNvSpPr txBox="1">
            <a:spLocks noGrp="1"/>
          </p:cNvSpPr>
          <p:nvPr>
            <p:ph type="title"/>
          </p:nvPr>
        </p:nvSpPr>
        <p:spPr>
          <a:xfrm>
            <a:off x="139700" y="457200"/>
            <a:ext cx="4834636" cy="1929384"/>
          </a:xfrm>
          <a:prstGeom prst="rect">
            <a:avLst/>
          </a:prstGeom>
        </p:spPr>
        <p:txBody>
          <a:bodyPr spcFirstLastPara="1" vert="horz" lIns="91440" tIns="45720" rIns="91440" bIns="45720" rtlCol="0" anchor="ctr" anchorCtr="0">
            <a:normAutofit/>
          </a:bodyPr>
          <a:lstStyle/>
          <a:p>
            <a:pPr marL="0" lvl="0" indent="0">
              <a:spcBef>
                <a:spcPct val="0"/>
              </a:spcBef>
              <a:spcAft>
                <a:spcPts val="0"/>
              </a:spcAft>
              <a:buClr>
                <a:schemeClr val="dk1"/>
              </a:buClr>
              <a:buSzPts val="4400"/>
            </a:pPr>
            <a:r>
              <a:rPr lang="en-US" sz="4800" kern="1200" dirty="0">
                <a:solidFill>
                  <a:schemeClr val="tx1"/>
                </a:solidFill>
                <a:latin typeface="+mj-lt"/>
                <a:ea typeface="+mj-ea"/>
                <a:cs typeface="+mj-cs"/>
                <a:sym typeface="Calibri"/>
              </a:rPr>
              <a:t>Paper Selection Result (2/2)</a:t>
            </a:r>
            <a:endParaRPr lang="en-US" sz="4800" kern="1200" dirty="0">
              <a:solidFill>
                <a:schemeClr val="tx1"/>
              </a:solidFill>
              <a:latin typeface="+mj-lt"/>
              <a:ea typeface="+mj-ea"/>
              <a:cs typeface="+mj-cs"/>
            </a:endParaRPr>
          </a:p>
        </p:txBody>
      </p:sp>
      <p:sp>
        <p:nvSpPr>
          <p:cNvPr id="121"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02;p3">
            <a:extLst>
              <a:ext uri="{FF2B5EF4-FFF2-40B4-BE49-F238E27FC236}">
                <a16:creationId xmlns:a16="http://schemas.microsoft.com/office/drawing/2014/main" id="{23C1B8BB-7289-D201-5C11-F60EBE03E4EB}"/>
              </a:ext>
            </a:extLst>
          </p:cNvPr>
          <p:cNvSpPr txBox="1">
            <a:spLocks/>
          </p:cNvSpPr>
          <p:nvPr/>
        </p:nvSpPr>
        <p:spPr>
          <a:xfrm>
            <a:off x="5294377" y="457200"/>
            <a:ext cx="6979685" cy="1929384"/>
          </a:xfrm>
          <a:prstGeom prst="rect">
            <a:avLst/>
          </a:prstGeom>
        </p:spPr>
        <p:txBody>
          <a:bodyPr spcFirstLastPara="1" vert="horz" lIns="91440" tIns="45720" rIns="91440" bIns="45720" rtlCol="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indent="-228600">
              <a:spcBef>
                <a:spcPct val="0"/>
              </a:spcBef>
              <a:spcAft>
                <a:spcPts val="600"/>
              </a:spcAft>
              <a:buSzPts val="4400"/>
              <a:buFont typeface="Arial" panose="020B0604020202020204" pitchFamily="34" charset="0"/>
              <a:buChar char="•"/>
            </a:pPr>
            <a:r>
              <a:rPr lang="en-US" sz="1800" kern="1200" dirty="0">
                <a:solidFill>
                  <a:schemeClr val="tx1"/>
                </a:solidFill>
                <a:latin typeface="+mn-lt"/>
                <a:ea typeface="+mn-ea"/>
                <a:cs typeface="+mn-cs"/>
              </a:rPr>
              <a:t>Paper selection results after 2-Pass Review:</a:t>
            </a:r>
          </a:p>
          <a:p>
            <a:pPr>
              <a:spcBef>
                <a:spcPct val="0"/>
              </a:spcBef>
              <a:spcAft>
                <a:spcPts val="600"/>
              </a:spcAft>
              <a:buSzPts val="4400"/>
            </a:pPr>
            <a:r>
              <a:rPr lang="en-US" sz="1600" kern="1200" dirty="0">
                <a:solidFill>
                  <a:schemeClr val="tx1"/>
                </a:solidFill>
                <a:latin typeface="+mn-lt"/>
                <a:ea typeface="+mn-ea"/>
                <a:cs typeface="+mn-cs"/>
              </a:rPr>
              <a:t>1) we remove any article whose title clearly indicates that it is not relevant. </a:t>
            </a:r>
          </a:p>
          <a:p>
            <a:pPr>
              <a:spcBef>
                <a:spcPct val="0"/>
              </a:spcBef>
              <a:spcAft>
                <a:spcPts val="600"/>
              </a:spcAft>
              <a:buSzPts val="4400"/>
            </a:pPr>
            <a:r>
              <a:rPr lang="en-US" sz="1600" kern="1200" dirty="0">
                <a:solidFill>
                  <a:schemeClr val="tx1"/>
                </a:solidFill>
                <a:latin typeface="+mn-lt"/>
                <a:ea typeface="+mn-ea"/>
                <a:cs typeface="+mn-cs"/>
              </a:rPr>
              <a:t>2) we evaluate whether or not to include them by reading the abstract for the remaining articles.</a:t>
            </a:r>
          </a:p>
          <a:p>
            <a:pPr>
              <a:spcBef>
                <a:spcPct val="0"/>
              </a:spcBef>
              <a:spcAft>
                <a:spcPts val="600"/>
              </a:spcAft>
              <a:buSzPts val="4400"/>
            </a:pPr>
            <a:r>
              <a:rPr lang="en-US" sz="1600" kern="1200" dirty="0">
                <a:solidFill>
                  <a:schemeClr val="tx1"/>
                </a:solidFill>
                <a:latin typeface="+mn-lt"/>
                <a:ea typeface="+mn-ea"/>
                <a:cs typeface="+mn-cs"/>
              </a:rPr>
              <a:t>3) we convene a meeting and resolve the difference via a discussion.</a:t>
            </a:r>
          </a:p>
        </p:txBody>
      </p:sp>
      <p:pic>
        <p:nvPicPr>
          <p:cNvPr id="9" name="Google Shape;106;p3">
            <a:extLst>
              <a:ext uri="{FF2B5EF4-FFF2-40B4-BE49-F238E27FC236}">
                <a16:creationId xmlns:a16="http://schemas.microsoft.com/office/drawing/2014/main" id="{2008E61A-3079-EDAE-3BA8-96745946F4D2}"/>
              </a:ext>
            </a:extLst>
          </p:cNvPr>
          <p:cNvPicPr preferRelativeResize="0"/>
          <p:nvPr/>
        </p:nvPicPr>
        <p:blipFill rotWithShape="1">
          <a:blip r:embed="rId3"/>
          <a:stretch/>
        </p:blipFill>
        <p:spPr>
          <a:xfrm>
            <a:off x="466344" y="3369991"/>
            <a:ext cx="5468112" cy="2077882"/>
          </a:xfrm>
          <a:prstGeom prst="rect">
            <a:avLst/>
          </a:prstGeom>
          <a:noFill/>
        </p:spPr>
      </p:pic>
      <p:sp>
        <p:nvSpPr>
          <p:cNvPr id="103" name="Google Shape;103;p3"/>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9</a:t>
            </a:fld>
            <a:endParaRPr lang="en-US" kern="1200">
              <a:solidFill>
                <a:schemeClr val="tx1">
                  <a:tint val="75000"/>
                </a:schemeClr>
              </a:solidFill>
              <a:latin typeface="+mn-lt"/>
              <a:ea typeface="+mn-ea"/>
              <a:cs typeface="+mn-cs"/>
            </a:endParaRPr>
          </a:p>
        </p:txBody>
      </p:sp>
      <p:graphicFrame>
        <p:nvGraphicFramePr>
          <p:cNvPr id="10" name="Table 4">
            <a:extLst>
              <a:ext uri="{FF2B5EF4-FFF2-40B4-BE49-F238E27FC236}">
                <a16:creationId xmlns:a16="http://schemas.microsoft.com/office/drawing/2014/main" id="{259193B1-F866-9EF9-D0D7-3C070E65C4C1}"/>
              </a:ext>
            </a:extLst>
          </p:cNvPr>
          <p:cNvGraphicFramePr>
            <a:graphicFrameLocks noGrp="1"/>
          </p:cNvGraphicFramePr>
          <p:nvPr>
            <p:extLst>
              <p:ext uri="{D42A27DB-BD31-4B8C-83A1-F6EECF244321}">
                <p14:modId xmlns:p14="http://schemas.microsoft.com/office/powerpoint/2010/main" val="898416844"/>
              </p:ext>
            </p:extLst>
          </p:nvPr>
        </p:nvGraphicFramePr>
        <p:xfrm>
          <a:off x="6254496" y="3557071"/>
          <a:ext cx="5468115" cy="1912315"/>
        </p:xfrm>
        <a:graphic>
          <a:graphicData uri="http://schemas.openxmlformats.org/drawingml/2006/table">
            <a:tbl>
              <a:tblPr firstRow="1" bandRow="1">
                <a:tableStyleId>{5C22544A-7EE6-4342-B048-85BDC9FD1C3A}</a:tableStyleId>
              </a:tblPr>
              <a:tblGrid>
                <a:gridCol w="900511">
                  <a:extLst>
                    <a:ext uri="{9D8B030D-6E8A-4147-A177-3AD203B41FA5}">
                      <a16:colId xmlns:a16="http://schemas.microsoft.com/office/drawing/2014/main" val="2818959672"/>
                    </a:ext>
                  </a:extLst>
                </a:gridCol>
                <a:gridCol w="823932">
                  <a:extLst>
                    <a:ext uri="{9D8B030D-6E8A-4147-A177-3AD203B41FA5}">
                      <a16:colId xmlns:a16="http://schemas.microsoft.com/office/drawing/2014/main" val="3031477272"/>
                    </a:ext>
                  </a:extLst>
                </a:gridCol>
                <a:gridCol w="1576403">
                  <a:extLst>
                    <a:ext uri="{9D8B030D-6E8A-4147-A177-3AD203B41FA5}">
                      <a16:colId xmlns:a16="http://schemas.microsoft.com/office/drawing/2014/main" val="3289184543"/>
                    </a:ext>
                  </a:extLst>
                </a:gridCol>
                <a:gridCol w="1488171">
                  <a:extLst>
                    <a:ext uri="{9D8B030D-6E8A-4147-A177-3AD203B41FA5}">
                      <a16:colId xmlns:a16="http://schemas.microsoft.com/office/drawing/2014/main" val="1797596180"/>
                    </a:ext>
                  </a:extLst>
                </a:gridCol>
                <a:gridCol w="679098">
                  <a:extLst>
                    <a:ext uri="{9D8B030D-6E8A-4147-A177-3AD203B41FA5}">
                      <a16:colId xmlns:a16="http://schemas.microsoft.com/office/drawing/2014/main" val="1075675055"/>
                    </a:ext>
                  </a:extLst>
                </a:gridCol>
              </a:tblGrid>
              <a:tr h="1371267">
                <a:tc>
                  <a:txBody>
                    <a:bodyPr/>
                    <a:lstStyle/>
                    <a:p>
                      <a:r>
                        <a:rPr lang="en-US" sz="1400"/>
                        <a:t># papers from libraries before Nov 2021</a:t>
                      </a:r>
                    </a:p>
                  </a:txBody>
                  <a:tcPr marL="86339" marR="86339" marT="43169" marB="43169"/>
                </a:tc>
                <a:tc>
                  <a:txBody>
                    <a:bodyPr/>
                    <a:lstStyle/>
                    <a:p>
                      <a:r>
                        <a:rPr lang="en-US" sz="1400"/>
                        <a:t># papers since Dec 2021</a:t>
                      </a:r>
                    </a:p>
                  </a:txBody>
                  <a:tcPr marL="86339" marR="86339" marT="43169" marB="43169"/>
                </a:tc>
                <a:tc>
                  <a:txBody>
                    <a:bodyPr/>
                    <a:lstStyle/>
                    <a:p>
                      <a:r>
                        <a:rPr lang="en-US" sz="1400"/>
                        <a:t>Snowballing before Nov 2021</a:t>
                      </a:r>
                    </a:p>
                  </a:txBody>
                  <a:tcPr marL="86339" marR="86339" marT="43169" marB="43169"/>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a:t>Snowballing since Dec 2021</a:t>
                      </a:r>
                    </a:p>
                    <a:p>
                      <a:endParaRPr lang="en-US" sz="1400"/>
                    </a:p>
                  </a:txBody>
                  <a:tcPr marL="86339" marR="86339" marT="43169" marB="43169"/>
                </a:tc>
                <a:tc>
                  <a:txBody>
                    <a:bodyPr/>
                    <a:lstStyle/>
                    <a:p>
                      <a:r>
                        <a:rPr lang="en-US" sz="1400"/>
                        <a:t># Total</a:t>
                      </a:r>
                    </a:p>
                  </a:txBody>
                  <a:tcPr marL="86339" marR="86339" marT="43169" marB="43169"/>
                </a:tc>
                <a:extLst>
                  <a:ext uri="{0D108BD9-81ED-4DB2-BD59-A6C34878D82A}">
                    <a16:rowId xmlns:a16="http://schemas.microsoft.com/office/drawing/2014/main" val="2575496992"/>
                  </a:ext>
                </a:extLst>
              </a:tr>
              <a:tr h="332457">
                <a:tc>
                  <a:txBody>
                    <a:bodyPr/>
                    <a:lstStyle/>
                    <a:p>
                      <a:r>
                        <a:rPr lang="en-US" sz="1400"/>
                        <a:t>55</a:t>
                      </a:r>
                    </a:p>
                  </a:txBody>
                  <a:tcPr marL="86339" marR="86339" marT="43169" marB="43169"/>
                </a:tc>
                <a:tc>
                  <a:txBody>
                    <a:bodyPr/>
                    <a:lstStyle/>
                    <a:p>
                      <a:r>
                        <a:rPr lang="en-US" sz="1400"/>
                        <a:t>19</a:t>
                      </a:r>
                    </a:p>
                  </a:txBody>
                  <a:tcPr marL="86339" marR="86339" marT="43169" marB="43169"/>
                </a:tc>
                <a:tc>
                  <a:txBody>
                    <a:bodyPr/>
                    <a:lstStyle/>
                    <a:p>
                      <a:r>
                        <a:rPr lang="en-US" sz="1400" b="0" dirty="0"/>
                        <a:t>12</a:t>
                      </a:r>
                    </a:p>
                  </a:txBody>
                  <a:tcPr marL="86339" marR="86339" marT="43169" marB="43169"/>
                </a:tc>
                <a:tc>
                  <a:txBody>
                    <a:bodyPr/>
                    <a:lstStyle/>
                    <a:p>
                      <a:r>
                        <a:rPr lang="en-US" sz="1400" b="0" dirty="0"/>
                        <a:t>2</a:t>
                      </a:r>
                    </a:p>
                  </a:txBody>
                  <a:tcPr marL="86339" marR="86339" marT="43169" marB="43169"/>
                </a:tc>
                <a:tc>
                  <a:txBody>
                    <a:bodyPr/>
                    <a:lstStyle/>
                    <a:p>
                      <a:r>
                        <a:rPr lang="en-US" sz="1400" dirty="0"/>
                        <a:t>88</a:t>
                      </a:r>
                    </a:p>
                  </a:txBody>
                  <a:tcPr marL="86339" marR="86339" marT="43169" marB="43169"/>
                </a:tc>
                <a:extLst>
                  <a:ext uri="{0D108BD9-81ED-4DB2-BD59-A6C34878D82A}">
                    <a16:rowId xmlns:a16="http://schemas.microsoft.com/office/drawing/2014/main" val="2388052114"/>
                  </a:ext>
                </a:extLst>
              </a:tr>
            </a:tbl>
          </a:graphicData>
        </a:graphic>
      </p:graphicFrame>
      <p:graphicFrame>
        <p:nvGraphicFramePr>
          <p:cNvPr id="11" name="Table 10">
            <a:extLst>
              <a:ext uri="{FF2B5EF4-FFF2-40B4-BE49-F238E27FC236}">
                <a16:creationId xmlns:a16="http://schemas.microsoft.com/office/drawing/2014/main" id="{5C1029CB-B7B6-C812-C540-F063E25024F1}"/>
              </a:ext>
            </a:extLst>
          </p:cNvPr>
          <p:cNvGraphicFramePr>
            <a:graphicFrameLocks noGrp="1"/>
          </p:cNvGraphicFramePr>
          <p:nvPr>
            <p:extLst>
              <p:ext uri="{D42A27DB-BD31-4B8C-83A1-F6EECF244321}">
                <p14:modId xmlns:p14="http://schemas.microsoft.com/office/powerpoint/2010/main" val="3287181974"/>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Paper selection Result(2/2)</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Publication Trend</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42771766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3" name="Picture 2" descr="A graph of a number of people&#10;&#10;Description automatically generated">
            <a:extLst>
              <a:ext uri="{FF2B5EF4-FFF2-40B4-BE49-F238E27FC236}">
                <a16:creationId xmlns:a16="http://schemas.microsoft.com/office/drawing/2014/main" id="{EE08D9A2-E1CF-AF80-37FC-9FA9022686A1}"/>
              </a:ext>
            </a:extLst>
          </p:cNvPr>
          <p:cNvPicPr>
            <a:picLocks noChangeAspect="1"/>
          </p:cNvPicPr>
          <p:nvPr/>
        </p:nvPicPr>
        <p:blipFill>
          <a:blip r:embed="rId3"/>
          <a:stretch>
            <a:fillRect/>
          </a:stretch>
        </p:blipFill>
        <p:spPr>
          <a:xfrm>
            <a:off x="1343603" y="1502124"/>
            <a:ext cx="8638597" cy="4164073"/>
          </a:xfrm>
          <a:prstGeom prst="rect">
            <a:avLst/>
          </a:prstGeom>
        </p:spPr>
      </p:pic>
      <p:sp>
        <p:nvSpPr>
          <p:cNvPr id="102" name="Google Shape;102;p3"/>
          <p:cNvSpPr txBox="1">
            <a:spLocks noGrp="1"/>
          </p:cNvSpPr>
          <p:nvPr>
            <p:ph type="title"/>
          </p:nvPr>
        </p:nvSpPr>
        <p:spPr>
          <a:xfrm>
            <a:off x="200549" y="502819"/>
            <a:ext cx="10515600" cy="83244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Publication Trend</a:t>
            </a:r>
            <a:endParaRPr dirty="0"/>
          </a:p>
        </p:txBody>
      </p:sp>
      <p:sp>
        <p:nvSpPr>
          <p:cNvPr id="103" name="Google Shape;103;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
        <p:nvSpPr>
          <p:cNvPr id="4" name="TextBox 3">
            <a:extLst>
              <a:ext uri="{FF2B5EF4-FFF2-40B4-BE49-F238E27FC236}">
                <a16:creationId xmlns:a16="http://schemas.microsoft.com/office/drawing/2014/main" id="{9B377DFF-4115-E664-3309-E711C21FB7EA}"/>
              </a:ext>
            </a:extLst>
          </p:cNvPr>
          <p:cNvSpPr txBox="1"/>
          <p:nvPr/>
        </p:nvSpPr>
        <p:spPr>
          <a:xfrm>
            <a:off x="3345684" y="5999924"/>
            <a:ext cx="5667022" cy="276999"/>
          </a:xfrm>
          <a:prstGeom prst="rect">
            <a:avLst/>
          </a:prstGeom>
          <a:noFill/>
        </p:spPr>
        <p:txBody>
          <a:bodyPr wrap="square" rtlCol="0">
            <a:spAutoFit/>
          </a:bodyPr>
          <a:lstStyle/>
          <a:p>
            <a:r>
              <a:rPr lang="en-US" sz="1200" dirty="0"/>
              <a:t>The number of selected JIT-SDP papers over publication year</a:t>
            </a:r>
          </a:p>
        </p:txBody>
      </p:sp>
      <p:graphicFrame>
        <p:nvGraphicFramePr>
          <p:cNvPr id="6" name="Table 6">
            <a:extLst>
              <a:ext uri="{FF2B5EF4-FFF2-40B4-BE49-F238E27FC236}">
                <a16:creationId xmlns:a16="http://schemas.microsoft.com/office/drawing/2014/main" id="{9721108E-EEFD-8E33-4AA6-914A860C2051}"/>
              </a:ext>
            </a:extLst>
          </p:cNvPr>
          <p:cNvGraphicFramePr>
            <a:graphicFrameLocks noGrp="1"/>
          </p:cNvGraphicFramePr>
          <p:nvPr>
            <p:extLst>
              <p:ext uri="{D42A27DB-BD31-4B8C-83A1-F6EECF244321}">
                <p14:modId xmlns:p14="http://schemas.microsoft.com/office/powerpoint/2010/main" val="99510663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Publication Trend</a:t>
                      </a:r>
                    </a:p>
                  </a:txBody>
                  <a:tcPr>
                    <a:solidFill>
                      <a:srgbClr val="7030A0"/>
                    </a:solidFill>
                  </a:tcPr>
                </a:tc>
                <a:tc>
                  <a:txBody>
                    <a:bodyPr/>
                    <a:lstStyle/>
                    <a:p>
                      <a:pPr algn="ctr"/>
                      <a:r>
                        <a:rPr lang="en-US" dirty="0"/>
                        <a:t>Flow of JIT-SDP</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461952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6"/>
          <p:cNvSpPr txBox="1">
            <a:spLocks noGrp="1"/>
          </p:cNvSpPr>
          <p:nvPr>
            <p:ph type="title"/>
          </p:nvPr>
        </p:nvSpPr>
        <p:spPr>
          <a:xfrm>
            <a:off x="0" y="462182"/>
            <a:ext cx="10515600" cy="86338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 of JIT-SDP</a:t>
            </a:r>
            <a:endParaRPr lang="en-US" dirty="0"/>
          </a:p>
        </p:txBody>
      </p:sp>
      <p:sp>
        <p:nvSpPr>
          <p:cNvPr id="130" name="Google Shape;13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dirty="0"/>
          </a:p>
        </p:txBody>
      </p:sp>
      <p:pic>
        <p:nvPicPr>
          <p:cNvPr id="131" name="Google Shape;131;p6" descr="A diagram of a software process&#10;&#10;Description automatically generated"/>
          <p:cNvPicPr preferRelativeResize="0"/>
          <p:nvPr/>
        </p:nvPicPr>
        <p:blipFill rotWithShape="1">
          <a:blip r:embed="rId3">
            <a:alphaModFix/>
          </a:blip>
          <a:srcRect/>
          <a:stretch/>
        </p:blipFill>
        <p:spPr>
          <a:xfrm>
            <a:off x="730624" y="1325563"/>
            <a:ext cx="8933329" cy="2751769"/>
          </a:xfrm>
          <a:prstGeom prst="rect">
            <a:avLst/>
          </a:prstGeom>
          <a:noFill/>
          <a:ln>
            <a:noFill/>
          </a:ln>
        </p:spPr>
      </p:pic>
      <p:graphicFrame>
        <p:nvGraphicFramePr>
          <p:cNvPr id="133" name="TextBox 1">
            <a:extLst>
              <a:ext uri="{FF2B5EF4-FFF2-40B4-BE49-F238E27FC236}">
                <a16:creationId xmlns:a16="http://schemas.microsoft.com/office/drawing/2014/main" id="{B42EA34E-D983-0892-A70D-542F5CA49161}"/>
              </a:ext>
            </a:extLst>
          </p:cNvPr>
          <p:cNvGraphicFramePr/>
          <p:nvPr>
            <p:extLst>
              <p:ext uri="{D42A27DB-BD31-4B8C-83A1-F6EECF244321}">
                <p14:modId xmlns:p14="http://schemas.microsoft.com/office/powerpoint/2010/main" val="1737302682"/>
              </p:ext>
            </p:extLst>
          </p:nvPr>
        </p:nvGraphicFramePr>
        <p:xfrm>
          <a:off x="318247" y="4339678"/>
          <a:ext cx="11398623" cy="175432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4" name="Table 6">
            <a:extLst>
              <a:ext uri="{FF2B5EF4-FFF2-40B4-BE49-F238E27FC236}">
                <a16:creationId xmlns:a16="http://schemas.microsoft.com/office/drawing/2014/main" id="{54519975-94D4-9BA4-2A27-CD827FFC1F9A}"/>
              </a:ext>
            </a:extLst>
          </p:cNvPr>
          <p:cNvGraphicFramePr>
            <a:graphicFrameLocks noGrp="1"/>
          </p:cNvGraphicFramePr>
          <p:nvPr>
            <p:extLst>
              <p:ext uri="{D42A27DB-BD31-4B8C-83A1-F6EECF244321}">
                <p14:modId xmlns:p14="http://schemas.microsoft.com/office/powerpoint/2010/main" val="387126469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dirty="0"/>
                        <a:t>Flow of JIT-SDP</a:t>
                      </a:r>
                    </a:p>
                  </a:txBody>
                  <a:tcPr>
                    <a:solidFill>
                      <a:srgbClr val="7030A0"/>
                    </a:solidFill>
                  </a:tcPr>
                </a:tc>
                <a:tc>
                  <a:txBody>
                    <a:bodyPr/>
                    <a:lstStyle/>
                    <a:p>
                      <a:pPr algn="ctr"/>
                      <a:r>
                        <a:rPr lang="en-US" dirty="0"/>
                        <a:t>Overview</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786914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228600" indent="-228600">
              <a:buSzPct val="100000"/>
            </a:pPr>
            <a:r>
              <a:rPr lang="en-US" sz="2900" u="sng" dirty="0">
                <a:solidFill>
                  <a:srgbClr val="0070C0"/>
                </a:solidFill>
                <a:hlinkClick r:id="rId3" action="ppaction://hlinksldjump">
                  <a:extLst>
                    <a:ext uri="{A12FA001-AC4F-418D-AE19-62706E023703}">
                      <ahyp:hlinkClr xmlns:ahyp="http://schemas.microsoft.com/office/drawing/2018/hyperlinkcolor" val="tx"/>
                    </a:ext>
                  </a:extLst>
                </a:hlinkClick>
              </a:rPr>
              <a:t>Introduction</a:t>
            </a:r>
            <a:r>
              <a:rPr lang="en-US" sz="2900" u="sng" dirty="0">
                <a:solidFill>
                  <a:srgbClr val="0070C0"/>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b="1" u="sng" dirty="0">
                <a:solidFill>
                  <a:srgbClr val="FF0000"/>
                </a:solidFill>
                <a:hlinkClick r:id="rId6" action="ppaction://hlinksldjump">
                  <a:extLst>
                    <a:ext uri="{A12FA001-AC4F-418D-AE19-62706E023703}">
                      <ahyp:hlinkClr xmlns:ahyp="http://schemas.microsoft.com/office/drawing/2018/hyperlinkcolor" val="tx"/>
                    </a:ext>
                  </a:extLst>
                </a:hlinkClick>
              </a:rPr>
              <a:t>Data Sources</a:t>
            </a:r>
            <a:endParaRPr b="1" u="sng" dirty="0">
              <a:solidFill>
                <a:srgbClr val="FF0000"/>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aphicFrame>
        <p:nvGraphicFramePr>
          <p:cNvPr id="2" name="Table 6">
            <a:extLst>
              <a:ext uri="{FF2B5EF4-FFF2-40B4-BE49-F238E27FC236}">
                <a16:creationId xmlns:a16="http://schemas.microsoft.com/office/drawing/2014/main" id="{0A97BCC8-8219-A2AA-828E-B684A3B869C7}"/>
              </a:ext>
            </a:extLst>
          </p:cNvPr>
          <p:cNvGraphicFramePr>
            <a:graphicFrameLocks noGrp="1"/>
          </p:cNvGraphicFramePr>
          <p:nvPr>
            <p:extLst>
              <p:ext uri="{D42A27DB-BD31-4B8C-83A1-F6EECF244321}">
                <p14:modId xmlns:p14="http://schemas.microsoft.com/office/powerpoint/2010/main" val="269184433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dirty="0"/>
                        <a:t>Overview</a:t>
                      </a:r>
                    </a:p>
                  </a:txBody>
                  <a:tcPr>
                    <a:solidFill>
                      <a:srgbClr val="7030A0"/>
                    </a:solidFill>
                  </a:tcPr>
                </a:tc>
                <a:tc>
                  <a:txBody>
                    <a:bodyPr/>
                    <a:lstStyle/>
                    <a:p>
                      <a:pPr algn="ctr"/>
                      <a:r>
                        <a:rPr lang="en-US" dirty="0"/>
                        <a:t>Data Source</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98343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5"/>
        <p:cNvGrpSpPr/>
        <p:nvPr/>
      </p:nvGrpSpPr>
      <p:grpSpPr>
        <a:xfrm>
          <a:off x="0" y="0"/>
          <a:ext cx="0" cy="0"/>
          <a:chOff x="0" y="0"/>
          <a:chExt cx="0" cy="0"/>
        </a:xfrm>
      </p:grpSpPr>
      <p:sp useBgFill="1">
        <p:nvSpPr>
          <p:cNvPr id="143" name="Rectangle 142">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oogle Shape;137;p7"/>
          <p:cNvSpPr txBox="1"/>
          <p:nvPr/>
        </p:nvSpPr>
        <p:spPr>
          <a:xfrm>
            <a:off x="638881" y="417576"/>
            <a:ext cx="10909640" cy="1249394"/>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chemeClr val="dk1"/>
              </a:buClr>
              <a:buSzPts val="4400"/>
            </a:pPr>
            <a:r>
              <a:rPr lang="en-US" sz="6600" kern="1200" dirty="0">
                <a:solidFill>
                  <a:schemeClr val="tx1"/>
                </a:solidFill>
                <a:latin typeface="+mj-lt"/>
                <a:ea typeface="+mj-ea"/>
                <a:cs typeface="+mj-cs"/>
                <a:sym typeface="Calibri"/>
              </a:rPr>
              <a:t>Data Sources</a:t>
            </a:r>
          </a:p>
        </p:txBody>
      </p:sp>
      <p:sp>
        <p:nvSpPr>
          <p:cNvPr id="145"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8" name="Google Shape;138;p7"/>
          <p:cNvPicPr preferRelativeResize="0"/>
          <p:nvPr/>
        </p:nvPicPr>
        <p:blipFill rotWithShape="1">
          <a:blip r:embed="rId3"/>
          <a:stretch/>
        </p:blipFill>
        <p:spPr>
          <a:xfrm>
            <a:off x="820428" y="2633472"/>
            <a:ext cx="10548096" cy="3586353"/>
          </a:xfrm>
          <a:prstGeom prst="rect">
            <a:avLst/>
          </a:prstGeom>
          <a:noFill/>
        </p:spPr>
      </p:pic>
      <p:sp>
        <p:nvSpPr>
          <p:cNvPr id="136" name="Google Shape;136;p7"/>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13</a:t>
            </a:fld>
            <a:endParaRPr lang="en-US" kern="1200">
              <a:solidFill>
                <a:schemeClr val="tx1">
                  <a:tint val="75000"/>
                </a:schemeClr>
              </a:solidFill>
              <a:latin typeface="+mn-lt"/>
              <a:ea typeface="+mn-ea"/>
              <a:cs typeface="+mn-cs"/>
            </a:endParaRPr>
          </a:p>
        </p:txBody>
      </p:sp>
      <p:sp>
        <p:nvSpPr>
          <p:cNvPr id="4" name="Rectangle: Rounded Corners 3">
            <a:extLst>
              <a:ext uri="{FF2B5EF4-FFF2-40B4-BE49-F238E27FC236}">
                <a16:creationId xmlns:a16="http://schemas.microsoft.com/office/drawing/2014/main" id="{9E3C901C-9B30-41E6-CD26-24605C923D3E}"/>
              </a:ext>
            </a:extLst>
          </p:cNvPr>
          <p:cNvSpPr/>
          <p:nvPr/>
        </p:nvSpPr>
        <p:spPr>
          <a:xfrm>
            <a:off x="820427" y="4947138"/>
            <a:ext cx="2837173" cy="703385"/>
          </a:xfrm>
          <a:prstGeom prst="roundRect">
            <a:avLst/>
          </a:prstGeom>
          <a:solidFill>
            <a:srgbClr val="FF0000">
              <a:alpha val="37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5" name="Table 6">
            <a:extLst>
              <a:ext uri="{FF2B5EF4-FFF2-40B4-BE49-F238E27FC236}">
                <a16:creationId xmlns:a16="http://schemas.microsoft.com/office/drawing/2014/main" id="{B930338D-7291-FBC9-827C-00C0A2AE4E65}"/>
              </a:ext>
            </a:extLst>
          </p:cNvPr>
          <p:cNvGraphicFramePr>
            <a:graphicFrameLocks noGrp="1"/>
          </p:cNvGraphicFramePr>
          <p:nvPr>
            <p:extLst>
              <p:ext uri="{D42A27DB-BD31-4B8C-83A1-F6EECF244321}">
                <p14:modId xmlns:p14="http://schemas.microsoft.com/office/powerpoint/2010/main" val="1934905422"/>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Data Source</a:t>
                      </a:r>
                    </a:p>
                  </a:txBody>
                  <a:tcPr>
                    <a:solidFill>
                      <a:srgbClr val="7030A0"/>
                    </a:solidFill>
                  </a:tcPr>
                </a:tc>
                <a:tc>
                  <a:txBody>
                    <a:bodyPr/>
                    <a:lstStyle/>
                    <a:p>
                      <a:pPr algn="ctr"/>
                      <a:r>
                        <a:rPr lang="en-US" dirty="0"/>
                        <a:t>Changeset Definition</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0"/>
        <p:cNvGrpSpPr/>
        <p:nvPr/>
      </p:nvGrpSpPr>
      <p:grpSpPr>
        <a:xfrm>
          <a:off x="0" y="0"/>
          <a:ext cx="0" cy="0"/>
          <a:chOff x="0" y="0"/>
          <a:chExt cx="0" cy="0"/>
        </a:xfrm>
      </p:grpSpPr>
      <p:sp useBgFill="1">
        <p:nvSpPr>
          <p:cNvPr id="10249" name="Rectangle 10248">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251" name="Rectangle 10250">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Google Shape;152;p9"/>
          <p:cNvSpPr txBox="1"/>
          <p:nvPr/>
        </p:nvSpPr>
        <p:spPr>
          <a:xfrm>
            <a:off x="1051559" y="586822"/>
            <a:ext cx="11224720" cy="1645920"/>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400"/>
            </a:pPr>
            <a:r>
              <a:rPr lang="en-US" sz="2500" kern="1200" dirty="0">
                <a:solidFill>
                  <a:schemeClr val="tx1"/>
                </a:solidFill>
                <a:latin typeface="+mj-lt"/>
                <a:ea typeface="+mj-ea"/>
                <a:cs typeface="+mj-cs"/>
                <a:sym typeface="Calibri"/>
              </a:rPr>
              <a:t>        Data Sources              Software Change History and Changeset(1/2)</a:t>
            </a:r>
          </a:p>
        </p:txBody>
      </p:sp>
      <p:sp>
        <p:nvSpPr>
          <p:cNvPr id="10253" name="Rectangle 10252">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0255" name="Rectangle 10254">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11412FA-2744-7399-E1A9-BD9E409F4DEE}"/>
              </a:ext>
            </a:extLst>
          </p:cNvPr>
          <p:cNvSpPr txBox="1"/>
          <p:nvPr/>
        </p:nvSpPr>
        <p:spPr>
          <a:xfrm>
            <a:off x="490408" y="2833916"/>
            <a:ext cx="5140809" cy="3148351"/>
          </a:xfrm>
          <a:prstGeom prst="rect">
            <a:avLst/>
          </a:prstGeom>
        </p:spPr>
        <p:txBody>
          <a:bodyPr vert="horz" lIns="91440" tIns="45720" rIns="91440" bIns="45720" rtlCol="0" anchor="ctr">
            <a:noAutofit/>
          </a:bodyPr>
          <a:lstStyle/>
          <a:p>
            <a:pPr>
              <a:lnSpc>
                <a:spcPct val="90000"/>
              </a:lnSpc>
              <a:spcAft>
                <a:spcPts val="600"/>
              </a:spcAft>
            </a:pPr>
            <a:r>
              <a:rPr lang="en-US" sz="1800" b="0" i="0" u="none" strike="noStrike" kern="1200" baseline="0" dirty="0">
                <a:solidFill>
                  <a:schemeClr val="tx1"/>
                </a:solidFill>
                <a:latin typeface="+mn-lt"/>
                <a:ea typeface="+mn-ea"/>
                <a:cs typeface="+mn-cs"/>
              </a:rPr>
              <a:t>Developers typically record all software changes as commits to a Source Code Management (SCM) system or a Version Control System (VCS).</a:t>
            </a:r>
          </a:p>
          <a:p>
            <a:pPr>
              <a:lnSpc>
                <a:spcPct val="90000"/>
              </a:lnSpc>
              <a:spcAft>
                <a:spcPts val="600"/>
              </a:spcAft>
            </a:pPr>
            <a:endParaRPr lang="en-US" sz="1800" b="0" i="0" u="none" strike="noStrike" kern="1200" baseline="0" dirty="0">
              <a:solidFill>
                <a:schemeClr val="tx1"/>
              </a:solidFill>
              <a:latin typeface="+mn-lt"/>
              <a:ea typeface="+mn-ea"/>
              <a:cs typeface="+mn-cs"/>
            </a:endParaRPr>
          </a:p>
          <a:p>
            <a:pPr>
              <a:lnSpc>
                <a:spcPct val="90000"/>
              </a:lnSpc>
              <a:spcAft>
                <a:spcPts val="600"/>
              </a:spcAft>
            </a:pPr>
            <a:r>
              <a:rPr lang="en-US" sz="1800" b="1" i="0" u="none" strike="noStrike" kern="1200" baseline="0" dirty="0">
                <a:solidFill>
                  <a:schemeClr val="tx1"/>
                </a:solidFill>
                <a:latin typeface="+mn-lt"/>
                <a:ea typeface="+mn-ea"/>
                <a:cs typeface="+mn-cs"/>
              </a:rPr>
              <a:t>A software change </a:t>
            </a:r>
            <a:r>
              <a:rPr lang="en-US" sz="1800" b="0" i="0" u="none" strike="noStrike" kern="1200" baseline="0" dirty="0">
                <a:solidFill>
                  <a:schemeClr val="tx1"/>
                </a:solidFill>
                <a:latin typeface="+mn-lt"/>
                <a:ea typeface="+mn-ea"/>
                <a:cs typeface="+mn-cs"/>
              </a:rPr>
              <a:t>(i.e., changeset) is the difference between two revisions of the software code during the development process regard to the SCM.</a:t>
            </a:r>
            <a:endParaRPr lang="en-US" sz="1800" kern="1200" dirty="0">
              <a:solidFill>
                <a:schemeClr val="tx1"/>
              </a:solidFill>
              <a:latin typeface="+mn-lt"/>
              <a:ea typeface="+mn-ea"/>
              <a:cs typeface="+mn-cs"/>
            </a:endParaRPr>
          </a:p>
        </p:txBody>
      </p:sp>
      <p:sp>
        <p:nvSpPr>
          <p:cNvPr id="151" name="Google Shape;151;p9"/>
          <p:cNvSpPr txBox="1">
            <a:spLocks noGrp="1"/>
          </p:cNvSpPr>
          <p:nvPr>
            <p:ph type="sldNum" idx="12"/>
          </p:nvPr>
        </p:nvSpPr>
        <p:spPr>
          <a:xfrm>
            <a:off x="8610600" y="6356350"/>
            <a:ext cx="2746248"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smtClean="0">
                <a:solidFill>
                  <a:schemeClr val="tx1">
                    <a:lumMod val="50000"/>
                    <a:lumOff val="50000"/>
                  </a:schemeClr>
                </a:solidFill>
                <a:latin typeface="+mn-lt"/>
                <a:ea typeface="+mn-ea"/>
                <a:cs typeface="+mn-cs"/>
              </a:rPr>
              <a:pPr lvl="0" indent="0">
                <a:spcBef>
                  <a:spcPts val="0"/>
                </a:spcBef>
                <a:spcAft>
                  <a:spcPts val="600"/>
                </a:spcAft>
                <a:buNone/>
              </a:pPr>
              <a:t>14</a:t>
            </a:fld>
            <a:endParaRPr lang="en-US" kern="1200">
              <a:solidFill>
                <a:schemeClr val="tx1">
                  <a:lumMod val="50000"/>
                  <a:lumOff val="50000"/>
                </a:schemeClr>
              </a:solidFill>
              <a:latin typeface="+mn-lt"/>
              <a:ea typeface="+mn-ea"/>
              <a:cs typeface="+mn-cs"/>
            </a:endParaRPr>
          </a:p>
        </p:txBody>
      </p:sp>
      <p:sp>
        <p:nvSpPr>
          <p:cNvPr id="14" name="TextBox 13">
            <a:extLst>
              <a:ext uri="{FF2B5EF4-FFF2-40B4-BE49-F238E27FC236}">
                <a16:creationId xmlns:a16="http://schemas.microsoft.com/office/drawing/2014/main" id="{F2E2EAD9-A354-4B89-489D-014017DB449C}"/>
              </a:ext>
            </a:extLst>
          </p:cNvPr>
          <p:cNvSpPr txBox="1"/>
          <p:nvPr/>
        </p:nvSpPr>
        <p:spPr>
          <a:xfrm>
            <a:off x="6318738" y="3041264"/>
            <a:ext cx="5662247" cy="2308324"/>
          </a:xfrm>
          <a:prstGeom prst="rect">
            <a:avLst/>
          </a:prstGeom>
          <a:noFill/>
        </p:spPr>
        <p:txBody>
          <a:bodyPr wrap="square" rtlCol="0">
            <a:spAutoFit/>
          </a:bodyPr>
          <a:lstStyle/>
          <a:p>
            <a:r>
              <a:rPr lang="en-US" sz="1800" b="0" i="0" u="none" strike="noStrike" kern="1200" baseline="0" dirty="0">
                <a:solidFill>
                  <a:schemeClr val="tx1"/>
                </a:solidFill>
                <a:latin typeface="+mn-lt"/>
                <a:ea typeface="+mn-ea"/>
                <a:cs typeface="+mn-cs"/>
              </a:rPr>
              <a:t>Upon completing a modification to a software project, a developer records the change to a SCM using the commit command, which results a creation of a new revision number in the SCM. We can then define a software change as the difference of two revisions in succession in the SCM, e.g., the output of the git diff command.</a:t>
            </a:r>
          </a:p>
          <a:p>
            <a:endParaRPr lang="en-US" sz="1800" dirty="0"/>
          </a:p>
        </p:txBody>
      </p:sp>
      <p:graphicFrame>
        <p:nvGraphicFramePr>
          <p:cNvPr id="17" name="Table 6">
            <a:extLst>
              <a:ext uri="{FF2B5EF4-FFF2-40B4-BE49-F238E27FC236}">
                <a16:creationId xmlns:a16="http://schemas.microsoft.com/office/drawing/2014/main" id="{2422A7E6-ADC1-30CA-B497-8B4B1AA6B09A}"/>
              </a:ext>
            </a:extLst>
          </p:cNvPr>
          <p:cNvGraphicFramePr>
            <a:graphicFrameLocks noGrp="1"/>
          </p:cNvGraphicFramePr>
          <p:nvPr>
            <p:extLst>
              <p:ext uri="{D42A27DB-BD31-4B8C-83A1-F6EECF244321}">
                <p14:modId xmlns:p14="http://schemas.microsoft.com/office/powerpoint/2010/main" val="1502778992"/>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Changeset Definition</a:t>
                      </a:r>
                    </a:p>
                  </a:txBody>
                  <a:tcPr>
                    <a:solidFill>
                      <a:srgbClr val="7030A0"/>
                    </a:solidFill>
                  </a:tcPr>
                </a:tc>
                <a:tc>
                  <a:txBody>
                    <a:bodyPr/>
                    <a:lstStyle/>
                    <a:p>
                      <a:pPr algn="ctr"/>
                      <a:r>
                        <a:rPr lang="en-US" dirty="0"/>
                        <a:t>Changeset Explanation</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459621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2" name="Google Shape;152;p9"/>
          <p:cNvSpPr txBox="1"/>
          <p:nvPr/>
        </p:nvSpPr>
        <p:spPr>
          <a:xfrm>
            <a:off x="93786" y="867508"/>
            <a:ext cx="6002214" cy="1365234"/>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400"/>
            </a:pPr>
            <a:r>
              <a:rPr lang="en-US" sz="2500" kern="1200" dirty="0">
                <a:solidFill>
                  <a:schemeClr val="tx1"/>
                </a:solidFill>
                <a:latin typeface="+mj-lt"/>
                <a:ea typeface="+mj-ea"/>
                <a:cs typeface="+mj-cs"/>
                <a:sym typeface="Calibri"/>
              </a:rPr>
              <a:t>Data Sources: </a:t>
            </a:r>
          </a:p>
          <a:p>
            <a:pPr marL="0" marR="0" lvl="0" indent="0">
              <a:lnSpc>
                <a:spcPct val="90000"/>
              </a:lnSpc>
              <a:spcBef>
                <a:spcPct val="0"/>
              </a:spcBef>
              <a:spcAft>
                <a:spcPts val="600"/>
              </a:spcAft>
              <a:buClr>
                <a:schemeClr val="dk1"/>
              </a:buClr>
              <a:buSzPts val="4400"/>
            </a:pPr>
            <a:r>
              <a:rPr lang="en-US" sz="2500" kern="1200" dirty="0">
                <a:solidFill>
                  <a:schemeClr val="tx1"/>
                </a:solidFill>
                <a:latin typeface="+mj-lt"/>
                <a:ea typeface="+mj-ea"/>
                <a:cs typeface="+mj-cs"/>
                <a:sym typeface="Calibri"/>
              </a:rPr>
              <a:t>Software Change History and Changeset(2/2)</a:t>
            </a:r>
          </a:p>
        </p:txBody>
      </p:sp>
      <p:sp>
        <p:nvSpPr>
          <p:cNvPr id="8" name="TextBox 7">
            <a:extLst>
              <a:ext uri="{FF2B5EF4-FFF2-40B4-BE49-F238E27FC236}">
                <a16:creationId xmlns:a16="http://schemas.microsoft.com/office/drawing/2014/main" id="{711412FA-2744-7399-E1A9-BD9E409F4DEE}"/>
              </a:ext>
            </a:extLst>
          </p:cNvPr>
          <p:cNvSpPr txBox="1"/>
          <p:nvPr/>
        </p:nvSpPr>
        <p:spPr>
          <a:xfrm>
            <a:off x="6499958" y="710912"/>
            <a:ext cx="4984202" cy="1678425"/>
          </a:xfrm>
          <a:prstGeom prst="rect">
            <a:avLst/>
          </a:prstGeom>
        </p:spPr>
        <p:txBody>
          <a:bodyPr vert="horz" lIns="91440" tIns="45720" rIns="91440" bIns="45720" rtlCol="0" anchor="ctr">
            <a:noAutofit/>
          </a:bodyPr>
          <a:lstStyle/>
          <a:p>
            <a:pPr>
              <a:lnSpc>
                <a:spcPct val="90000"/>
              </a:lnSpc>
              <a:spcAft>
                <a:spcPts val="600"/>
              </a:spcAft>
            </a:pPr>
            <a:r>
              <a:rPr lang="en-US" sz="1600" b="1" i="0" u="none" strike="noStrike" kern="1200" baseline="0" dirty="0">
                <a:solidFill>
                  <a:schemeClr val="tx1"/>
                </a:solidFill>
                <a:latin typeface="+mn-lt"/>
                <a:ea typeface="+mn-ea"/>
                <a:cs typeface="+mn-cs"/>
              </a:rPr>
              <a:t>A software change </a:t>
            </a:r>
            <a:r>
              <a:rPr lang="en-US" sz="1600" b="0" i="0" u="none" strike="noStrike" kern="1200" baseline="0" dirty="0">
                <a:solidFill>
                  <a:schemeClr val="tx1"/>
                </a:solidFill>
                <a:latin typeface="+mn-lt"/>
                <a:ea typeface="+mn-ea"/>
                <a:cs typeface="+mn-cs"/>
              </a:rPr>
              <a:t>(i.e., changeset) is the difference between two revisions of the software code during the development process regard to the SCM.</a:t>
            </a:r>
            <a:endParaRPr lang="en-US" sz="1600" kern="1200" dirty="0">
              <a:solidFill>
                <a:schemeClr val="tx1"/>
              </a:solidFill>
              <a:latin typeface="+mn-lt"/>
              <a:ea typeface="+mn-ea"/>
              <a:cs typeface="+mn-cs"/>
            </a:endParaRPr>
          </a:p>
        </p:txBody>
      </p:sp>
      <p:pic>
        <p:nvPicPr>
          <p:cNvPr id="13" name="Picture 12">
            <a:extLst>
              <a:ext uri="{FF2B5EF4-FFF2-40B4-BE49-F238E27FC236}">
                <a16:creationId xmlns:a16="http://schemas.microsoft.com/office/drawing/2014/main" id="{4B4C919E-ED1F-A6CC-945C-53F17C449E54}"/>
              </a:ext>
            </a:extLst>
          </p:cNvPr>
          <p:cNvPicPr>
            <a:picLocks noChangeAspect="1"/>
          </p:cNvPicPr>
          <p:nvPr/>
        </p:nvPicPr>
        <p:blipFill>
          <a:blip r:embed="rId3"/>
          <a:stretch>
            <a:fillRect/>
          </a:stretch>
        </p:blipFill>
        <p:spPr>
          <a:xfrm>
            <a:off x="785105" y="3608868"/>
            <a:ext cx="10142130" cy="2662309"/>
          </a:xfrm>
          <a:prstGeom prst="rect">
            <a:avLst/>
          </a:prstGeom>
        </p:spPr>
      </p:pic>
      <p:pic>
        <p:nvPicPr>
          <p:cNvPr id="10244" name="Picture 4">
            <a:extLst>
              <a:ext uri="{FF2B5EF4-FFF2-40B4-BE49-F238E27FC236}">
                <a16:creationId xmlns:a16="http://schemas.microsoft.com/office/drawing/2014/main" id="{2815CD29-4CE5-F3A0-90D4-88855146AC1E}"/>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006032" y="2159233"/>
            <a:ext cx="5972054" cy="1089899"/>
          </a:xfrm>
          <a:prstGeom prst="rect">
            <a:avLst/>
          </a:prstGeom>
          <a:noFill/>
          <a:extLst>
            <a:ext uri="{909E8E84-426E-40DD-AFC4-6F175D3DCCD1}">
              <a14:hiddenFill xmlns:a14="http://schemas.microsoft.com/office/drawing/2010/main">
                <a:solidFill>
                  <a:srgbClr val="FFFFFF"/>
                </a:solidFill>
              </a14:hiddenFill>
            </a:ext>
          </a:extLst>
        </p:spPr>
      </p:pic>
      <p:sp>
        <p:nvSpPr>
          <p:cNvPr id="151" name="Google Shape;151;p9"/>
          <p:cNvSpPr txBox="1">
            <a:spLocks noGrp="1"/>
          </p:cNvSpPr>
          <p:nvPr>
            <p:ph type="sldNum" idx="12"/>
          </p:nvPr>
        </p:nvSpPr>
        <p:spPr>
          <a:xfrm>
            <a:off x="8610600" y="6356350"/>
            <a:ext cx="2746248"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smtClean="0">
                <a:solidFill>
                  <a:schemeClr val="tx1">
                    <a:lumMod val="50000"/>
                    <a:lumOff val="50000"/>
                  </a:schemeClr>
                </a:solidFill>
                <a:latin typeface="+mn-lt"/>
                <a:ea typeface="+mn-ea"/>
                <a:cs typeface="+mn-cs"/>
              </a:rPr>
              <a:pPr lvl="0" indent="0">
                <a:spcBef>
                  <a:spcPts val="0"/>
                </a:spcBef>
                <a:spcAft>
                  <a:spcPts val="600"/>
                </a:spcAft>
                <a:buNone/>
              </a:pPr>
              <a:t>15</a:t>
            </a:fld>
            <a:endParaRPr lang="en-US" kern="1200">
              <a:solidFill>
                <a:schemeClr val="tx1">
                  <a:lumMod val="50000"/>
                  <a:lumOff val="50000"/>
                </a:schemeClr>
              </a:solidFill>
              <a:latin typeface="+mn-lt"/>
              <a:ea typeface="+mn-ea"/>
              <a:cs typeface="+mn-cs"/>
            </a:endParaRPr>
          </a:p>
        </p:txBody>
      </p:sp>
      <p:graphicFrame>
        <p:nvGraphicFramePr>
          <p:cNvPr id="2" name="Table 6">
            <a:extLst>
              <a:ext uri="{FF2B5EF4-FFF2-40B4-BE49-F238E27FC236}">
                <a16:creationId xmlns:a16="http://schemas.microsoft.com/office/drawing/2014/main" id="{80C9BAA9-4319-5BC2-378E-1DB778AC7F2B}"/>
              </a:ext>
            </a:extLst>
          </p:cNvPr>
          <p:cNvGraphicFramePr>
            <a:graphicFrameLocks noGrp="1"/>
          </p:cNvGraphicFramePr>
          <p:nvPr>
            <p:extLst>
              <p:ext uri="{D42A27DB-BD31-4B8C-83A1-F6EECF244321}">
                <p14:modId xmlns:p14="http://schemas.microsoft.com/office/powerpoint/2010/main" val="313164231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Changeset Explanation</a:t>
                      </a:r>
                    </a:p>
                  </a:txBody>
                  <a:tcPr>
                    <a:solidFill>
                      <a:srgbClr val="7030A0"/>
                    </a:solidFill>
                  </a:tcPr>
                </a:tc>
                <a:tc>
                  <a:txBody>
                    <a:bodyPr/>
                    <a:lstStyle/>
                    <a:p>
                      <a:pPr algn="ctr"/>
                      <a:r>
                        <a:rPr lang="en-US" dirty="0"/>
                        <a:t>Changeset Example</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9881597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2"/>
        <p:cNvGrpSpPr/>
        <p:nvPr/>
      </p:nvGrpSpPr>
      <p:grpSpPr>
        <a:xfrm>
          <a:off x="0" y="0"/>
          <a:ext cx="0" cy="0"/>
          <a:chOff x="0" y="0"/>
          <a:chExt cx="0" cy="0"/>
        </a:xfrm>
      </p:grpSpPr>
      <p:pic>
        <p:nvPicPr>
          <p:cNvPr id="145" name="Google Shape;145;p8"/>
          <p:cNvPicPr preferRelativeResize="0"/>
          <p:nvPr/>
        </p:nvPicPr>
        <p:blipFill rotWithShape="1">
          <a:blip r:embed="rId3">
            <a:alphaModFix/>
          </a:blip>
          <a:srcRect/>
          <a:stretch/>
        </p:blipFill>
        <p:spPr>
          <a:xfrm>
            <a:off x="1537678" y="370840"/>
            <a:ext cx="8440614" cy="6393227"/>
          </a:xfrm>
          <a:prstGeom prst="rect">
            <a:avLst/>
          </a:prstGeom>
          <a:noFill/>
          <a:ln>
            <a:noFill/>
          </a:ln>
        </p:spPr>
      </p:pic>
      <p:sp>
        <p:nvSpPr>
          <p:cNvPr id="146" name="Google Shape;146;p8"/>
          <p:cNvSpPr txBox="1">
            <a:spLocks noGrp="1"/>
          </p:cNvSpPr>
          <p:nvPr>
            <p:ph type="sldNum" idx="12"/>
          </p:nvPr>
        </p:nvSpPr>
        <p:spPr>
          <a:xfrm>
            <a:off x="10926476" y="6356350"/>
            <a:ext cx="625443"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fld id="{00000000-1234-1234-1234-123412341234}" type="slidenum">
              <a:rPr lang="en-US"/>
              <a:t>16</a:t>
            </a:fld>
            <a:endParaRPr/>
          </a:p>
        </p:txBody>
      </p:sp>
      <p:graphicFrame>
        <p:nvGraphicFramePr>
          <p:cNvPr id="3" name="Table 6">
            <a:extLst>
              <a:ext uri="{FF2B5EF4-FFF2-40B4-BE49-F238E27FC236}">
                <a16:creationId xmlns:a16="http://schemas.microsoft.com/office/drawing/2014/main" id="{2003D330-1AAD-692D-6222-72F393CEE414}"/>
              </a:ext>
            </a:extLst>
          </p:cNvPr>
          <p:cNvGraphicFramePr>
            <a:graphicFrameLocks noGrp="1"/>
          </p:cNvGraphicFramePr>
          <p:nvPr>
            <p:extLst>
              <p:ext uri="{D42A27DB-BD31-4B8C-83A1-F6EECF244321}">
                <p14:modId xmlns:p14="http://schemas.microsoft.com/office/powerpoint/2010/main" val="1960851590"/>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Changeset Example</a:t>
                      </a:r>
                    </a:p>
                  </a:txBody>
                  <a:tcPr>
                    <a:solidFill>
                      <a:srgbClr val="7030A0"/>
                    </a:solidFill>
                  </a:tcPr>
                </a:tc>
                <a:tc>
                  <a:txBody>
                    <a:bodyPr/>
                    <a:lstStyle/>
                    <a:p>
                      <a:pPr algn="ctr"/>
                      <a:r>
                        <a:rPr lang="en-US" sz="1400" dirty="0">
                          <a:latin typeface="+mn-lt"/>
                        </a:rPr>
                        <a:t>Factors that impact the quality of the data</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152" name="Google Shape;152;p9"/>
          <p:cNvSpPr txBox="1"/>
          <p:nvPr/>
        </p:nvSpPr>
        <p:spPr>
          <a:xfrm>
            <a:off x="2836986" y="374040"/>
            <a:ext cx="7666892" cy="577850"/>
          </a:xfrm>
          <a:prstGeom prst="rect">
            <a:avLst/>
          </a:prstGeom>
          <a:noFill/>
          <a:ln>
            <a:noFill/>
          </a:ln>
        </p:spPr>
        <p:txBody>
          <a:bodyPr spcFirstLastPara="1" wrap="square" lIns="91425" tIns="45700" rIns="91425" bIns="45700" anchor="ctr" anchorCtr="0">
            <a:normAutofit fontScale="92500" lnSpcReduction="20000"/>
          </a:bodyPr>
          <a:lstStyle/>
          <a:p>
            <a:pPr marL="0" marR="0" lvl="0" indent="0" algn="ctr" rtl="0">
              <a:lnSpc>
                <a:spcPct val="90000"/>
              </a:lnSpc>
              <a:spcBef>
                <a:spcPts val="0"/>
              </a:spcBef>
              <a:spcAft>
                <a:spcPts val="0"/>
              </a:spcAft>
              <a:buClr>
                <a:schemeClr val="dk1"/>
              </a:buClr>
              <a:buSzPts val="4400"/>
              <a:buFont typeface="Calibri"/>
              <a:buNone/>
            </a:pPr>
            <a:r>
              <a:rPr lang="en-US" sz="4400" dirty="0">
                <a:solidFill>
                  <a:schemeClr val="dk1"/>
                </a:solidFill>
                <a:latin typeface="Calibri"/>
                <a:ea typeface="Calibri"/>
                <a:cs typeface="Calibri"/>
                <a:sym typeface="Calibri"/>
              </a:rPr>
              <a:t>Data Sources: Quality of changes</a:t>
            </a:r>
            <a:endParaRPr sz="4400" dirty="0">
              <a:solidFill>
                <a:schemeClr val="dk1"/>
              </a:solidFill>
              <a:latin typeface="Calibri"/>
              <a:ea typeface="Calibri"/>
              <a:cs typeface="Calibri"/>
              <a:sym typeface="Calibri"/>
            </a:endParaRPr>
          </a:p>
        </p:txBody>
      </p:sp>
      <p:sp>
        <p:nvSpPr>
          <p:cNvPr id="153" name="Google Shape;153;p9"/>
          <p:cNvSpPr txBox="1">
            <a:spLocks noGrp="1"/>
          </p:cNvSpPr>
          <p:nvPr>
            <p:ph type="body" idx="1"/>
          </p:nvPr>
        </p:nvSpPr>
        <p:spPr>
          <a:xfrm>
            <a:off x="1" y="930275"/>
            <a:ext cx="12074768" cy="3860800"/>
          </a:xfrm>
          <a:prstGeom prst="rect">
            <a:avLst/>
          </a:prstGeom>
          <a:noFill/>
          <a:ln>
            <a:noFill/>
          </a:ln>
        </p:spPr>
        <p:txBody>
          <a:bodyPr spcFirstLastPara="1" wrap="square" lIns="91425" tIns="45700" rIns="91425" bIns="45700" anchor="t" anchorCtr="0">
            <a:normAutofit/>
          </a:bodyPr>
          <a:lstStyle/>
          <a:p>
            <a:pPr marL="0" indent="0">
              <a:spcBef>
                <a:spcPts val="0"/>
              </a:spcBef>
              <a:buSzPts val="2400"/>
              <a:buNone/>
            </a:pPr>
            <a:r>
              <a:rPr lang="en-US" sz="2400" dirty="0">
                <a:latin typeface="+mn-lt"/>
              </a:rPr>
              <a:t>There are complexities extracting software change data sets that impact the quality of the data. Factors that impact the quality of the data:</a:t>
            </a:r>
          </a:p>
          <a:p>
            <a:pPr marL="0" indent="0">
              <a:spcBef>
                <a:spcPts val="0"/>
              </a:spcBef>
              <a:buSzPts val="2400"/>
              <a:buNone/>
            </a:pPr>
            <a:endParaRPr lang="en-US" dirty="0">
              <a:latin typeface="+mn-lt"/>
            </a:endParaRPr>
          </a:p>
          <a:p>
            <a:pPr marL="0" indent="0">
              <a:spcBef>
                <a:spcPts val="0"/>
              </a:spcBef>
              <a:buSzPts val="2400"/>
              <a:buNone/>
            </a:pPr>
            <a:endParaRPr lang="en-US" dirty="0">
              <a:latin typeface="+mn-lt"/>
            </a:endParaRPr>
          </a:p>
          <a:p>
            <a:pPr marL="0" lvl="0" indent="0" algn="l" rtl="0">
              <a:lnSpc>
                <a:spcPct val="110000"/>
              </a:lnSpc>
              <a:spcBef>
                <a:spcPts val="1000"/>
              </a:spcBef>
              <a:spcAft>
                <a:spcPts val="0"/>
              </a:spcAft>
              <a:buClr>
                <a:schemeClr val="dk1"/>
              </a:buClr>
              <a:buSzPts val="1600"/>
              <a:buNone/>
            </a:pPr>
            <a:r>
              <a:rPr lang="en-US" sz="1800" dirty="0">
                <a:latin typeface="+mn-lt"/>
              </a:rPr>
              <a:t>Like, git defines </a:t>
            </a:r>
            <a:r>
              <a:rPr lang="en-US" sz="1800" b="1" dirty="0">
                <a:latin typeface="+mn-lt"/>
              </a:rPr>
              <a:t>four diff algorithms</a:t>
            </a:r>
            <a:r>
              <a:rPr lang="en-US" sz="1800" dirty="0">
                <a:latin typeface="+mn-lt"/>
              </a:rPr>
              <a:t>, </a:t>
            </a:r>
            <a:r>
              <a:rPr lang="en-US" sz="1800" dirty="0" err="1">
                <a:latin typeface="+mn-lt"/>
              </a:rPr>
              <a:t>myers</a:t>
            </a:r>
            <a:r>
              <a:rPr lang="en-US" sz="1800" dirty="0">
                <a:latin typeface="+mn-lt"/>
              </a:rPr>
              <a:t>, minimal, patience, and histogram.</a:t>
            </a:r>
          </a:p>
          <a:p>
            <a:pPr marL="0" lvl="0" indent="0" algn="l" rtl="0">
              <a:lnSpc>
                <a:spcPct val="110000"/>
              </a:lnSpc>
              <a:spcBef>
                <a:spcPts val="1000"/>
              </a:spcBef>
              <a:spcAft>
                <a:spcPts val="0"/>
              </a:spcAft>
              <a:buClr>
                <a:schemeClr val="dk1"/>
              </a:buClr>
              <a:buSzPts val="1600"/>
              <a:buNone/>
            </a:pPr>
            <a:r>
              <a:rPr lang="en-US" sz="1800" dirty="0">
                <a:latin typeface="+mn-lt"/>
              </a:rPr>
              <a:t>Nugroho et al. [53] observe that there is a considerable difference among the results extracted using different diff algorithms. The difference is at the numbers of changed lines and the locations of change lines.</a:t>
            </a:r>
          </a:p>
          <a:p>
            <a:pPr marL="0" lvl="0" indent="0" algn="l" rtl="0">
              <a:lnSpc>
                <a:spcPct val="110000"/>
              </a:lnSpc>
              <a:spcBef>
                <a:spcPts val="1000"/>
              </a:spcBef>
              <a:spcAft>
                <a:spcPts val="0"/>
              </a:spcAft>
              <a:buClr>
                <a:schemeClr val="dk1"/>
              </a:buClr>
              <a:buSzPts val="1600"/>
              <a:buNone/>
            </a:pPr>
            <a:r>
              <a:rPr lang="en-US" sz="1800" dirty="0">
                <a:latin typeface="+mn-lt"/>
              </a:rPr>
              <a:t> Via a manual analysis of multiple Java projects, they observe that the histogram algorithm produces more accurate diffs and assert that the improvement of diff quality can lead to more accurate computation of code churn metrics and identification of defect inducing changes. </a:t>
            </a:r>
          </a:p>
          <a:p>
            <a:pPr marL="0" lvl="0" indent="0" algn="l" rtl="0">
              <a:lnSpc>
                <a:spcPct val="90000"/>
              </a:lnSpc>
              <a:spcBef>
                <a:spcPts val="1000"/>
              </a:spcBef>
              <a:spcAft>
                <a:spcPts val="0"/>
              </a:spcAft>
              <a:buClr>
                <a:schemeClr val="dk1"/>
              </a:buClr>
              <a:buSzPts val="2400"/>
              <a:buNone/>
            </a:pPr>
            <a:endParaRPr sz="2400" dirty="0"/>
          </a:p>
        </p:txBody>
      </p:sp>
      <p:sp>
        <p:nvSpPr>
          <p:cNvPr id="3" name="Flowchart: Process 2">
            <a:extLst>
              <a:ext uri="{FF2B5EF4-FFF2-40B4-BE49-F238E27FC236}">
                <a16:creationId xmlns:a16="http://schemas.microsoft.com/office/drawing/2014/main" id="{41E119CC-F3D2-C5F6-2565-CE72E9B4C4B3}"/>
              </a:ext>
            </a:extLst>
          </p:cNvPr>
          <p:cNvSpPr/>
          <p:nvPr/>
        </p:nvSpPr>
        <p:spPr>
          <a:xfrm>
            <a:off x="390525" y="1892297"/>
            <a:ext cx="7400925" cy="409578"/>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800" dirty="0"/>
          </a:p>
          <a:p>
            <a:r>
              <a:rPr lang="en-US" sz="1800" dirty="0"/>
              <a:t>1) A variety of diff algorithms to compute differences between two files</a:t>
            </a:r>
          </a:p>
          <a:p>
            <a:pPr algn="l"/>
            <a:endParaRPr lang="en-US" sz="1800" b="0" i="0" u="none" strike="noStrike" baseline="0" dirty="0">
              <a:latin typeface="Abadi" panose="020B0604020104020204" pitchFamily="34" charset="0"/>
            </a:endParaRPr>
          </a:p>
        </p:txBody>
      </p:sp>
      <p:sp>
        <p:nvSpPr>
          <p:cNvPr id="4" name="Flowchart: Process 3">
            <a:extLst>
              <a:ext uri="{FF2B5EF4-FFF2-40B4-BE49-F238E27FC236}">
                <a16:creationId xmlns:a16="http://schemas.microsoft.com/office/drawing/2014/main" id="{10A8CB37-BFA8-03AC-D476-E2C46C8BF501}"/>
              </a:ext>
            </a:extLst>
          </p:cNvPr>
          <p:cNvSpPr/>
          <p:nvPr/>
        </p:nvSpPr>
        <p:spPr>
          <a:xfrm>
            <a:off x="175846" y="5029197"/>
            <a:ext cx="11723077" cy="723900"/>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r>
              <a:rPr lang="en-US" sz="1600" dirty="0"/>
              <a:t>However, whether and how the accuracy of diffs impact performance of JITSDP is unclear as the choice of the diff algorithm is rarely in the discussion of prior JIT-SDP studies.</a:t>
            </a:r>
            <a:endParaRPr lang="en-US" dirty="0"/>
          </a:p>
        </p:txBody>
      </p:sp>
      <p:graphicFrame>
        <p:nvGraphicFramePr>
          <p:cNvPr id="5" name="Table 6">
            <a:extLst>
              <a:ext uri="{FF2B5EF4-FFF2-40B4-BE49-F238E27FC236}">
                <a16:creationId xmlns:a16="http://schemas.microsoft.com/office/drawing/2014/main" id="{83082CEB-337D-E940-31DB-437C62662636}"/>
              </a:ext>
            </a:extLst>
          </p:cNvPr>
          <p:cNvGraphicFramePr>
            <a:graphicFrameLocks noGrp="1"/>
          </p:cNvGraphicFramePr>
          <p:nvPr>
            <p:extLst>
              <p:ext uri="{D42A27DB-BD31-4B8C-83A1-F6EECF244321}">
                <p14:modId xmlns:p14="http://schemas.microsoft.com/office/powerpoint/2010/main" val="282851914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Factors that impact the quality of the data: </a:t>
                      </a:r>
                      <a:r>
                        <a:rPr lang="en-US" sz="1400" dirty="0"/>
                        <a:t>diff algorithms </a:t>
                      </a:r>
                      <a:endParaRPr lang="en-US" dirty="0"/>
                    </a:p>
                  </a:txBody>
                  <a:tcPr>
                    <a:solidFill>
                      <a:srgbClr val="7030A0"/>
                    </a:solidFill>
                  </a:tcPr>
                </a:tc>
                <a:tc>
                  <a:txBody>
                    <a:bodyPr/>
                    <a:lstStyle/>
                    <a:p>
                      <a:pPr algn="ctr"/>
                      <a:r>
                        <a:rPr lang="en-US" sz="1400" dirty="0">
                          <a:latin typeface="+mn-lt"/>
                        </a:rPr>
                        <a:t>SCM capabilities vary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0"/>
        <p:cNvGrpSpPr/>
        <p:nvPr/>
      </p:nvGrpSpPr>
      <p:grpSpPr>
        <a:xfrm>
          <a:off x="0" y="0"/>
          <a:ext cx="0" cy="0"/>
          <a:chOff x="0" y="0"/>
          <a:chExt cx="0" cy="0"/>
        </a:xfrm>
      </p:grpSpPr>
      <p:sp useBgFill="1">
        <p:nvSpPr>
          <p:cNvPr id="158" name="Rectangle 157">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Google Shape;152;p9"/>
          <p:cNvSpPr txBox="1"/>
          <p:nvPr/>
        </p:nvSpPr>
        <p:spPr>
          <a:xfrm>
            <a:off x="3401621" y="383087"/>
            <a:ext cx="5993306" cy="1076914"/>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400"/>
            </a:pPr>
            <a:r>
              <a:rPr lang="en-US" sz="3100" kern="1200" dirty="0">
                <a:solidFill>
                  <a:schemeClr val="tx1"/>
                </a:solidFill>
                <a:latin typeface="+mj-lt"/>
                <a:ea typeface="+mj-ea"/>
                <a:cs typeface="+mj-cs"/>
                <a:sym typeface="Calibri"/>
              </a:rPr>
              <a:t>Data Sources: </a:t>
            </a:r>
            <a:r>
              <a:rPr lang="en-US" sz="3200" dirty="0">
                <a:solidFill>
                  <a:schemeClr val="dk1"/>
                </a:solidFill>
                <a:latin typeface="Calibri"/>
                <a:ea typeface="Calibri"/>
                <a:cs typeface="Calibri"/>
                <a:sym typeface="Calibri"/>
              </a:rPr>
              <a:t>Quality of Changes</a:t>
            </a:r>
            <a:endParaRPr lang="en-US" sz="3100" kern="1200" dirty="0">
              <a:solidFill>
                <a:schemeClr val="tx1"/>
              </a:solidFill>
              <a:latin typeface="+mj-lt"/>
              <a:ea typeface="+mj-ea"/>
              <a:cs typeface="+mj-cs"/>
              <a:sym typeface="Calibri"/>
            </a:endParaRPr>
          </a:p>
        </p:txBody>
      </p:sp>
      <p:sp>
        <p:nvSpPr>
          <p:cNvPr id="160" name="Rectangle 159">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2" name="Rectangle 161">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Google Shape;151;p9"/>
          <p:cNvSpPr txBox="1">
            <a:spLocks noGrp="1"/>
          </p:cNvSpPr>
          <p:nvPr>
            <p:ph type="sldNum" idx="12"/>
          </p:nvPr>
        </p:nvSpPr>
        <p:spPr>
          <a:xfrm>
            <a:off x="8196123" y="5969190"/>
            <a:ext cx="2280912" cy="303594"/>
          </a:xfrm>
          <a:prstGeom prst="rect">
            <a:avLst/>
          </a:prstGeom>
          <a:noFill/>
          <a:ln>
            <a:noFill/>
          </a:ln>
        </p:spPr>
        <p:txBody>
          <a:bodyPr spcFirstLastPara="1" wrap="square" lIns="91425" tIns="45700" rIns="91425" bIns="45700" anchor="ctr" anchorCtr="0">
            <a:noAutofit/>
          </a:bodyPr>
          <a:lstStyle/>
          <a:p>
            <a:pPr>
              <a:spcAft>
                <a:spcPts val="600"/>
              </a:spcAft>
            </a:pPr>
            <a:fld id="{00000000-1234-1234-1234-123412341234}" type="slidenum">
              <a:rPr lang="en-US" sz="996" b="0" i="0" u="none" strike="noStrike" cap="none">
                <a:solidFill>
                  <a:srgbClr val="888888"/>
                </a:solidFill>
                <a:latin typeface="Calibri"/>
                <a:ea typeface="Calibri"/>
                <a:cs typeface="Calibri"/>
                <a:sym typeface="Calibri"/>
              </a:rPr>
              <a:pPr>
                <a:spcAft>
                  <a:spcPts val="600"/>
                </a:spcAft>
              </a:pPr>
              <a:t>18</a:t>
            </a:fld>
            <a:endParaRPr lang="en-US"/>
          </a:p>
        </p:txBody>
      </p:sp>
      <p:sp>
        <p:nvSpPr>
          <p:cNvPr id="153" name="Google Shape;153;p9"/>
          <p:cNvSpPr txBox="1">
            <a:spLocks noGrp="1"/>
          </p:cNvSpPr>
          <p:nvPr>
            <p:ph type="body" idx="1"/>
          </p:nvPr>
        </p:nvSpPr>
        <p:spPr>
          <a:xfrm>
            <a:off x="642522" y="2378751"/>
            <a:ext cx="5068691" cy="2288947"/>
          </a:xfrm>
          <a:prstGeom prst="rect">
            <a:avLst/>
          </a:prstGeom>
          <a:noFill/>
          <a:ln>
            <a:noFill/>
          </a:ln>
        </p:spPr>
        <p:txBody>
          <a:bodyPr spcFirstLastPara="1" wrap="square" lIns="91425" tIns="45700" rIns="91425" bIns="45700" anchor="t" anchorCtr="0">
            <a:noAutofit/>
          </a:bodyPr>
          <a:lstStyle/>
          <a:p>
            <a:pPr marL="379476" indent="-284607">
              <a:spcBef>
                <a:spcPts val="830"/>
              </a:spcBef>
            </a:pPr>
            <a:r>
              <a:rPr lang="en-US" sz="1800" b="0" i="0" u="none" strike="noStrike" cap="none" dirty="0">
                <a:solidFill>
                  <a:schemeClr val="dk1"/>
                </a:solidFill>
                <a:latin typeface="+mn-lt"/>
                <a:ea typeface="Calibri"/>
                <a:cs typeface="Calibri"/>
                <a:sym typeface="Calibri"/>
              </a:rPr>
              <a:t>In earlier SCMs like CVS, revision numbers are </a:t>
            </a:r>
            <a:r>
              <a:rPr lang="en-US" sz="1800" b="1" i="0" u="none" strike="noStrike" cap="none" dirty="0">
                <a:solidFill>
                  <a:schemeClr val="dk1"/>
                </a:solidFill>
                <a:latin typeface="+mn-lt"/>
                <a:ea typeface="Calibri"/>
                <a:cs typeface="Calibri"/>
                <a:sym typeface="Calibri"/>
              </a:rPr>
              <a:t>per file</a:t>
            </a:r>
            <a:r>
              <a:rPr lang="en-US" sz="1800" b="0" i="0" u="none" strike="noStrike" cap="none" dirty="0">
                <a:solidFill>
                  <a:schemeClr val="dk1"/>
                </a:solidFill>
                <a:latin typeface="+mn-lt"/>
                <a:ea typeface="Calibri"/>
                <a:cs typeface="Calibri"/>
                <a:sym typeface="Calibri"/>
              </a:rPr>
              <a:t>. </a:t>
            </a:r>
          </a:p>
          <a:p>
            <a:pPr marL="379476" indent="-284607">
              <a:spcBef>
                <a:spcPts val="830"/>
              </a:spcBef>
            </a:pPr>
            <a:r>
              <a:rPr lang="en-US" sz="1800" b="0" i="0" u="none" strike="noStrike" cap="none" dirty="0">
                <a:solidFill>
                  <a:schemeClr val="dk1"/>
                </a:solidFill>
                <a:latin typeface="+mn-lt"/>
                <a:ea typeface="Calibri"/>
                <a:cs typeface="Calibri"/>
                <a:sym typeface="Calibri"/>
              </a:rPr>
              <a:t>In more recent SCMs, including both git and subversion, revision numbers are per </a:t>
            </a:r>
            <a:r>
              <a:rPr lang="en-US" sz="1800" b="0" i="0" u="none" strike="noStrike" cap="none" dirty="0" err="1">
                <a:solidFill>
                  <a:schemeClr val="dk1"/>
                </a:solidFill>
                <a:latin typeface="+mn-lt"/>
                <a:ea typeface="Calibri"/>
                <a:cs typeface="Calibri"/>
                <a:sym typeface="Calibri"/>
              </a:rPr>
              <a:t>workset</a:t>
            </a:r>
            <a:r>
              <a:rPr lang="en-US" sz="1800" b="0" i="0" u="none" strike="noStrike" cap="none" dirty="0">
                <a:solidFill>
                  <a:schemeClr val="dk1"/>
                </a:solidFill>
                <a:latin typeface="+mn-lt"/>
                <a:ea typeface="Calibri"/>
                <a:cs typeface="Calibri"/>
                <a:sym typeface="Calibri"/>
              </a:rPr>
              <a:t>, where </a:t>
            </a:r>
            <a:r>
              <a:rPr lang="en-US" sz="1800" b="1" i="0" u="none" strike="noStrike" cap="none" dirty="0">
                <a:solidFill>
                  <a:schemeClr val="dk1"/>
                </a:solidFill>
                <a:latin typeface="+mn-lt"/>
                <a:ea typeface="Calibri"/>
                <a:cs typeface="Calibri"/>
                <a:sym typeface="Calibri"/>
              </a:rPr>
              <a:t>a </a:t>
            </a:r>
            <a:r>
              <a:rPr lang="en-US" sz="1800" b="1" i="0" u="none" strike="noStrike" cap="none" dirty="0" err="1">
                <a:solidFill>
                  <a:schemeClr val="dk1"/>
                </a:solidFill>
                <a:latin typeface="+mn-lt"/>
                <a:ea typeface="Calibri"/>
                <a:cs typeface="Calibri"/>
                <a:sym typeface="Calibri"/>
              </a:rPr>
              <a:t>workset</a:t>
            </a:r>
            <a:r>
              <a:rPr lang="en-US" sz="1800" b="1" i="0" u="none" strike="noStrike" cap="none" dirty="0">
                <a:solidFill>
                  <a:schemeClr val="dk1"/>
                </a:solidFill>
                <a:latin typeface="+mn-lt"/>
                <a:ea typeface="Calibri"/>
                <a:cs typeface="Calibri"/>
                <a:sym typeface="Calibri"/>
              </a:rPr>
              <a:t> is a list of files </a:t>
            </a:r>
            <a:r>
              <a:rPr lang="en-US" sz="1800" b="0" i="0" u="none" strike="noStrike" cap="none" dirty="0">
                <a:solidFill>
                  <a:schemeClr val="dk1"/>
                </a:solidFill>
                <a:latin typeface="+mn-lt"/>
                <a:ea typeface="Calibri"/>
                <a:cs typeface="Calibri"/>
                <a:sym typeface="Calibri"/>
              </a:rPr>
              <a:t>that a developer changes together. </a:t>
            </a:r>
          </a:p>
          <a:p>
            <a:pPr marL="379476" indent="-284607">
              <a:spcBef>
                <a:spcPts val="830"/>
              </a:spcBef>
            </a:pPr>
            <a:r>
              <a:rPr lang="en-US" sz="1800" b="0" i="0" u="none" strike="noStrike" cap="none" dirty="0">
                <a:solidFill>
                  <a:schemeClr val="dk1"/>
                </a:solidFill>
                <a:latin typeface="+mn-lt"/>
                <a:ea typeface="Calibri"/>
                <a:cs typeface="Calibri"/>
                <a:sym typeface="Calibri"/>
              </a:rPr>
              <a:t>Some software projects transition between different repositories (e.g., CVS to git).</a:t>
            </a:r>
            <a:endParaRPr lang="en-US" sz="1800" dirty="0">
              <a:latin typeface="+mn-lt"/>
            </a:endParaRPr>
          </a:p>
        </p:txBody>
      </p:sp>
      <p:sp>
        <p:nvSpPr>
          <p:cNvPr id="2" name="Flowchart: Process 1">
            <a:extLst>
              <a:ext uri="{FF2B5EF4-FFF2-40B4-BE49-F238E27FC236}">
                <a16:creationId xmlns:a16="http://schemas.microsoft.com/office/drawing/2014/main" id="{8541E107-D3BC-6300-7B8A-935234B8A70E}"/>
              </a:ext>
            </a:extLst>
          </p:cNvPr>
          <p:cNvSpPr/>
          <p:nvPr/>
        </p:nvSpPr>
        <p:spPr>
          <a:xfrm>
            <a:off x="1040554" y="1845392"/>
            <a:ext cx="4961775" cy="51507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800" b="0" i="0" u="none" strike="noStrike" cap="none" dirty="0">
                <a:solidFill>
                  <a:schemeClr val="lt1"/>
                </a:solidFill>
                <a:latin typeface="+mn-lt"/>
                <a:ea typeface="+mn-ea"/>
                <a:cs typeface="+mn-cs"/>
                <a:sym typeface="Arial"/>
              </a:rPr>
              <a:t>2) SCMs have varying capabilities to maintain revisions</a:t>
            </a:r>
            <a:endParaRPr lang="en-US" sz="1800" b="0" i="0" u="none" strike="noStrike" baseline="0" dirty="0">
              <a:latin typeface="Abadi" panose="020B0604020104020204" pitchFamily="34" charset="0"/>
            </a:endParaRPr>
          </a:p>
        </p:txBody>
      </p:sp>
      <p:sp>
        <p:nvSpPr>
          <p:cNvPr id="3" name="Flowchart: Process 2">
            <a:extLst>
              <a:ext uri="{FF2B5EF4-FFF2-40B4-BE49-F238E27FC236}">
                <a16:creationId xmlns:a16="http://schemas.microsoft.com/office/drawing/2014/main" id="{DED0C94E-4FDC-8A8B-14E9-BCC4DACA47CF}"/>
              </a:ext>
            </a:extLst>
          </p:cNvPr>
          <p:cNvSpPr/>
          <p:nvPr/>
        </p:nvSpPr>
        <p:spPr>
          <a:xfrm>
            <a:off x="1040554" y="4769167"/>
            <a:ext cx="5068692" cy="877831"/>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spcAft>
                <a:spcPts val="600"/>
              </a:spcAft>
            </a:pPr>
            <a:r>
              <a:rPr lang="en-US" sz="1800" b="0" i="0" u="none" strike="noStrike" cap="none" dirty="0">
                <a:solidFill>
                  <a:schemeClr val="lt1"/>
                </a:solidFill>
                <a:latin typeface="Abadi" panose="020B0604020104020204" pitchFamily="34" charset="0"/>
                <a:ea typeface="+mn-ea"/>
                <a:cs typeface="+mn-cs"/>
                <a:sym typeface="Arial"/>
              </a:rPr>
              <a:t>However, it is unclear whether these changesets are comparable and how they impact the interpretation of the results.</a:t>
            </a:r>
            <a:endParaRPr lang="en-US" sz="1800" dirty="0"/>
          </a:p>
        </p:txBody>
      </p:sp>
      <p:sp>
        <p:nvSpPr>
          <p:cNvPr id="4" name="Google Shape;153;p9">
            <a:extLst>
              <a:ext uri="{FF2B5EF4-FFF2-40B4-BE49-F238E27FC236}">
                <a16:creationId xmlns:a16="http://schemas.microsoft.com/office/drawing/2014/main" id="{D4E4530E-CE67-0703-4AA8-6D5F7A053A31}"/>
              </a:ext>
            </a:extLst>
          </p:cNvPr>
          <p:cNvSpPr txBox="1">
            <a:spLocks/>
          </p:cNvSpPr>
          <p:nvPr/>
        </p:nvSpPr>
        <p:spPr>
          <a:xfrm>
            <a:off x="6366641" y="2676754"/>
            <a:ext cx="4696463" cy="16256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84607" indent="-284607">
              <a:lnSpc>
                <a:spcPct val="110000"/>
              </a:lnSpc>
              <a:spcBef>
                <a:spcPts val="830"/>
              </a:spcBef>
              <a:buSzPts val="1600"/>
            </a:pPr>
            <a:r>
              <a:rPr lang="en-US" sz="1800" b="0" i="0" u="none" strike="noStrike" cap="none" dirty="0">
                <a:solidFill>
                  <a:schemeClr val="dk1"/>
                </a:solidFill>
                <a:latin typeface="+mn-lt"/>
                <a:ea typeface="Calibri"/>
                <a:cs typeface="Calibri"/>
                <a:sym typeface="Calibri"/>
              </a:rPr>
              <a:t>Git allows a developer to </a:t>
            </a:r>
            <a:r>
              <a:rPr lang="en-US" sz="1800" b="1" i="0" u="none" strike="noStrike" cap="none" dirty="0">
                <a:solidFill>
                  <a:schemeClr val="dk1"/>
                </a:solidFill>
                <a:latin typeface="+mn-lt"/>
                <a:ea typeface="Calibri"/>
                <a:cs typeface="Calibri"/>
                <a:sym typeface="Calibri"/>
              </a:rPr>
              <a:t>control</a:t>
            </a:r>
            <a:r>
              <a:rPr lang="en-US" sz="1800" b="0" i="0" u="none" strike="noStrike" cap="none" dirty="0">
                <a:solidFill>
                  <a:schemeClr val="dk1"/>
                </a:solidFill>
                <a:latin typeface="+mn-lt"/>
                <a:ea typeface="Calibri"/>
                <a:cs typeface="Calibri"/>
                <a:sym typeface="Calibri"/>
              </a:rPr>
              <a:t> which modifications will be in the next revision;</a:t>
            </a:r>
          </a:p>
          <a:p>
            <a:pPr marL="284607" indent="-284607">
              <a:lnSpc>
                <a:spcPct val="110000"/>
              </a:lnSpc>
              <a:spcBef>
                <a:spcPts val="830"/>
              </a:spcBef>
              <a:buSzPts val="1600"/>
            </a:pPr>
            <a:r>
              <a:rPr lang="en-US" sz="1800" b="0" i="0" u="none" strike="noStrike" cap="none" dirty="0">
                <a:solidFill>
                  <a:schemeClr val="dk1"/>
                </a:solidFill>
                <a:latin typeface="+mn-lt"/>
                <a:ea typeface="Calibri"/>
                <a:cs typeface="Calibri"/>
                <a:sym typeface="Calibri"/>
              </a:rPr>
              <a:t>Subversion revision </a:t>
            </a:r>
            <a:r>
              <a:rPr lang="en-US" sz="1800" b="1" i="0" u="none" strike="noStrike" cap="none" dirty="0">
                <a:solidFill>
                  <a:schemeClr val="dk1"/>
                </a:solidFill>
                <a:latin typeface="+mn-lt"/>
                <a:ea typeface="Calibri"/>
                <a:cs typeface="Calibri"/>
                <a:sym typeface="Calibri"/>
              </a:rPr>
              <a:t>includes all </a:t>
            </a:r>
            <a:r>
              <a:rPr lang="en-US" sz="1800" b="0" i="0" u="none" strike="noStrike" cap="none" dirty="0">
                <a:solidFill>
                  <a:schemeClr val="dk1"/>
                </a:solidFill>
                <a:latin typeface="+mn-lt"/>
                <a:ea typeface="Calibri"/>
                <a:cs typeface="Calibri"/>
                <a:sym typeface="Calibri"/>
              </a:rPr>
              <a:t>modifications in the next revision</a:t>
            </a:r>
          </a:p>
          <a:p>
            <a:pPr marL="0" indent="0">
              <a:buSzPts val="2400"/>
              <a:buFont typeface="Arial"/>
              <a:buNone/>
            </a:pPr>
            <a:endParaRPr lang="en-US" sz="1800" dirty="0"/>
          </a:p>
        </p:txBody>
      </p:sp>
      <p:sp>
        <p:nvSpPr>
          <p:cNvPr id="5" name="Flowchart: Process 4">
            <a:extLst>
              <a:ext uri="{FF2B5EF4-FFF2-40B4-BE49-F238E27FC236}">
                <a16:creationId xmlns:a16="http://schemas.microsoft.com/office/drawing/2014/main" id="{3EE90D96-9F46-81FA-2DC8-D766B6D814FF}"/>
              </a:ext>
            </a:extLst>
          </p:cNvPr>
          <p:cNvSpPr/>
          <p:nvPr/>
        </p:nvSpPr>
        <p:spPr>
          <a:xfrm>
            <a:off x="6374560" y="1845392"/>
            <a:ext cx="4767741" cy="51507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800" b="0" i="0" u="none" strike="noStrike" cap="none" dirty="0">
                <a:solidFill>
                  <a:schemeClr val="lt1"/>
                </a:solidFill>
                <a:latin typeface="+mn-lt"/>
                <a:ea typeface="+mn-ea"/>
                <a:cs typeface="+mn-cs"/>
                <a:sym typeface="Arial"/>
              </a:rPr>
              <a:t>3) Different controlling abilities of VCS on information passing into next revision</a:t>
            </a:r>
            <a:endParaRPr lang="en-US" sz="1800" dirty="0"/>
          </a:p>
        </p:txBody>
      </p:sp>
      <p:sp>
        <p:nvSpPr>
          <p:cNvPr id="6" name="Flowchart: Process 5">
            <a:extLst>
              <a:ext uri="{FF2B5EF4-FFF2-40B4-BE49-F238E27FC236}">
                <a16:creationId xmlns:a16="http://schemas.microsoft.com/office/drawing/2014/main" id="{2E10940F-C952-228E-B748-A575DE28ADFB}"/>
              </a:ext>
            </a:extLst>
          </p:cNvPr>
          <p:cNvSpPr/>
          <p:nvPr/>
        </p:nvSpPr>
        <p:spPr>
          <a:xfrm>
            <a:off x="6374560" y="4786017"/>
            <a:ext cx="4767741" cy="877830"/>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spcAft>
                <a:spcPts val="600"/>
              </a:spcAft>
            </a:pPr>
            <a:r>
              <a:rPr lang="en-US" sz="1800" b="0" i="0" u="none" strike="noStrike" cap="none" dirty="0">
                <a:solidFill>
                  <a:schemeClr val="lt1"/>
                </a:solidFill>
                <a:latin typeface="Abadi" panose="020B0604020104020204" pitchFamily="34" charset="0"/>
                <a:ea typeface="+mn-ea"/>
                <a:cs typeface="+mn-cs"/>
                <a:sym typeface="Arial"/>
              </a:rPr>
              <a:t>This difference may have an impact on the likelihood of commits that reflect an intentional, coherent change to the software.</a:t>
            </a:r>
            <a:endParaRPr lang="en-US" sz="1800" dirty="0"/>
          </a:p>
        </p:txBody>
      </p:sp>
      <p:cxnSp>
        <p:nvCxnSpPr>
          <p:cNvPr id="7" name="Straight Connector 6">
            <a:extLst>
              <a:ext uri="{FF2B5EF4-FFF2-40B4-BE49-F238E27FC236}">
                <a16:creationId xmlns:a16="http://schemas.microsoft.com/office/drawing/2014/main" id="{87CA681F-93C5-6501-A9BE-0B036747AA58}"/>
              </a:ext>
            </a:extLst>
          </p:cNvPr>
          <p:cNvCxnSpPr>
            <a:cxnSpLocks/>
          </p:cNvCxnSpPr>
          <p:nvPr/>
        </p:nvCxnSpPr>
        <p:spPr>
          <a:xfrm>
            <a:off x="6176568" y="1737360"/>
            <a:ext cx="25738" cy="4535424"/>
          </a:xfrm>
          <a:prstGeom prst="line">
            <a:avLst/>
          </a:prstGeom>
          <a:ln w="57150"/>
        </p:spPr>
        <p:style>
          <a:lnRef idx="1">
            <a:schemeClr val="accent3"/>
          </a:lnRef>
          <a:fillRef idx="0">
            <a:schemeClr val="accent3"/>
          </a:fillRef>
          <a:effectRef idx="0">
            <a:schemeClr val="accent3"/>
          </a:effectRef>
          <a:fontRef idx="minor">
            <a:schemeClr val="tx1"/>
          </a:fontRef>
        </p:style>
      </p:cxnSp>
      <p:graphicFrame>
        <p:nvGraphicFramePr>
          <p:cNvPr id="10" name="Table 6">
            <a:extLst>
              <a:ext uri="{FF2B5EF4-FFF2-40B4-BE49-F238E27FC236}">
                <a16:creationId xmlns:a16="http://schemas.microsoft.com/office/drawing/2014/main" id="{5547641D-0A06-65F0-AFB3-F0AD5F9B2E6B}"/>
              </a:ext>
            </a:extLst>
          </p:cNvPr>
          <p:cNvGraphicFramePr>
            <a:graphicFrameLocks noGrp="1"/>
          </p:cNvGraphicFramePr>
          <p:nvPr>
            <p:extLst>
              <p:ext uri="{D42A27DB-BD31-4B8C-83A1-F6EECF244321}">
                <p14:modId xmlns:p14="http://schemas.microsoft.com/office/powerpoint/2010/main" val="190146157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SCM capabilities vary</a:t>
                      </a:r>
                      <a:endParaRPr lang="en-US" dirty="0"/>
                    </a:p>
                  </a:txBody>
                  <a:tcPr>
                    <a:solidFill>
                      <a:srgbClr val="7030A0"/>
                    </a:solidFill>
                  </a:tcPr>
                </a:tc>
                <a:tc>
                  <a:txBody>
                    <a:bodyPr/>
                    <a:lstStyle/>
                    <a:p>
                      <a:pPr algn="ctr"/>
                      <a:r>
                        <a:rPr lang="en-US" sz="1400" dirty="0">
                          <a:latin typeface="+mn-lt"/>
                        </a:rPr>
                        <a:t>SCM model and version</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00325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0"/>
        <p:cNvGrpSpPr/>
        <p:nvPr/>
      </p:nvGrpSpPr>
      <p:grpSpPr>
        <a:xfrm>
          <a:off x="0" y="0"/>
          <a:ext cx="0" cy="0"/>
          <a:chOff x="0" y="0"/>
          <a:chExt cx="0" cy="0"/>
        </a:xfrm>
      </p:grpSpPr>
      <p:sp useBgFill="1">
        <p:nvSpPr>
          <p:cNvPr id="158" name="Rectangle 157">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Arc 159">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8175088" y="457951"/>
            <a:ext cx="2987899"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52" name="Google Shape;152;p9"/>
          <p:cNvSpPr txBox="1"/>
          <p:nvPr/>
        </p:nvSpPr>
        <p:spPr>
          <a:xfrm>
            <a:off x="838200" y="365125"/>
            <a:ext cx="10515600" cy="1325563"/>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chemeClr val="dk1"/>
              </a:buClr>
              <a:buSzPts val="4400"/>
            </a:pPr>
            <a:r>
              <a:rPr lang="en-US" sz="4400" kern="1200">
                <a:solidFill>
                  <a:schemeClr val="tx1"/>
                </a:solidFill>
                <a:latin typeface="+mj-lt"/>
                <a:ea typeface="+mj-ea"/>
                <a:cs typeface="+mj-cs"/>
                <a:sym typeface="Calibri"/>
              </a:rPr>
              <a:t>Data Sources: Quality of Changes</a:t>
            </a:r>
          </a:p>
        </p:txBody>
      </p:sp>
      <p:sp>
        <p:nvSpPr>
          <p:cNvPr id="151" name="Google Shape;151;p9"/>
          <p:cNvSpPr txBox="1">
            <a:spLocks noGrp="1"/>
          </p:cNvSpPr>
          <p:nvPr>
            <p:ph type="sldNum" idx="12"/>
          </p:nvPr>
        </p:nvSpPr>
        <p:spPr>
          <a:xfrm>
            <a:off x="7971005" y="5904708"/>
            <a:ext cx="2045460" cy="272255"/>
          </a:xfrm>
          <a:prstGeom prst="rect">
            <a:avLst/>
          </a:prstGeom>
          <a:noFill/>
          <a:ln>
            <a:noFill/>
          </a:ln>
        </p:spPr>
        <p:txBody>
          <a:bodyPr spcFirstLastPara="1" wrap="square" lIns="91425" tIns="45700" rIns="91425" bIns="45700" anchor="ctr" anchorCtr="0">
            <a:noAutofit/>
          </a:bodyPr>
          <a:lstStyle/>
          <a:p>
            <a:pPr>
              <a:spcAft>
                <a:spcPts val="600"/>
              </a:spcAft>
            </a:pPr>
            <a:fld id="{00000000-1234-1234-1234-123412341234}" type="slidenum">
              <a:rPr lang="en-US" sz="888" b="0" i="0" u="none" strike="noStrike" cap="none">
                <a:solidFill>
                  <a:srgbClr val="888888"/>
                </a:solidFill>
                <a:latin typeface="Calibri"/>
                <a:ea typeface="Calibri"/>
                <a:cs typeface="Calibri"/>
                <a:sym typeface="Calibri"/>
              </a:rPr>
              <a:pPr>
                <a:spcAft>
                  <a:spcPts val="600"/>
                </a:spcAft>
              </a:pPr>
              <a:t>19</a:t>
            </a:fld>
            <a:endParaRPr lang="en-US"/>
          </a:p>
        </p:txBody>
      </p:sp>
      <p:sp>
        <p:nvSpPr>
          <p:cNvPr id="153" name="Google Shape;153;p9"/>
          <p:cNvSpPr txBox="1">
            <a:spLocks noGrp="1"/>
          </p:cNvSpPr>
          <p:nvPr>
            <p:ph type="body" idx="1"/>
          </p:nvPr>
        </p:nvSpPr>
        <p:spPr>
          <a:xfrm>
            <a:off x="51099" y="2499790"/>
            <a:ext cx="4621365" cy="2480608"/>
          </a:xfrm>
          <a:prstGeom prst="rect">
            <a:avLst/>
          </a:prstGeom>
          <a:noFill/>
          <a:ln>
            <a:noFill/>
          </a:ln>
        </p:spPr>
        <p:txBody>
          <a:bodyPr spcFirstLastPara="1" wrap="square" lIns="91425" tIns="45700" rIns="91425" bIns="45700" anchor="t" anchorCtr="0">
            <a:noAutofit/>
          </a:bodyPr>
          <a:lstStyle/>
          <a:p>
            <a:pPr marL="285750" indent="-285750">
              <a:spcBef>
                <a:spcPts val="740"/>
              </a:spcBef>
              <a:buSzPts val="2400"/>
              <a:buFont typeface="Wingdings" panose="05000000000000000000" pitchFamily="2" charset="2"/>
              <a:buChar char="§"/>
            </a:pPr>
            <a:r>
              <a:rPr lang="en-US" sz="1800" b="0" i="0" u="none" strike="noStrike" cap="none" dirty="0">
                <a:solidFill>
                  <a:schemeClr val="dk1"/>
                </a:solidFill>
                <a:latin typeface="+mn-lt"/>
                <a:ea typeface="Calibri"/>
                <a:cs typeface="Calibri"/>
                <a:sym typeface="Calibri"/>
              </a:rPr>
              <a:t>lock-modify-unlock model </a:t>
            </a:r>
          </a:p>
          <a:p>
            <a:pPr marL="285750" indent="-285750">
              <a:spcBef>
                <a:spcPts val="740"/>
              </a:spcBef>
              <a:buSzPts val="2400"/>
              <a:buFont typeface="Wingdings" panose="05000000000000000000" pitchFamily="2" charset="2"/>
              <a:buChar char="§"/>
            </a:pPr>
            <a:r>
              <a:rPr lang="en-US" sz="1800" b="0" i="0" u="none" strike="noStrike" cap="none" dirty="0">
                <a:solidFill>
                  <a:schemeClr val="dk1"/>
                </a:solidFill>
                <a:latin typeface="+mn-lt"/>
                <a:ea typeface="Calibri"/>
                <a:cs typeface="Calibri"/>
                <a:sym typeface="Calibri"/>
              </a:rPr>
              <a:t>copy-modify- merge model, like git and subversion</a:t>
            </a:r>
          </a:p>
          <a:p>
            <a:pPr marL="0" indent="0">
              <a:spcBef>
                <a:spcPts val="740"/>
              </a:spcBef>
              <a:buSzPts val="2400"/>
              <a:buNone/>
            </a:pPr>
            <a:endParaRPr lang="en-US" sz="1800" b="0" i="0" u="none" strike="noStrike" cap="none" dirty="0">
              <a:solidFill>
                <a:schemeClr val="dk1"/>
              </a:solidFill>
              <a:latin typeface="+mn-lt"/>
              <a:ea typeface="Calibri"/>
              <a:cs typeface="Calibri"/>
              <a:sym typeface="Calibri"/>
            </a:endParaRPr>
          </a:p>
          <a:p>
            <a:pPr marL="0" indent="0">
              <a:spcBef>
                <a:spcPts val="740"/>
              </a:spcBef>
              <a:buSzPts val="2400"/>
              <a:buNone/>
            </a:pPr>
            <a:r>
              <a:rPr lang="en-US" sz="1800" b="0" i="0" u="none" strike="noStrike" cap="none" dirty="0">
                <a:solidFill>
                  <a:schemeClr val="dk1"/>
                </a:solidFill>
                <a:latin typeface="+mn-lt"/>
                <a:ea typeface="Calibri"/>
                <a:cs typeface="Calibri"/>
                <a:sym typeface="Calibri"/>
              </a:rPr>
              <a:t>copy-modify- merge model allows concurrent modifications to the same file, </a:t>
            </a:r>
          </a:p>
          <a:p>
            <a:pPr marL="0" indent="0">
              <a:lnSpc>
                <a:spcPct val="100000"/>
              </a:lnSpc>
              <a:spcBef>
                <a:spcPts val="740"/>
              </a:spcBef>
              <a:buSzPts val="1600"/>
              <a:buNone/>
            </a:pPr>
            <a:r>
              <a:rPr lang="en-US" sz="1800" b="0" i="0" u="none" strike="noStrike" cap="none" dirty="0">
                <a:solidFill>
                  <a:schemeClr val="dk1"/>
                </a:solidFill>
                <a:latin typeface="+mn-lt"/>
                <a:ea typeface="Calibri"/>
                <a:cs typeface="Calibri"/>
                <a:sym typeface="Calibri"/>
              </a:rPr>
              <a:t>as a result, there are revisions that are only the merges of </a:t>
            </a:r>
            <a:r>
              <a:rPr lang="en-US" sz="1800" b="1" i="0" u="none" strike="noStrike" cap="none" dirty="0">
                <a:solidFill>
                  <a:schemeClr val="dk1"/>
                </a:solidFill>
                <a:latin typeface="+mn-lt"/>
                <a:ea typeface="Calibri"/>
                <a:cs typeface="Calibri"/>
                <a:sym typeface="Calibri"/>
              </a:rPr>
              <a:t>concurrent modifications</a:t>
            </a:r>
            <a:r>
              <a:rPr lang="en-US" sz="1800" b="0" i="0" u="none" strike="noStrike" cap="none" dirty="0">
                <a:solidFill>
                  <a:schemeClr val="dk1"/>
                </a:solidFill>
                <a:latin typeface="+mn-lt"/>
                <a:ea typeface="Calibri"/>
                <a:cs typeface="Calibri"/>
                <a:sym typeface="Calibri"/>
              </a:rPr>
              <a:t>. </a:t>
            </a:r>
            <a:endParaRPr lang="en-US" sz="1800" dirty="0">
              <a:latin typeface="+mn-lt"/>
            </a:endParaRPr>
          </a:p>
        </p:txBody>
      </p:sp>
      <p:sp>
        <p:nvSpPr>
          <p:cNvPr id="2" name="Flowchart: Process 1">
            <a:extLst>
              <a:ext uri="{FF2B5EF4-FFF2-40B4-BE49-F238E27FC236}">
                <a16:creationId xmlns:a16="http://schemas.microsoft.com/office/drawing/2014/main" id="{F8A64817-2349-B9BD-6E6F-5DCE229AE10C}"/>
              </a:ext>
            </a:extLst>
          </p:cNvPr>
          <p:cNvSpPr/>
          <p:nvPr/>
        </p:nvSpPr>
        <p:spPr>
          <a:xfrm>
            <a:off x="885427" y="1877005"/>
            <a:ext cx="2865559" cy="559843"/>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800" b="0" i="0" u="none" strike="noStrike" cap="none" dirty="0">
                <a:solidFill>
                  <a:schemeClr val="lt1"/>
                </a:solidFill>
                <a:ea typeface="+mn-ea"/>
                <a:cs typeface="+mn-cs"/>
                <a:sym typeface="Arial"/>
              </a:rPr>
              <a:t>4) Two versioning models</a:t>
            </a:r>
            <a:endParaRPr lang="en-US" sz="1800" dirty="0"/>
          </a:p>
        </p:txBody>
      </p:sp>
      <p:sp>
        <p:nvSpPr>
          <p:cNvPr id="3" name="Flowchart: Process 2">
            <a:extLst>
              <a:ext uri="{FF2B5EF4-FFF2-40B4-BE49-F238E27FC236}">
                <a16:creationId xmlns:a16="http://schemas.microsoft.com/office/drawing/2014/main" id="{4CEF77DF-4BE9-D47B-C1B6-1BD0F28248E0}"/>
              </a:ext>
            </a:extLst>
          </p:cNvPr>
          <p:cNvSpPr/>
          <p:nvPr/>
        </p:nvSpPr>
        <p:spPr>
          <a:xfrm>
            <a:off x="25463" y="5216302"/>
            <a:ext cx="4654105" cy="658261"/>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spcAft>
                <a:spcPts val="600"/>
              </a:spcAft>
            </a:pPr>
            <a:r>
              <a:rPr lang="en-US" sz="1800" b="0" i="0" u="none" strike="noStrike" cap="none" dirty="0">
                <a:solidFill>
                  <a:schemeClr val="lt1"/>
                </a:solidFill>
                <a:latin typeface="Abadi" panose="020B0604020104020204" pitchFamily="34" charset="0"/>
                <a:ea typeface="+mn-ea"/>
                <a:cs typeface="+mn-cs"/>
                <a:sym typeface="Arial"/>
              </a:rPr>
              <a:t>A merge revision in the SCM has two parent revisions.</a:t>
            </a:r>
            <a:endParaRPr lang="en-US" sz="1800" dirty="0"/>
          </a:p>
        </p:txBody>
      </p:sp>
      <p:sp>
        <p:nvSpPr>
          <p:cNvPr id="4" name="Google Shape;153;p9">
            <a:extLst>
              <a:ext uri="{FF2B5EF4-FFF2-40B4-BE49-F238E27FC236}">
                <a16:creationId xmlns:a16="http://schemas.microsoft.com/office/drawing/2014/main" id="{C3B0A446-9AAF-2DAE-5EBC-0D9FB78BA553}"/>
              </a:ext>
            </a:extLst>
          </p:cNvPr>
          <p:cNvSpPr txBox="1">
            <a:spLocks/>
          </p:cNvSpPr>
          <p:nvPr/>
        </p:nvSpPr>
        <p:spPr>
          <a:xfrm>
            <a:off x="4977095" y="2539140"/>
            <a:ext cx="6874935" cy="247541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84582" indent="0">
              <a:spcBef>
                <a:spcPts val="740"/>
              </a:spcBef>
              <a:buNone/>
            </a:pPr>
            <a:r>
              <a:rPr lang="en-US" sz="1800" b="0" i="0" u="none" strike="noStrike" cap="none" dirty="0">
                <a:solidFill>
                  <a:schemeClr val="dk1"/>
                </a:solidFill>
                <a:latin typeface="+mn-lt"/>
                <a:ea typeface="Calibri"/>
                <a:cs typeface="Calibri"/>
                <a:sym typeface="Calibri"/>
              </a:rPr>
              <a:t>Distributed SCMs like git </a:t>
            </a:r>
            <a:r>
              <a:rPr lang="en-US" sz="1800" b="1" i="0" u="none" strike="noStrike" cap="none" dirty="0">
                <a:solidFill>
                  <a:schemeClr val="dk1"/>
                </a:solidFill>
                <a:latin typeface="+mn-lt"/>
                <a:ea typeface="Calibri"/>
                <a:cs typeface="Calibri"/>
                <a:sym typeface="Calibri"/>
              </a:rPr>
              <a:t>record all revisions locally </a:t>
            </a:r>
            <a:r>
              <a:rPr lang="en-US" sz="1800" b="0" i="0" u="none" strike="noStrike" cap="none" dirty="0">
                <a:solidFill>
                  <a:schemeClr val="dk1"/>
                </a:solidFill>
                <a:latin typeface="+mn-lt"/>
                <a:ea typeface="Calibri"/>
                <a:cs typeface="Calibri"/>
                <a:sym typeface="Calibri"/>
              </a:rPr>
              <a:t>until the developer pushes the local revisions to the central repository. The recorded </a:t>
            </a:r>
            <a:r>
              <a:rPr lang="en-US" sz="1800" b="1" i="0" u="none" strike="noStrike" cap="none" dirty="0">
                <a:solidFill>
                  <a:schemeClr val="dk1"/>
                </a:solidFill>
                <a:latin typeface="+mn-lt"/>
                <a:ea typeface="Calibri"/>
                <a:cs typeface="Calibri"/>
                <a:sym typeface="Calibri"/>
              </a:rPr>
              <a:t>commit time is the local time </a:t>
            </a:r>
            <a:r>
              <a:rPr lang="en-US" sz="1800" b="0" i="0" u="none" strike="noStrike" cap="none" dirty="0">
                <a:solidFill>
                  <a:schemeClr val="dk1"/>
                </a:solidFill>
                <a:latin typeface="+mn-lt"/>
                <a:ea typeface="Calibri"/>
                <a:cs typeface="Calibri"/>
                <a:sym typeface="Calibri"/>
              </a:rPr>
              <a:t>of the committer, which may lead a wrong order of successive changes</a:t>
            </a:r>
          </a:p>
          <a:p>
            <a:pPr marL="338328" indent="-253746">
              <a:spcBef>
                <a:spcPts val="740"/>
              </a:spcBef>
            </a:pPr>
            <a:r>
              <a:rPr lang="en-US" sz="1800" b="0" i="0" u="none" strike="noStrike" cap="none" dirty="0" err="1">
                <a:solidFill>
                  <a:schemeClr val="dk1"/>
                </a:solidFill>
                <a:latin typeface="+mn-lt"/>
                <a:ea typeface="Calibri"/>
                <a:cs typeface="Calibri"/>
                <a:sym typeface="Calibri"/>
              </a:rPr>
              <a:t>Trautsch</a:t>
            </a:r>
            <a:r>
              <a:rPr lang="en-US" sz="1800" b="0" i="0" u="none" strike="noStrike" cap="none" dirty="0">
                <a:solidFill>
                  <a:schemeClr val="dk1"/>
                </a:solidFill>
                <a:latin typeface="+mn-lt"/>
                <a:ea typeface="Calibri"/>
                <a:cs typeface="Calibri"/>
                <a:sym typeface="Calibri"/>
              </a:rPr>
              <a:t> et al. [75] observe this phenomenon and build a Directed Acyclic Graph of commits to “gain improvements with regard to changes on different branches.” However, they do not provide a comparison to the case of identifying parent commits via commit time.</a:t>
            </a:r>
          </a:p>
          <a:p>
            <a:pPr marL="338328" indent="-253746">
              <a:spcBef>
                <a:spcPts val="740"/>
              </a:spcBef>
            </a:pPr>
            <a:r>
              <a:rPr lang="en-US" sz="1800" b="0" i="0" u="none" strike="noStrike" cap="none" dirty="0">
                <a:solidFill>
                  <a:schemeClr val="dk1"/>
                </a:solidFill>
                <a:latin typeface="+mn-lt"/>
                <a:ea typeface="Calibri"/>
                <a:cs typeface="Calibri"/>
                <a:sym typeface="Calibri"/>
              </a:rPr>
              <a:t>Tan et al. [69], Cabral et al. [7], and Tabassum et al. [68] study online JIT-SDP and only leverage the chronological order of software changes</a:t>
            </a:r>
            <a:endParaRPr lang="en-US" sz="1800" dirty="0">
              <a:latin typeface="+mn-lt"/>
            </a:endParaRPr>
          </a:p>
        </p:txBody>
      </p:sp>
      <p:sp>
        <p:nvSpPr>
          <p:cNvPr id="5" name="Flowchart: Process 4">
            <a:extLst>
              <a:ext uri="{FF2B5EF4-FFF2-40B4-BE49-F238E27FC236}">
                <a16:creationId xmlns:a16="http://schemas.microsoft.com/office/drawing/2014/main" id="{2FE2CD30-D4D3-452C-74C5-2FE32D6B3B87}"/>
              </a:ext>
            </a:extLst>
          </p:cNvPr>
          <p:cNvSpPr/>
          <p:nvPr/>
        </p:nvSpPr>
        <p:spPr>
          <a:xfrm>
            <a:off x="4971447" y="1849954"/>
            <a:ext cx="7186843" cy="586894"/>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800" b="0" i="0" u="none" strike="noStrike" cap="none" dirty="0">
                <a:solidFill>
                  <a:schemeClr val="lt1"/>
                </a:solidFill>
                <a:ea typeface="+mn-ea"/>
                <a:cs typeface="+mn-cs"/>
                <a:sym typeface="Arial"/>
              </a:rPr>
              <a:t>5) Anonymous development branches are common in git repositories</a:t>
            </a:r>
            <a:endParaRPr lang="en-US" sz="1800" dirty="0"/>
          </a:p>
        </p:txBody>
      </p:sp>
      <p:sp>
        <p:nvSpPr>
          <p:cNvPr id="6" name="Flowchart: Process 5">
            <a:extLst>
              <a:ext uri="{FF2B5EF4-FFF2-40B4-BE49-F238E27FC236}">
                <a16:creationId xmlns:a16="http://schemas.microsoft.com/office/drawing/2014/main" id="{3927FF7A-A740-E7FE-48D9-D339C060AAEE}"/>
              </a:ext>
            </a:extLst>
          </p:cNvPr>
          <p:cNvSpPr/>
          <p:nvPr/>
        </p:nvSpPr>
        <p:spPr>
          <a:xfrm>
            <a:off x="4969991" y="5014555"/>
            <a:ext cx="7081331" cy="919254"/>
          </a:xfrm>
          <a:prstGeom prst="flowChartProcess">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spcAft>
                <a:spcPts val="600"/>
              </a:spcAft>
            </a:pPr>
            <a:r>
              <a:rPr lang="en-US" sz="1800" b="0" i="0" u="none" strike="noStrike" cap="none" dirty="0">
                <a:solidFill>
                  <a:schemeClr val="lt1"/>
                </a:solidFill>
                <a:latin typeface="Abadi" panose="020B0604020104020204" pitchFamily="34" charset="0"/>
                <a:ea typeface="+mn-ea"/>
                <a:cs typeface="+mn-cs"/>
                <a:sym typeface="Arial"/>
              </a:rPr>
              <a:t>How we should best determine the order of software changes and how the order impacts on defect prediction remains an open research question.</a:t>
            </a:r>
            <a:endParaRPr lang="en-US" sz="1800" dirty="0"/>
          </a:p>
        </p:txBody>
      </p:sp>
      <p:cxnSp>
        <p:nvCxnSpPr>
          <p:cNvPr id="8" name="Straight Connector 7">
            <a:extLst>
              <a:ext uri="{FF2B5EF4-FFF2-40B4-BE49-F238E27FC236}">
                <a16:creationId xmlns:a16="http://schemas.microsoft.com/office/drawing/2014/main" id="{416D3830-35DE-1275-D258-EC08DAFFF7D5}"/>
              </a:ext>
            </a:extLst>
          </p:cNvPr>
          <p:cNvCxnSpPr>
            <a:cxnSpLocks/>
          </p:cNvCxnSpPr>
          <p:nvPr/>
        </p:nvCxnSpPr>
        <p:spPr>
          <a:xfrm>
            <a:off x="4824779" y="1825625"/>
            <a:ext cx="0" cy="4351338"/>
          </a:xfrm>
          <a:prstGeom prst="line">
            <a:avLst/>
          </a:prstGeom>
          <a:ln w="57150"/>
        </p:spPr>
        <p:style>
          <a:lnRef idx="1">
            <a:schemeClr val="accent3"/>
          </a:lnRef>
          <a:fillRef idx="0">
            <a:schemeClr val="accent3"/>
          </a:fillRef>
          <a:effectRef idx="0">
            <a:schemeClr val="accent3"/>
          </a:effectRef>
          <a:fontRef idx="minor">
            <a:schemeClr val="tx1"/>
          </a:fontRef>
        </p:style>
      </p:cxnSp>
      <p:graphicFrame>
        <p:nvGraphicFramePr>
          <p:cNvPr id="10" name="Table 6">
            <a:extLst>
              <a:ext uri="{FF2B5EF4-FFF2-40B4-BE49-F238E27FC236}">
                <a16:creationId xmlns:a16="http://schemas.microsoft.com/office/drawing/2014/main" id="{B468128A-CF65-D73E-2AC7-3C89F99A65DF}"/>
              </a:ext>
            </a:extLst>
          </p:cNvPr>
          <p:cNvGraphicFramePr>
            <a:graphicFrameLocks noGrp="1"/>
          </p:cNvGraphicFramePr>
          <p:nvPr>
            <p:extLst>
              <p:ext uri="{D42A27DB-BD31-4B8C-83A1-F6EECF244321}">
                <p14:modId xmlns:p14="http://schemas.microsoft.com/office/powerpoint/2010/main" val="3526747792"/>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SCM model and version</a:t>
                      </a:r>
                      <a:endParaRPr lang="en-US" dirty="0"/>
                    </a:p>
                  </a:txBody>
                  <a:tcPr>
                    <a:solidFill>
                      <a:srgbClr val="7030A0"/>
                    </a:solidFill>
                  </a:tcPr>
                </a:tc>
                <a:tc>
                  <a:txBody>
                    <a:bodyPr/>
                    <a:lstStyle/>
                    <a:p>
                      <a:pPr algn="ctr"/>
                      <a:r>
                        <a:rPr lang="en-US" sz="1400" dirty="0">
                          <a:latin typeface="+mn-lt"/>
                        </a:rPr>
                        <a:t>Data Source: Summary -&gt; Commit Message</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796868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15A57A7F-2669-FD9E-D712-8EAABF6C77D4}"/>
              </a:ext>
            </a:extLst>
          </p:cNvPr>
          <p:cNvSpPr/>
          <p:nvPr/>
        </p:nvSpPr>
        <p:spPr>
          <a:xfrm>
            <a:off x="3833445" y="4466492"/>
            <a:ext cx="1969477" cy="78544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37" name="Google Shape;137;p7"/>
          <p:cNvSpPr txBox="1"/>
          <p:nvPr/>
        </p:nvSpPr>
        <p:spPr>
          <a:xfrm>
            <a:off x="638881" y="417576"/>
            <a:ext cx="10909640" cy="1249394"/>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chemeClr val="dk1"/>
              </a:buClr>
              <a:buSzPts val="4400"/>
            </a:pPr>
            <a:r>
              <a:rPr lang="en-US" sz="6600" kern="1200" dirty="0">
                <a:solidFill>
                  <a:schemeClr val="tx1"/>
                </a:solidFill>
                <a:latin typeface="+mj-lt"/>
                <a:ea typeface="+mj-ea"/>
                <a:cs typeface="+mj-cs"/>
                <a:sym typeface="Calibri"/>
              </a:rPr>
              <a:t>Data Sources</a:t>
            </a:r>
          </a:p>
        </p:txBody>
      </p:sp>
      <p:pic>
        <p:nvPicPr>
          <p:cNvPr id="138" name="Google Shape;138;p7"/>
          <p:cNvPicPr preferRelativeResize="0"/>
          <p:nvPr/>
        </p:nvPicPr>
        <p:blipFill rotWithShape="1">
          <a:blip r:embed="rId3"/>
          <a:stretch/>
        </p:blipFill>
        <p:spPr>
          <a:xfrm>
            <a:off x="805704" y="2218483"/>
            <a:ext cx="10548096" cy="3586353"/>
          </a:xfrm>
          <a:prstGeom prst="rect">
            <a:avLst/>
          </a:prstGeom>
          <a:noFill/>
        </p:spPr>
      </p:pic>
      <p:sp>
        <p:nvSpPr>
          <p:cNvPr id="136" name="Google Shape;136;p7"/>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20</a:t>
            </a:fld>
            <a:endParaRPr lang="en-US" kern="1200">
              <a:solidFill>
                <a:schemeClr val="tx1">
                  <a:tint val="75000"/>
                </a:schemeClr>
              </a:solidFill>
              <a:latin typeface="+mn-lt"/>
              <a:ea typeface="+mn-ea"/>
              <a:cs typeface="+mn-cs"/>
            </a:endParaRPr>
          </a:p>
        </p:txBody>
      </p:sp>
      <p:graphicFrame>
        <p:nvGraphicFramePr>
          <p:cNvPr id="5" name="Table 6">
            <a:extLst>
              <a:ext uri="{FF2B5EF4-FFF2-40B4-BE49-F238E27FC236}">
                <a16:creationId xmlns:a16="http://schemas.microsoft.com/office/drawing/2014/main" id="{351D4BE1-BA2A-E244-5AE1-44E91BA92C24}"/>
              </a:ext>
            </a:extLst>
          </p:cNvPr>
          <p:cNvGraphicFramePr>
            <a:graphicFrameLocks noGrp="1"/>
          </p:cNvGraphicFramePr>
          <p:nvPr>
            <p:extLst>
              <p:ext uri="{D42A27DB-BD31-4B8C-83A1-F6EECF244321}">
                <p14:modId xmlns:p14="http://schemas.microsoft.com/office/powerpoint/2010/main" val="29577485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Commit Message</a:t>
                      </a:r>
                      <a:endParaRPr lang="en-US" dirty="0"/>
                    </a:p>
                  </a:txBody>
                  <a:tcPr>
                    <a:solidFill>
                      <a:srgbClr val="7030A0"/>
                    </a:solidFill>
                  </a:tcPr>
                </a:tc>
                <a:tc>
                  <a:txBody>
                    <a:bodyPr/>
                    <a:lstStyle/>
                    <a:p>
                      <a:pPr algn="ctr"/>
                      <a:r>
                        <a:rPr lang="en-US" sz="1400" dirty="0">
                          <a:latin typeface="+mn-lt"/>
                        </a:rPr>
                        <a:t>Data Source: Commit Message Example</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449304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7"/>
        <p:cNvGrpSpPr/>
        <p:nvPr/>
      </p:nvGrpSpPr>
      <p:grpSpPr>
        <a:xfrm>
          <a:off x="0" y="0"/>
          <a:ext cx="0" cy="0"/>
          <a:chOff x="0" y="0"/>
          <a:chExt cx="0" cy="0"/>
        </a:xfrm>
      </p:grpSpPr>
      <p:sp useBgFill="1">
        <p:nvSpPr>
          <p:cNvPr id="164" name="Rectangle 16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6" name="Rectangle 16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2" name="Rectangle 17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Google Shape;159;p10"/>
          <p:cNvSpPr txBox="1"/>
          <p:nvPr/>
        </p:nvSpPr>
        <p:spPr>
          <a:xfrm>
            <a:off x="699714" y="353160"/>
            <a:ext cx="7091300" cy="898581"/>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400"/>
            </a:pPr>
            <a:r>
              <a:rPr lang="en-US" sz="3700" kern="1200">
                <a:solidFill>
                  <a:srgbClr val="FFFFFF"/>
                </a:solidFill>
                <a:latin typeface="+mj-lt"/>
                <a:ea typeface="+mj-ea"/>
                <a:cs typeface="+mj-cs"/>
                <a:sym typeface="Calibri"/>
              </a:rPr>
              <a:t>Data Sources: Commit Message</a:t>
            </a:r>
          </a:p>
        </p:txBody>
      </p:sp>
      <p:pic>
        <p:nvPicPr>
          <p:cNvPr id="10" name="Picture 9">
            <a:extLst>
              <a:ext uri="{FF2B5EF4-FFF2-40B4-BE49-F238E27FC236}">
                <a16:creationId xmlns:a16="http://schemas.microsoft.com/office/drawing/2014/main" id="{4870203B-8484-BF29-D465-C3B1F8102F1B}"/>
              </a:ext>
            </a:extLst>
          </p:cNvPr>
          <p:cNvPicPr>
            <a:picLocks noChangeAspect="1"/>
          </p:cNvPicPr>
          <p:nvPr/>
        </p:nvPicPr>
        <p:blipFill>
          <a:blip r:embed="rId3"/>
          <a:stretch>
            <a:fillRect/>
          </a:stretch>
        </p:blipFill>
        <p:spPr>
          <a:xfrm>
            <a:off x="-1" y="1928621"/>
            <a:ext cx="6447351" cy="3288148"/>
          </a:xfrm>
          <a:prstGeom prst="rect">
            <a:avLst/>
          </a:prstGeom>
        </p:spPr>
      </p:pic>
      <p:pic>
        <p:nvPicPr>
          <p:cNvPr id="12" name="Picture 11">
            <a:extLst>
              <a:ext uri="{FF2B5EF4-FFF2-40B4-BE49-F238E27FC236}">
                <a16:creationId xmlns:a16="http://schemas.microsoft.com/office/drawing/2014/main" id="{105FEBBA-AF83-64EE-4A96-46F578F5E0A5}"/>
              </a:ext>
            </a:extLst>
          </p:cNvPr>
          <p:cNvPicPr>
            <a:picLocks noChangeAspect="1"/>
          </p:cNvPicPr>
          <p:nvPr/>
        </p:nvPicPr>
        <p:blipFill>
          <a:blip r:embed="rId4"/>
          <a:stretch>
            <a:fillRect/>
          </a:stretch>
        </p:blipFill>
        <p:spPr>
          <a:xfrm>
            <a:off x="6135420" y="1892131"/>
            <a:ext cx="6204474" cy="3427971"/>
          </a:xfrm>
          <a:prstGeom prst="rect">
            <a:avLst/>
          </a:prstGeom>
        </p:spPr>
      </p:pic>
      <p:sp>
        <p:nvSpPr>
          <p:cNvPr id="158" name="Google Shape;158;p10"/>
          <p:cNvSpPr txBox="1">
            <a:spLocks noGrp="1"/>
          </p:cNvSpPr>
          <p:nvPr>
            <p:ph type="sldNum" idx="12"/>
          </p:nvPr>
        </p:nvSpPr>
        <p:spPr>
          <a:xfrm>
            <a:off x="11704320" y="6431079"/>
            <a:ext cx="448056"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sz="1100" kern="1200">
                <a:solidFill>
                  <a:schemeClr val="tx1">
                    <a:lumMod val="50000"/>
                    <a:lumOff val="50000"/>
                  </a:schemeClr>
                </a:solidFill>
                <a:latin typeface="+mn-lt"/>
                <a:ea typeface="+mn-ea"/>
                <a:cs typeface="+mn-cs"/>
              </a:rPr>
              <a:pPr lvl="0" indent="0">
                <a:spcBef>
                  <a:spcPts val="0"/>
                </a:spcBef>
                <a:spcAft>
                  <a:spcPts val="600"/>
                </a:spcAft>
                <a:buNone/>
              </a:pPr>
              <a:t>21</a:t>
            </a:fld>
            <a:endParaRPr lang="en-US" sz="1100" kern="1200">
              <a:solidFill>
                <a:schemeClr val="tx1">
                  <a:lumMod val="50000"/>
                  <a:lumOff val="50000"/>
                </a:schemeClr>
              </a:solidFill>
              <a:latin typeface="+mn-lt"/>
              <a:ea typeface="+mn-ea"/>
              <a:cs typeface="+mn-cs"/>
            </a:endParaRPr>
          </a:p>
        </p:txBody>
      </p:sp>
      <p:sp>
        <p:nvSpPr>
          <p:cNvPr id="13" name="TextBox 12">
            <a:extLst>
              <a:ext uri="{FF2B5EF4-FFF2-40B4-BE49-F238E27FC236}">
                <a16:creationId xmlns:a16="http://schemas.microsoft.com/office/drawing/2014/main" id="{8C7DF1BB-D348-2BBE-3429-6182B0F42202}"/>
              </a:ext>
            </a:extLst>
          </p:cNvPr>
          <p:cNvSpPr txBox="1"/>
          <p:nvPr/>
        </p:nvSpPr>
        <p:spPr>
          <a:xfrm>
            <a:off x="2351865" y="5917921"/>
            <a:ext cx="6560091" cy="461665"/>
          </a:xfrm>
          <a:prstGeom prst="rect">
            <a:avLst/>
          </a:prstGeom>
          <a:noFill/>
        </p:spPr>
        <p:txBody>
          <a:bodyPr wrap="square" rtlCol="0">
            <a:spAutoFit/>
          </a:bodyPr>
          <a:lstStyle/>
          <a:p>
            <a:r>
              <a:rPr lang="en-US" sz="1200" dirty="0">
                <a:hlinkClick r:id="rId5"/>
              </a:rPr>
              <a:t>https://github.com/FFmpeg/FFmpeg/commit/bdc4553a7726d779e64f734b8cacfd5b9e293fb7</a:t>
            </a:r>
            <a:endParaRPr lang="en-US" sz="1200" dirty="0"/>
          </a:p>
          <a:p>
            <a:r>
              <a:rPr lang="en-US" sz="1200" dirty="0">
                <a:hlinkClick r:id="rId6"/>
              </a:rPr>
              <a:t>https://github.com/FFmpeg/FFmpeg/commit/bd3a03db9aef72ee36a7cc964171e9f52967f4bc</a:t>
            </a:r>
            <a:r>
              <a:rPr lang="en-US" sz="1200" dirty="0"/>
              <a:t> </a:t>
            </a:r>
          </a:p>
        </p:txBody>
      </p:sp>
      <p:graphicFrame>
        <p:nvGraphicFramePr>
          <p:cNvPr id="14" name="Table 6">
            <a:extLst>
              <a:ext uri="{FF2B5EF4-FFF2-40B4-BE49-F238E27FC236}">
                <a16:creationId xmlns:a16="http://schemas.microsoft.com/office/drawing/2014/main" id="{B8D85915-DDBA-B570-AB2D-FB88ACACDD6B}"/>
              </a:ext>
            </a:extLst>
          </p:cNvPr>
          <p:cNvGraphicFramePr>
            <a:graphicFrameLocks noGrp="1"/>
          </p:cNvGraphicFramePr>
          <p:nvPr>
            <p:extLst>
              <p:ext uri="{D42A27DB-BD31-4B8C-83A1-F6EECF244321}">
                <p14:modId xmlns:p14="http://schemas.microsoft.com/office/powerpoint/2010/main" val="190905552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Commit Message Example</a:t>
                      </a:r>
                      <a:endParaRPr lang="en-US" dirty="0"/>
                    </a:p>
                  </a:txBody>
                  <a:tcPr>
                    <a:solidFill>
                      <a:srgbClr val="7030A0"/>
                    </a:solidFill>
                  </a:tcPr>
                </a:tc>
                <a:tc>
                  <a:txBody>
                    <a:bodyPr/>
                    <a:lstStyle/>
                    <a:p>
                      <a:pPr algn="ctr"/>
                      <a:r>
                        <a:rPr lang="en-US" sz="1400" dirty="0">
                          <a:latin typeface="+mn-lt"/>
                        </a:rPr>
                        <a:t>Data Source: Commit Message Review</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7"/>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9" name="Google Shape;159;p10"/>
          <p:cNvSpPr txBox="1"/>
          <p:nvPr/>
        </p:nvSpPr>
        <p:spPr>
          <a:xfrm>
            <a:off x="630936" y="457200"/>
            <a:ext cx="4343400" cy="1929384"/>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400"/>
            </a:pPr>
            <a:r>
              <a:rPr lang="en-US" sz="4100" kern="1200">
                <a:solidFill>
                  <a:schemeClr val="tx1"/>
                </a:solidFill>
                <a:latin typeface="+mj-lt"/>
                <a:ea typeface="+mj-ea"/>
                <a:cs typeface="+mj-cs"/>
                <a:sym typeface="Calibri"/>
              </a:rPr>
              <a:t>Data Sources: Commit Message</a:t>
            </a:r>
          </a:p>
        </p:txBody>
      </p:sp>
      <p:sp>
        <p:nvSpPr>
          <p:cNvPr id="1035"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A7ED6FC-E363-CCB4-96B8-16D6DC94CA11}"/>
              </a:ext>
            </a:extLst>
          </p:cNvPr>
          <p:cNvSpPr txBox="1"/>
          <p:nvPr/>
        </p:nvSpPr>
        <p:spPr>
          <a:xfrm>
            <a:off x="171555" y="2199132"/>
            <a:ext cx="6007608" cy="4352260"/>
          </a:xfrm>
          <a:prstGeom prst="rect">
            <a:avLst/>
          </a:prstGeom>
        </p:spPr>
        <p:txBody>
          <a:bodyPr vert="horz" lIns="91440" tIns="45720" rIns="91440" bIns="45720" rtlCol="0" anchor="ctr">
            <a:noAutofit/>
          </a:bodyPr>
          <a:lstStyle/>
          <a:p>
            <a:pPr indent="-228600">
              <a:lnSpc>
                <a:spcPct val="90000"/>
              </a:lnSpc>
              <a:spcAft>
                <a:spcPts val="600"/>
              </a:spcAft>
              <a:buFont typeface="Arial" panose="020B0604020202020204" pitchFamily="34" charset="0"/>
              <a:buChar char="•"/>
            </a:pPr>
            <a:r>
              <a:rPr lang="en-US" sz="1600" b="0" i="0" u="none" strike="noStrike" kern="1200" baseline="0" dirty="0">
                <a:solidFill>
                  <a:schemeClr val="tx1"/>
                </a:solidFill>
                <a:latin typeface="+mn-lt"/>
                <a:ea typeface="+mn-ea"/>
                <a:cs typeface="+mn-cs"/>
              </a:rPr>
              <a:t>Barnett et al. [3] propose a metric that measures the level of detail in commit messages. </a:t>
            </a:r>
          </a:p>
          <a:p>
            <a:pPr>
              <a:lnSpc>
                <a:spcPct val="90000"/>
              </a:lnSpc>
              <a:spcAft>
                <a:spcPts val="600"/>
              </a:spcAft>
            </a:pPr>
            <a:r>
              <a:rPr lang="en-US" sz="1600" b="0" i="0" u="none" strike="noStrike" kern="1200" baseline="0" dirty="0">
                <a:solidFill>
                  <a:schemeClr val="tx1"/>
                </a:solidFill>
                <a:latin typeface="+mn-lt"/>
                <a:ea typeface="+mn-ea"/>
                <a:cs typeface="+mn-cs"/>
              </a:rPr>
              <a:t>They demonstrate that adding the metric can significantly </a:t>
            </a:r>
            <a:r>
              <a:rPr lang="en-US" sz="1600" b="1" i="0" u="none" strike="noStrike" kern="1200" baseline="0" dirty="0">
                <a:solidFill>
                  <a:schemeClr val="tx1"/>
                </a:solidFill>
                <a:latin typeface="+mn-lt"/>
                <a:ea typeface="+mn-ea"/>
                <a:cs typeface="+mn-cs"/>
              </a:rPr>
              <a:t>improve AUC-ROC </a:t>
            </a:r>
            <a:r>
              <a:rPr lang="en-US" sz="1600" b="0" i="0" u="none" strike="noStrike" kern="1200" baseline="0" dirty="0">
                <a:solidFill>
                  <a:schemeClr val="tx1"/>
                </a:solidFill>
                <a:latin typeface="+mn-lt"/>
                <a:ea typeface="+mn-ea"/>
                <a:cs typeface="+mn-cs"/>
              </a:rPr>
              <a:t>and </a:t>
            </a:r>
            <a:r>
              <a:rPr lang="en-US" sz="1600" b="1" i="0" u="none" strike="noStrike" kern="1200" baseline="0" dirty="0">
                <a:solidFill>
                  <a:schemeClr val="tx1"/>
                </a:solidFill>
                <a:latin typeface="+mn-lt"/>
                <a:ea typeface="+mn-ea"/>
                <a:cs typeface="+mn-cs"/>
              </a:rPr>
              <a:t>explanatory power </a:t>
            </a:r>
            <a:r>
              <a:rPr lang="en-US" sz="1600" b="0" i="0" u="none" strike="noStrike" kern="1200" baseline="0" dirty="0">
                <a:solidFill>
                  <a:schemeClr val="tx1"/>
                </a:solidFill>
                <a:latin typeface="+mn-lt"/>
                <a:ea typeface="+mn-ea"/>
                <a:cs typeface="+mn-cs"/>
              </a:rPr>
              <a:t>of a JIT-SDP model with change-based metrics.  Hoang et al. [24] also observe that their deep neural network JIT-SDP model has improved AUC-ROC when adding commit messages to the features. </a:t>
            </a:r>
          </a:p>
          <a:p>
            <a:pPr indent="-228600">
              <a:lnSpc>
                <a:spcPct val="90000"/>
              </a:lnSpc>
              <a:spcAft>
                <a:spcPts val="600"/>
              </a:spcAft>
              <a:buFont typeface="Arial" panose="020B0604020202020204" pitchFamily="34" charset="0"/>
              <a:buChar char="•"/>
            </a:pPr>
            <a:endParaRPr lang="en-US" sz="1600" b="0" i="0" u="none" strike="noStrike" kern="1200" baseline="0" dirty="0">
              <a:solidFill>
                <a:schemeClr val="tx1"/>
              </a:solidFill>
              <a:latin typeface="+mn-lt"/>
              <a:ea typeface="+mn-ea"/>
              <a:cs typeface="+mn-cs"/>
            </a:endParaRPr>
          </a:p>
          <a:p>
            <a:pPr indent="-228600">
              <a:lnSpc>
                <a:spcPct val="90000"/>
              </a:lnSpc>
              <a:spcAft>
                <a:spcPts val="600"/>
              </a:spcAft>
              <a:buFont typeface="Arial" panose="020B0604020202020204" pitchFamily="34" charset="0"/>
              <a:buChar char="•"/>
            </a:pPr>
            <a:r>
              <a:rPr lang="en-US" sz="1600" b="0" i="0" u="none" strike="noStrike" kern="1200" baseline="0" dirty="0">
                <a:solidFill>
                  <a:schemeClr val="tx1"/>
                </a:solidFill>
                <a:latin typeface="+mn-lt"/>
                <a:ea typeface="+mn-ea"/>
                <a:cs typeface="+mn-cs"/>
              </a:rPr>
              <a:t>In addition, commit messages may also be useful </a:t>
            </a:r>
            <a:r>
              <a:rPr lang="en-US" sz="1600" b="1" i="0" u="none" strike="noStrike" kern="1200" baseline="0" dirty="0">
                <a:solidFill>
                  <a:schemeClr val="tx1"/>
                </a:solidFill>
                <a:latin typeface="+mn-lt"/>
                <a:ea typeface="+mn-ea"/>
                <a:cs typeface="+mn-cs"/>
              </a:rPr>
              <a:t>to reduce noise in the software change data</a:t>
            </a:r>
            <a:r>
              <a:rPr lang="en-US" sz="1600" b="0" i="0" u="none" strike="noStrike" kern="1200" baseline="0" dirty="0">
                <a:solidFill>
                  <a:schemeClr val="tx1"/>
                </a:solidFill>
                <a:latin typeface="+mn-lt"/>
                <a:ea typeface="+mn-ea"/>
                <a:cs typeface="+mn-cs"/>
              </a:rPr>
              <a:t>. For instance, Herzig et al. [23] investigate tangled software changes where developers commit unrelated or loosely related code changes in a single commit transaction.</a:t>
            </a:r>
          </a:p>
          <a:p>
            <a:pPr>
              <a:lnSpc>
                <a:spcPct val="90000"/>
              </a:lnSpc>
              <a:spcAft>
                <a:spcPts val="600"/>
              </a:spcAft>
            </a:pPr>
            <a:r>
              <a:rPr lang="en-US" sz="1600" b="0" i="0" u="none" strike="noStrike" kern="1200" baseline="0" dirty="0">
                <a:solidFill>
                  <a:schemeClr val="tx1"/>
                </a:solidFill>
                <a:latin typeface="+mn-lt"/>
                <a:ea typeface="+mn-ea"/>
                <a:cs typeface="+mn-cs"/>
              </a:rPr>
              <a:t>They use commit messages to </a:t>
            </a:r>
            <a:r>
              <a:rPr lang="en-US" sz="1600" b="1" i="0" u="none" strike="noStrike" kern="1200" baseline="0" dirty="0">
                <a:solidFill>
                  <a:schemeClr val="tx1"/>
                </a:solidFill>
                <a:latin typeface="+mn-lt"/>
                <a:ea typeface="+mn-ea"/>
                <a:cs typeface="+mn-cs"/>
              </a:rPr>
              <a:t>identify potential tangled changes</a:t>
            </a:r>
            <a:r>
              <a:rPr lang="en-US" sz="1600" b="0" i="0" u="none" strike="noStrike" kern="1200" baseline="0" dirty="0">
                <a:solidFill>
                  <a:schemeClr val="tx1"/>
                </a:solidFill>
                <a:latin typeface="+mn-lt"/>
                <a:ea typeface="+mn-ea"/>
                <a:cs typeface="+mn-cs"/>
              </a:rPr>
              <a:t> and show that untangling tangled changes can result in more accurate regression-based defect prediction models.</a:t>
            </a:r>
            <a:endParaRPr lang="en-US" sz="1600" kern="1200" dirty="0">
              <a:solidFill>
                <a:schemeClr val="tx1"/>
              </a:solidFill>
              <a:latin typeface="+mn-lt"/>
              <a:ea typeface="+mn-ea"/>
              <a:cs typeface="+mn-cs"/>
            </a:endParaRPr>
          </a:p>
        </p:txBody>
      </p:sp>
      <p:pic>
        <p:nvPicPr>
          <p:cNvPr id="1026" name="Picture 2">
            <a:extLst>
              <a:ext uri="{FF2B5EF4-FFF2-40B4-BE49-F238E27FC236}">
                <a16:creationId xmlns:a16="http://schemas.microsoft.com/office/drawing/2014/main" id="{3CCA13C6-34CD-9482-780D-844D72D201C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964135" y="271609"/>
            <a:ext cx="4867872" cy="2202712"/>
          </a:xfrm>
          <a:prstGeom prst="rect">
            <a:avLst/>
          </a:prstGeom>
          <a:noFill/>
          <a:extLst>
            <a:ext uri="{909E8E84-426E-40DD-AFC4-6F175D3DCCD1}">
              <a14:hiddenFill xmlns:a14="http://schemas.microsoft.com/office/drawing/2010/main">
                <a:solidFill>
                  <a:srgbClr val="FFFFFF"/>
                </a:solidFill>
              </a14:hiddenFill>
            </a:ext>
          </a:extLst>
        </p:spPr>
      </p:pic>
      <p:sp>
        <p:nvSpPr>
          <p:cNvPr id="158" name="Google Shape;158;p10"/>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22</a:t>
            </a:fld>
            <a:endParaRPr lang="en-US" kern="1200">
              <a:solidFill>
                <a:schemeClr val="tx1">
                  <a:tint val="75000"/>
                </a:schemeClr>
              </a:solidFill>
              <a:latin typeface="+mn-lt"/>
              <a:ea typeface="+mn-ea"/>
              <a:cs typeface="+mn-cs"/>
            </a:endParaRPr>
          </a:p>
        </p:txBody>
      </p:sp>
      <p:pic>
        <p:nvPicPr>
          <p:cNvPr id="8194" name="Picture 2">
            <a:extLst>
              <a:ext uri="{FF2B5EF4-FFF2-40B4-BE49-F238E27FC236}">
                <a16:creationId xmlns:a16="http://schemas.microsoft.com/office/drawing/2014/main" id="{C68A7130-0956-AF27-EA4F-3B82B0C6FB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7559" y="2386584"/>
            <a:ext cx="3181350" cy="45339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6">
            <a:extLst>
              <a:ext uri="{FF2B5EF4-FFF2-40B4-BE49-F238E27FC236}">
                <a16:creationId xmlns:a16="http://schemas.microsoft.com/office/drawing/2014/main" id="{24435619-26AA-4F77-DF65-2A0335754E5F}"/>
              </a:ext>
            </a:extLst>
          </p:cNvPr>
          <p:cNvGraphicFramePr>
            <a:graphicFrameLocks noGrp="1"/>
          </p:cNvGraphicFramePr>
          <p:nvPr>
            <p:extLst>
              <p:ext uri="{D42A27DB-BD31-4B8C-83A1-F6EECF244321}">
                <p14:modId xmlns:p14="http://schemas.microsoft.com/office/powerpoint/2010/main" val="60291441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Commit Message Review</a:t>
                      </a:r>
                      <a:endParaRPr lang="en-US" dirty="0"/>
                    </a:p>
                  </a:txBody>
                  <a:tcPr>
                    <a:solidFill>
                      <a:srgbClr val="7030A0"/>
                    </a:solidFill>
                  </a:tcPr>
                </a:tc>
                <a:tc>
                  <a:txBody>
                    <a:bodyPr/>
                    <a:lstStyle/>
                    <a:p>
                      <a:pPr algn="ctr"/>
                      <a:r>
                        <a:rPr lang="en-US" sz="1400" dirty="0">
                          <a:latin typeface="+mn-lt"/>
                        </a:rPr>
                        <a:t>Data Source: Summary -&gt; ITS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669651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E3825930-38A5-587F-5044-FD3392147341}"/>
              </a:ext>
            </a:extLst>
          </p:cNvPr>
          <p:cNvSpPr/>
          <p:nvPr/>
        </p:nvSpPr>
        <p:spPr>
          <a:xfrm>
            <a:off x="6260123" y="4525108"/>
            <a:ext cx="2051539" cy="644769"/>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oogle Shape;137;p7"/>
          <p:cNvSpPr txBox="1"/>
          <p:nvPr/>
        </p:nvSpPr>
        <p:spPr>
          <a:xfrm>
            <a:off x="638881" y="417576"/>
            <a:ext cx="10909640" cy="1249394"/>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chemeClr val="dk1"/>
              </a:buClr>
              <a:buSzPts val="4400"/>
            </a:pPr>
            <a:r>
              <a:rPr lang="en-US" sz="6600" kern="1200" dirty="0">
                <a:solidFill>
                  <a:schemeClr val="tx1"/>
                </a:solidFill>
                <a:latin typeface="+mj-lt"/>
                <a:ea typeface="+mj-ea"/>
                <a:cs typeface="+mj-cs"/>
                <a:sym typeface="Calibri"/>
              </a:rPr>
              <a:t>Data Sources</a:t>
            </a:r>
          </a:p>
        </p:txBody>
      </p:sp>
      <p:pic>
        <p:nvPicPr>
          <p:cNvPr id="138" name="Google Shape;138;p7"/>
          <p:cNvPicPr preferRelativeResize="0"/>
          <p:nvPr/>
        </p:nvPicPr>
        <p:blipFill rotWithShape="1">
          <a:blip r:embed="rId3"/>
          <a:stretch/>
        </p:blipFill>
        <p:spPr>
          <a:xfrm>
            <a:off x="805704" y="2218483"/>
            <a:ext cx="10548096" cy="3586353"/>
          </a:xfrm>
          <a:prstGeom prst="rect">
            <a:avLst/>
          </a:prstGeom>
          <a:noFill/>
        </p:spPr>
      </p:pic>
      <p:sp>
        <p:nvSpPr>
          <p:cNvPr id="136" name="Google Shape;136;p7"/>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23</a:t>
            </a:fld>
            <a:endParaRPr lang="en-US" kern="1200">
              <a:solidFill>
                <a:schemeClr val="tx1">
                  <a:tint val="75000"/>
                </a:schemeClr>
              </a:solidFill>
              <a:latin typeface="+mn-lt"/>
              <a:ea typeface="+mn-ea"/>
              <a:cs typeface="+mn-cs"/>
            </a:endParaRPr>
          </a:p>
        </p:txBody>
      </p:sp>
      <p:graphicFrame>
        <p:nvGraphicFramePr>
          <p:cNvPr id="2" name="Table 6">
            <a:extLst>
              <a:ext uri="{FF2B5EF4-FFF2-40B4-BE49-F238E27FC236}">
                <a16:creationId xmlns:a16="http://schemas.microsoft.com/office/drawing/2014/main" id="{D7198FC6-07F3-BB66-5F00-DBBA0D5BFB6B}"/>
              </a:ext>
            </a:extLst>
          </p:cNvPr>
          <p:cNvGraphicFramePr>
            <a:graphicFrameLocks noGrp="1"/>
          </p:cNvGraphicFramePr>
          <p:nvPr>
            <p:extLst>
              <p:ext uri="{D42A27DB-BD31-4B8C-83A1-F6EECF244321}">
                <p14:modId xmlns:p14="http://schemas.microsoft.com/office/powerpoint/2010/main" val="389464117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ITS</a:t>
                      </a:r>
                      <a:endParaRPr lang="en-US" dirty="0"/>
                    </a:p>
                  </a:txBody>
                  <a:tcPr>
                    <a:solidFill>
                      <a:srgbClr val="7030A0"/>
                    </a:solidFill>
                  </a:tcPr>
                </a:tc>
                <a:tc>
                  <a:txBody>
                    <a:bodyPr/>
                    <a:lstStyle/>
                    <a:p>
                      <a:pPr algn="ctr"/>
                      <a:r>
                        <a:rPr lang="en-US" sz="1400" dirty="0">
                          <a:latin typeface="+mn-lt"/>
                        </a:rPr>
                        <a:t>Data Source: ITS Example</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83020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1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11"/>
          <p:cNvSpPr txBox="1"/>
          <p:nvPr/>
        </p:nvSpPr>
        <p:spPr>
          <a:xfrm>
            <a:off x="185521" y="370839"/>
            <a:ext cx="11040359" cy="565223"/>
          </a:xfrm>
          <a:prstGeom prst="rect">
            <a:avLst/>
          </a:prstGeom>
          <a:noFill/>
          <a:ln>
            <a:noFill/>
          </a:ln>
        </p:spPr>
        <p:txBody>
          <a:bodyPr spcFirstLastPara="1" wrap="square" lIns="91425" tIns="45700" rIns="91425" bIns="45700" anchor="ctr" anchorCtr="0">
            <a:normAutofit fontScale="85000" lnSpcReduction="20000"/>
          </a:bodyPr>
          <a:lstStyle/>
          <a:p>
            <a:pPr marL="0" marR="0" lvl="0" indent="0" algn="l" rtl="0">
              <a:lnSpc>
                <a:spcPct val="90000"/>
              </a:lnSpc>
              <a:spcBef>
                <a:spcPts val="0"/>
              </a:spcBef>
              <a:spcAft>
                <a:spcPts val="0"/>
              </a:spcAft>
              <a:buClr>
                <a:schemeClr val="dk1"/>
              </a:buClr>
              <a:buSzPts val="5200"/>
              <a:buFont typeface="Calibri"/>
              <a:buNone/>
            </a:pPr>
            <a:r>
              <a:rPr lang="en-US" sz="5200" dirty="0">
                <a:solidFill>
                  <a:schemeClr val="dk1"/>
                </a:solidFill>
                <a:latin typeface="Calibri"/>
                <a:ea typeface="Calibri"/>
                <a:cs typeface="Calibri"/>
                <a:sym typeface="Calibri"/>
              </a:rPr>
              <a:t>Data Sources: Issue Tracking System(ITS) Data</a:t>
            </a:r>
            <a:endParaRPr dirty="0"/>
          </a:p>
        </p:txBody>
      </p:sp>
      <p:sp>
        <p:nvSpPr>
          <p:cNvPr id="168" name="Google Shape;16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24</a:t>
            </a:fld>
            <a:endParaRPr/>
          </a:p>
        </p:txBody>
      </p:sp>
      <p:pic>
        <p:nvPicPr>
          <p:cNvPr id="8" name="Picture 7">
            <a:extLst>
              <a:ext uri="{FF2B5EF4-FFF2-40B4-BE49-F238E27FC236}">
                <a16:creationId xmlns:a16="http://schemas.microsoft.com/office/drawing/2014/main" id="{F50965D6-74A3-0B49-5D4C-0C1C3809F94B}"/>
              </a:ext>
            </a:extLst>
          </p:cNvPr>
          <p:cNvPicPr>
            <a:picLocks noChangeAspect="1"/>
          </p:cNvPicPr>
          <p:nvPr/>
        </p:nvPicPr>
        <p:blipFill>
          <a:blip r:embed="rId3"/>
          <a:stretch>
            <a:fillRect/>
          </a:stretch>
        </p:blipFill>
        <p:spPr>
          <a:xfrm>
            <a:off x="6214189" y="998904"/>
            <a:ext cx="5780857" cy="5357446"/>
          </a:xfrm>
          <a:prstGeom prst="rect">
            <a:avLst/>
          </a:prstGeom>
        </p:spPr>
      </p:pic>
      <p:pic>
        <p:nvPicPr>
          <p:cNvPr id="10" name="Picture 9">
            <a:extLst>
              <a:ext uri="{FF2B5EF4-FFF2-40B4-BE49-F238E27FC236}">
                <a16:creationId xmlns:a16="http://schemas.microsoft.com/office/drawing/2014/main" id="{19E5591B-26FD-8172-803B-0F45ABDB2BDC}"/>
              </a:ext>
            </a:extLst>
          </p:cNvPr>
          <p:cNvPicPr>
            <a:picLocks noChangeAspect="1"/>
          </p:cNvPicPr>
          <p:nvPr/>
        </p:nvPicPr>
        <p:blipFill>
          <a:blip r:embed="rId4"/>
          <a:stretch>
            <a:fillRect/>
          </a:stretch>
        </p:blipFill>
        <p:spPr>
          <a:xfrm>
            <a:off x="0" y="841375"/>
            <a:ext cx="6272579" cy="5514975"/>
          </a:xfrm>
          <a:prstGeom prst="rect">
            <a:avLst/>
          </a:prstGeom>
        </p:spPr>
      </p:pic>
      <p:graphicFrame>
        <p:nvGraphicFramePr>
          <p:cNvPr id="11" name="Table 6">
            <a:extLst>
              <a:ext uri="{FF2B5EF4-FFF2-40B4-BE49-F238E27FC236}">
                <a16:creationId xmlns:a16="http://schemas.microsoft.com/office/drawing/2014/main" id="{85848846-E1CD-D63F-EF16-55656EDFB38A}"/>
              </a:ext>
            </a:extLst>
          </p:cNvPr>
          <p:cNvGraphicFramePr>
            <a:graphicFrameLocks noGrp="1"/>
          </p:cNvGraphicFramePr>
          <p:nvPr>
            <p:extLst>
              <p:ext uri="{D42A27DB-BD31-4B8C-83A1-F6EECF244321}">
                <p14:modId xmlns:p14="http://schemas.microsoft.com/office/powerpoint/2010/main" val="253100040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ITS Example</a:t>
                      </a:r>
                      <a:endParaRPr lang="en-US" dirty="0"/>
                    </a:p>
                  </a:txBody>
                  <a:tcPr>
                    <a:solidFill>
                      <a:srgbClr val="7030A0"/>
                    </a:solidFill>
                  </a:tcPr>
                </a:tc>
                <a:tc>
                  <a:txBody>
                    <a:bodyPr/>
                    <a:lstStyle/>
                    <a:p>
                      <a:pPr algn="ctr"/>
                      <a:r>
                        <a:rPr lang="en-US" sz="1400" dirty="0">
                          <a:latin typeface="+mn-lt"/>
                        </a:rPr>
                        <a:t>Data Source: ITS Review</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6" name="Google Shape;166;p11"/>
          <p:cNvSpPr txBox="1"/>
          <p:nvPr/>
        </p:nvSpPr>
        <p:spPr>
          <a:xfrm>
            <a:off x="138628" y="901126"/>
            <a:ext cx="5195371" cy="731946"/>
          </a:xfrm>
          <a:prstGeom prst="rect">
            <a:avLst/>
          </a:prstGeom>
          <a:noFill/>
          <a:ln>
            <a:noFill/>
          </a:ln>
        </p:spPr>
        <p:txBody>
          <a:bodyPr spcFirstLastPara="1" wrap="square" lIns="91425" tIns="45700" rIns="91425" bIns="45700" anchor="ctr" anchorCtr="0">
            <a:normAutofit fontScale="55000" lnSpcReduction="20000"/>
          </a:bodyPr>
          <a:lstStyle/>
          <a:p>
            <a:pPr marL="0" marR="0" lvl="0" indent="0" algn="l" rtl="0">
              <a:lnSpc>
                <a:spcPct val="90000"/>
              </a:lnSpc>
              <a:spcBef>
                <a:spcPts val="0"/>
              </a:spcBef>
              <a:spcAft>
                <a:spcPts val="0"/>
              </a:spcAft>
              <a:buClr>
                <a:schemeClr val="dk1"/>
              </a:buClr>
              <a:buSzPts val="5200"/>
              <a:buFont typeface="Calibri"/>
              <a:buNone/>
            </a:pPr>
            <a:r>
              <a:rPr lang="en-US" sz="5200" dirty="0">
                <a:solidFill>
                  <a:schemeClr val="dk1"/>
                </a:solidFill>
                <a:latin typeface="Calibri"/>
                <a:ea typeface="Calibri"/>
                <a:cs typeface="Calibri"/>
                <a:sym typeface="Calibri"/>
              </a:rPr>
              <a:t>Data Sources: </a:t>
            </a:r>
          </a:p>
          <a:p>
            <a:pPr marL="0" marR="0" lvl="0" indent="0" algn="l" rtl="0">
              <a:lnSpc>
                <a:spcPct val="90000"/>
              </a:lnSpc>
              <a:spcBef>
                <a:spcPts val="0"/>
              </a:spcBef>
              <a:spcAft>
                <a:spcPts val="0"/>
              </a:spcAft>
              <a:buClr>
                <a:schemeClr val="dk1"/>
              </a:buClr>
              <a:buSzPts val="5200"/>
              <a:buFont typeface="Calibri"/>
              <a:buNone/>
            </a:pPr>
            <a:r>
              <a:rPr lang="en-US" sz="5200" dirty="0">
                <a:solidFill>
                  <a:schemeClr val="dk1"/>
                </a:solidFill>
                <a:latin typeface="Calibri"/>
                <a:ea typeface="Calibri"/>
                <a:cs typeface="Calibri"/>
                <a:sym typeface="Calibri"/>
              </a:rPr>
              <a:t>Issue Tracking System(ITS) Data</a:t>
            </a:r>
            <a:endParaRPr dirty="0"/>
          </a:p>
        </p:txBody>
      </p:sp>
      <p:sp>
        <p:nvSpPr>
          <p:cNvPr id="168" name="Google Shape;16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25</a:t>
            </a:fld>
            <a:endParaRPr/>
          </a:p>
        </p:txBody>
      </p:sp>
      <p:pic>
        <p:nvPicPr>
          <p:cNvPr id="2050" name="Picture 2">
            <a:extLst>
              <a:ext uri="{FF2B5EF4-FFF2-40B4-BE49-F238E27FC236}">
                <a16:creationId xmlns:a16="http://schemas.microsoft.com/office/drawing/2014/main" id="{FC8A2A8A-2494-20BB-1AAB-6326AC2E9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4047" y="508706"/>
            <a:ext cx="5694857" cy="195484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2D306C3-0CC0-8020-1CD2-164D4093F610}"/>
              </a:ext>
            </a:extLst>
          </p:cNvPr>
          <p:cNvSpPr txBox="1"/>
          <p:nvPr/>
        </p:nvSpPr>
        <p:spPr>
          <a:xfrm>
            <a:off x="3048" y="2748359"/>
            <a:ext cx="12188952" cy="3139321"/>
          </a:xfrm>
          <a:prstGeom prst="rect">
            <a:avLst/>
          </a:prstGeom>
          <a:noFill/>
        </p:spPr>
        <p:txBody>
          <a:bodyPr wrap="square" rtlCol="0">
            <a:spAutoFit/>
          </a:bodyPr>
          <a:lstStyle/>
          <a:p>
            <a:pPr algn="l"/>
            <a:r>
              <a:rPr lang="en-US" sz="1800" b="0" i="0" u="none" strike="noStrike" baseline="0" dirty="0">
                <a:latin typeface="Abadi" panose="020B0604020104020204" pitchFamily="34" charset="0"/>
              </a:rPr>
              <a:t>Although uncommon, ITS data, such as, the issue reports, discussions, change requests, can be useful to JIT-SDP. </a:t>
            </a:r>
          </a:p>
          <a:p>
            <a:pPr algn="l"/>
            <a:r>
              <a:rPr lang="en-US" sz="1800" b="0" i="0" u="none" strike="noStrike" baseline="0" dirty="0" err="1">
                <a:latin typeface="Abadi" panose="020B0604020104020204" pitchFamily="34" charset="0"/>
              </a:rPr>
              <a:t>Tourani</a:t>
            </a:r>
            <a:r>
              <a:rPr lang="en-US" sz="1800" b="0" i="0" u="none" strike="noStrike" baseline="0" dirty="0">
                <a:latin typeface="Abadi" panose="020B0604020104020204" pitchFamily="34" charset="0"/>
              </a:rPr>
              <a:t> and Adams [74] and </a:t>
            </a:r>
            <a:r>
              <a:rPr lang="en-US" sz="1800" b="0" i="0" u="none" strike="noStrike" baseline="0" dirty="0" err="1">
                <a:latin typeface="Abadi" panose="020B0604020104020204" pitchFamily="34" charset="0"/>
              </a:rPr>
              <a:t>Tessema</a:t>
            </a:r>
            <a:r>
              <a:rPr lang="en-US" sz="1800" b="0" i="0" u="none" strike="noStrike" baseline="0" dirty="0">
                <a:latin typeface="Abadi" panose="020B0604020104020204" pitchFamily="34" charset="0"/>
              </a:rPr>
              <a:t> and Abebe [72] appear to be the only studies that investigate the use of some of these ITS data as features for JIT-SDP. Both show that their JIT-SDP models built using the features extracted from this type of data in addition to software change metrics outperform those using the software change metrics alone. </a:t>
            </a:r>
          </a:p>
          <a:p>
            <a:pPr algn="l"/>
            <a:endParaRPr lang="en-US" sz="1800" dirty="0">
              <a:latin typeface="Abadi" panose="020B0604020104020204" pitchFamily="34" charset="0"/>
            </a:endParaRPr>
          </a:p>
          <a:p>
            <a:pPr algn="l"/>
            <a:r>
              <a:rPr lang="en-US" sz="1800" b="0" i="0" u="none" strike="noStrike" baseline="0" dirty="0">
                <a:latin typeface="Abadi" panose="020B0604020104020204" pitchFamily="34" charset="0"/>
              </a:rPr>
              <a:t>There are </a:t>
            </a:r>
            <a:r>
              <a:rPr lang="en-US" sz="1800" b="1" i="0" u="none" strike="noStrike" baseline="0" dirty="0">
                <a:latin typeface="Abadi" panose="020B0604020104020204" pitchFamily="34" charset="0"/>
              </a:rPr>
              <a:t>two challenges </a:t>
            </a:r>
            <a:r>
              <a:rPr lang="en-US" sz="1800" b="0" i="0" u="none" strike="noStrike" baseline="0" dirty="0">
                <a:latin typeface="Abadi" panose="020B0604020104020204" pitchFamily="34" charset="0"/>
              </a:rPr>
              <a:t>utilizing the types of data as features. </a:t>
            </a:r>
          </a:p>
          <a:p>
            <a:pPr marL="285750" indent="-285750" algn="l">
              <a:buFont typeface="Arial" panose="020B0604020202020204" pitchFamily="34" charset="0"/>
              <a:buChar char="•"/>
            </a:pPr>
            <a:r>
              <a:rPr lang="en-US" sz="1800" b="0" i="0" u="none" strike="noStrike" baseline="0" dirty="0">
                <a:latin typeface="Abadi" panose="020B0604020104020204" pitchFamily="34" charset="0"/>
              </a:rPr>
              <a:t>First, many changesets may </a:t>
            </a:r>
            <a:r>
              <a:rPr lang="en-US" sz="1800" b="1" i="0" u="none" strike="noStrike" baseline="0" dirty="0">
                <a:latin typeface="Abadi" panose="020B0604020104020204" pitchFamily="34" charset="0"/>
              </a:rPr>
              <a:t>not have </a:t>
            </a:r>
            <a:r>
              <a:rPr lang="en-US" sz="1800" b="0" i="0" u="none" strike="noStrike" baseline="0" dirty="0">
                <a:latin typeface="Abadi" panose="020B0604020104020204" pitchFamily="34" charset="0"/>
              </a:rPr>
              <a:t>a corresponding issue report in the ITS. </a:t>
            </a:r>
          </a:p>
          <a:p>
            <a:pPr marL="285750" indent="-285750" algn="l">
              <a:buFont typeface="Arial" panose="020B0604020202020204" pitchFamily="34" charset="0"/>
              <a:buChar char="•"/>
            </a:pPr>
            <a:r>
              <a:rPr lang="en-US" sz="1800" b="0" i="0" u="none" strike="noStrike" baseline="0" dirty="0">
                <a:latin typeface="Abadi" panose="020B0604020104020204" pitchFamily="34" charset="0"/>
              </a:rPr>
              <a:t>Second, it requires to </a:t>
            </a:r>
            <a:r>
              <a:rPr lang="en-US" sz="1800" b="1" i="0" u="none" strike="noStrike" baseline="0" dirty="0">
                <a:latin typeface="Abadi" panose="020B0604020104020204" pitchFamily="34" charset="0"/>
              </a:rPr>
              <a:t>establish links </a:t>
            </a:r>
            <a:r>
              <a:rPr lang="en-US" sz="1800" b="0" i="0" u="none" strike="noStrike" baseline="0" dirty="0">
                <a:latin typeface="Abadi" panose="020B0604020104020204" pitchFamily="34" charset="0"/>
              </a:rPr>
              <a:t>between ITS data and changesets in the software repository. </a:t>
            </a:r>
          </a:p>
          <a:p>
            <a:pPr algn="l"/>
            <a:endParaRPr lang="en-US" sz="1800" b="0" i="0" u="none" strike="noStrike" baseline="0" dirty="0">
              <a:latin typeface="Abadi" panose="020B0604020104020204" pitchFamily="34" charset="0"/>
            </a:endParaRPr>
          </a:p>
          <a:p>
            <a:pPr algn="l"/>
            <a:r>
              <a:rPr lang="en-US" sz="1800" b="0" i="0" u="none" strike="noStrike" baseline="0" dirty="0">
                <a:latin typeface="Abadi" panose="020B0604020104020204" pitchFamily="34" charset="0"/>
              </a:rPr>
              <a:t>Noticing the difficulty of this requirement, </a:t>
            </a:r>
            <a:r>
              <a:rPr lang="en-US" sz="1800" b="0" i="0" u="none" strike="noStrike" baseline="0" dirty="0" err="1">
                <a:latin typeface="Abadi" panose="020B0604020104020204" pitchFamily="34" charset="0"/>
              </a:rPr>
              <a:t>Paixao</a:t>
            </a:r>
            <a:r>
              <a:rPr lang="en-US" sz="1800" b="0" i="0" u="none" strike="noStrike" baseline="0" dirty="0">
                <a:latin typeface="Abadi" panose="020B0604020104020204" pitchFamily="34" charset="0"/>
              </a:rPr>
              <a:t> et al. [54] curate a data set of code reviews and link them to revisions of source code. Data sets like this may help a broader adoption and further exploration of the ITS data in defect prediction.</a:t>
            </a:r>
            <a:endParaRPr lang="en-US" dirty="0"/>
          </a:p>
        </p:txBody>
      </p:sp>
      <p:graphicFrame>
        <p:nvGraphicFramePr>
          <p:cNvPr id="2" name="Table 6">
            <a:extLst>
              <a:ext uri="{FF2B5EF4-FFF2-40B4-BE49-F238E27FC236}">
                <a16:creationId xmlns:a16="http://schemas.microsoft.com/office/drawing/2014/main" id="{ABBC1D14-6653-048C-E8AC-A11922DF35A9}"/>
              </a:ext>
            </a:extLst>
          </p:cNvPr>
          <p:cNvGraphicFramePr>
            <a:graphicFrameLocks noGrp="1"/>
          </p:cNvGraphicFramePr>
          <p:nvPr>
            <p:extLst>
              <p:ext uri="{D42A27DB-BD31-4B8C-83A1-F6EECF244321}">
                <p14:modId xmlns:p14="http://schemas.microsoft.com/office/powerpoint/2010/main" val="808489250"/>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Data Source: ITS Review and challenge</a:t>
                      </a:r>
                      <a:endParaRPr lang="en-US" dirty="0"/>
                    </a:p>
                  </a:txBody>
                  <a:tcPr>
                    <a:solidFill>
                      <a:srgbClr val="7030A0"/>
                    </a:solidFill>
                  </a:tcPr>
                </a:tc>
                <a:tc>
                  <a:txBody>
                    <a:bodyPr/>
                    <a:lstStyle/>
                    <a:p>
                      <a:pPr algn="ctr"/>
                      <a:r>
                        <a:rPr lang="en-US" sz="1400" dirty="0">
                          <a:latin typeface="+mn-lt"/>
                        </a:rPr>
                        <a:t>Data Source Summary &gt; Static Program Analysis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42335009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1ABEC65-5147-BBEB-BC0D-E8F69B1F6CA6}"/>
              </a:ext>
            </a:extLst>
          </p:cNvPr>
          <p:cNvSpPr/>
          <p:nvPr/>
        </p:nvSpPr>
        <p:spPr>
          <a:xfrm>
            <a:off x="8721969" y="4454769"/>
            <a:ext cx="2664327" cy="1249394"/>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Google Shape;137;p7"/>
          <p:cNvSpPr txBox="1"/>
          <p:nvPr/>
        </p:nvSpPr>
        <p:spPr>
          <a:xfrm>
            <a:off x="638881" y="417576"/>
            <a:ext cx="10909640" cy="1249394"/>
          </a:xfrm>
          <a:prstGeom prst="rect">
            <a:avLst/>
          </a:prstGeom>
        </p:spPr>
        <p:txBody>
          <a:bodyPr spcFirstLastPara="1" vert="horz" lIns="91440" tIns="45720" rIns="91440" bIns="45720" rtlCol="0" anchor="ctr" anchorCtr="0">
            <a:normAutofit/>
          </a:bodyPr>
          <a:lstStyle/>
          <a:p>
            <a:pPr marL="0" marR="0" lvl="0" indent="0" algn="ctr">
              <a:lnSpc>
                <a:spcPct val="90000"/>
              </a:lnSpc>
              <a:spcBef>
                <a:spcPct val="0"/>
              </a:spcBef>
              <a:spcAft>
                <a:spcPts val="600"/>
              </a:spcAft>
              <a:buClr>
                <a:schemeClr val="dk1"/>
              </a:buClr>
              <a:buSzPts val="4400"/>
            </a:pPr>
            <a:r>
              <a:rPr lang="en-US" sz="6600" kern="1200" dirty="0">
                <a:solidFill>
                  <a:schemeClr val="tx1"/>
                </a:solidFill>
                <a:latin typeface="+mj-lt"/>
                <a:ea typeface="+mj-ea"/>
                <a:cs typeface="+mj-cs"/>
                <a:sym typeface="Calibri"/>
              </a:rPr>
              <a:t>Data Sources</a:t>
            </a:r>
          </a:p>
        </p:txBody>
      </p:sp>
      <p:pic>
        <p:nvPicPr>
          <p:cNvPr id="138" name="Google Shape;138;p7"/>
          <p:cNvPicPr preferRelativeResize="0"/>
          <p:nvPr/>
        </p:nvPicPr>
        <p:blipFill rotWithShape="1">
          <a:blip r:embed="rId3"/>
          <a:stretch/>
        </p:blipFill>
        <p:spPr>
          <a:xfrm>
            <a:off x="805704" y="2218483"/>
            <a:ext cx="10548096" cy="3586353"/>
          </a:xfrm>
          <a:prstGeom prst="rect">
            <a:avLst/>
          </a:prstGeom>
          <a:noFill/>
        </p:spPr>
      </p:pic>
      <p:sp>
        <p:nvSpPr>
          <p:cNvPr id="136" name="Google Shape;136;p7"/>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26</a:t>
            </a:fld>
            <a:endParaRPr lang="en-US" kern="1200">
              <a:solidFill>
                <a:schemeClr val="tx1">
                  <a:tint val="75000"/>
                </a:schemeClr>
              </a:solidFill>
              <a:latin typeface="+mn-lt"/>
              <a:ea typeface="+mn-ea"/>
              <a:cs typeface="+mn-cs"/>
            </a:endParaRPr>
          </a:p>
        </p:txBody>
      </p:sp>
      <p:graphicFrame>
        <p:nvGraphicFramePr>
          <p:cNvPr id="2" name="Table 6">
            <a:extLst>
              <a:ext uri="{FF2B5EF4-FFF2-40B4-BE49-F238E27FC236}">
                <a16:creationId xmlns:a16="http://schemas.microsoft.com/office/drawing/2014/main" id="{9571BE96-D750-4D2B-5EE6-7E887AE1112B}"/>
              </a:ext>
            </a:extLst>
          </p:cNvPr>
          <p:cNvGraphicFramePr>
            <a:graphicFrameLocks noGrp="1"/>
          </p:cNvGraphicFramePr>
          <p:nvPr>
            <p:extLst>
              <p:ext uri="{D42A27DB-BD31-4B8C-83A1-F6EECF244321}">
                <p14:modId xmlns:p14="http://schemas.microsoft.com/office/powerpoint/2010/main" val="43453909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Static Program Analysis Warning Message</a:t>
                      </a:r>
                      <a:endParaRPr lang="en-US" dirty="0"/>
                    </a:p>
                  </a:txBody>
                  <a:tcPr>
                    <a:solidFill>
                      <a:srgbClr val="7030A0"/>
                    </a:solidFill>
                  </a:tcPr>
                </a:tc>
                <a:tc>
                  <a:txBody>
                    <a:bodyPr/>
                    <a:lstStyle/>
                    <a:p>
                      <a:pPr algn="ctr"/>
                      <a:r>
                        <a:rPr lang="en-US" sz="1400" dirty="0">
                          <a:latin typeface="+mn-lt"/>
                        </a:rPr>
                        <a:t>Static Program Analysis Warning Message Review</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8045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
        <p:nvSpPr>
          <p:cNvPr id="174" name="Google Shape;174;p12"/>
          <p:cNvSpPr txBox="1"/>
          <p:nvPr/>
        </p:nvSpPr>
        <p:spPr>
          <a:xfrm>
            <a:off x="589903" y="670710"/>
            <a:ext cx="11223406" cy="794533"/>
          </a:xfrm>
          <a:prstGeom prst="rect">
            <a:avLst/>
          </a:prstGeom>
          <a:noFill/>
          <a:ln>
            <a:noFill/>
          </a:ln>
        </p:spPr>
        <p:txBody>
          <a:bodyPr spcFirstLastPara="1" wrap="square" lIns="91425" tIns="45700" rIns="91425" bIns="45700" anchor="ctr" anchorCtr="0">
            <a:normAutofit fontScale="85000" lnSpcReduction="10000"/>
          </a:bodyPr>
          <a:lstStyle/>
          <a:p>
            <a:pPr marL="0" marR="0" lvl="0" indent="0" algn="l" rtl="0">
              <a:lnSpc>
                <a:spcPct val="90000"/>
              </a:lnSpc>
              <a:spcBef>
                <a:spcPts val="0"/>
              </a:spcBef>
              <a:spcAft>
                <a:spcPts val="0"/>
              </a:spcAft>
              <a:buClr>
                <a:schemeClr val="dk1"/>
              </a:buClr>
              <a:buSzPct val="100000"/>
              <a:buFont typeface="Calibri"/>
              <a:buNone/>
            </a:pPr>
            <a:r>
              <a:rPr lang="en-US" sz="4400">
                <a:solidFill>
                  <a:schemeClr val="dk1"/>
                </a:solidFill>
                <a:latin typeface="Calibri"/>
                <a:ea typeface="Calibri"/>
                <a:cs typeface="Calibri"/>
                <a:sym typeface="Calibri"/>
              </a:rPr>
              <a:t>Data Sources: Static Program Analysis Warning Messages</a:t>
            </a:r>
            <a:endParaRPr sz="4400">
              <a:solidFill>
                <a:schemeClr val="dk1"/>
              </a:solidFill>
              <a:latin typeface="Calibri"/>
              <a:ea typeface="Calibri"/>
              <a:cs typeface="Calibri"/>
              <a:sym typeface="Calibri"/>
            </a:endParaRPr>
          </a:p>
        </p:txBody>
      </p:sp>
      <p:sp>
        <p:nvSpPr>
          <p:cNvPr id="175" name="Google Shape;175;p12"/>
          <p:cNvSpPr txBox="1">
            <a:spLocks noGrp="1"/>
          </p:cNvSpPr>
          <p:nvPr>
            <p:ph type="body" idx="1"/>
          </p:nvPr>
        </p:nvSpPr>
        <p:spPr>
          <a:xfrm>
            <a:off x="589903" y="1835952"/>
            <a:ext cx="10975109"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b="0" i="0" u="none" strike="noStrike" dirty="0">
                <a:latin typeface="Arial"/>
                <a:ea typeface="Arial"/>
                <a:cs typeface="Arial"/>
                <a:sym typeface="Arial"/>
              </a:rPr>
              <a:t>Warning messages produced by static program analysis tools (e.g., </a:t>
            </a:r>
            <a:r>
              <a:rPr lang="en-US" sz="2000" b="0" i="0" u="none" strike="noStrike" dirty="0">
                <a:latin typeface="Inconsolata"/>
                <a:ea typeface="Inconsolata"/>
                <a:cs typeface="Inconsolata"/>
                <a:sym typeface="Inconsolata"/>
              </a:rPr>
              <a:t>lint</a:t>
            </a:r>
            <a:r>
              <a:rPr lang="en-US" sz="2000" b="0" i="0" u="none" strike="noStrike" dirty="0">
                <a:latin typeface="Arial"/>
                <a:ea typeface="Arial"/>
                <a:cs typeface="Arial"/>
                <a:sym typeface="Arial"/>
              </a:rPr>
              <a:t>)</a:t>
            </a:r>
            <a:endParaRPr dirty="0"/>
          </a:p>
          <a:p>
            <a:pPr marL="0" lvl="0" indent="0" algn="l" rtl="0">
              <a:lnSpc>
                <a:spcPct val="90000"/>
              </a:lnSpc>
              <a:spcBef>
                <a:spcPts val="1000"/>
              </a:spcBef>
              <a:spcAft>
                <a:spcPts val="0"/>
              </a:spcAft>
              <a:buClr>
                <a:schemeClr val="dk1"/>
              </a:buClr>
              <a:buSzPts val="2000"/>
              <a:buNone/>
            </a:pPr>
            <a:r>
              <a:rPr lang="en-US" sz="2000" b="0" i="0" u="none" strike="noStrike" dirty="0" err="1">
                <a:latin typeface="Arial"/>
                <a:ea typeface="Arial"/>
                <a:cs typeface="Arial"/>
                <a:sym typeface="Arial"/>
              </a:rPr>
              <a:t>Trautsch</a:t>
            </a:r>
            <a:r>
              <a:rPr lang="en-US" sz="2000" b="0" i="0" u="none" strike="noStrike" dirty="0">
                <a:latin typeface="Arial"/>
                <a:ea typeface="Arial"/>
                <a:cs typeface="Arial"/>
                <a:sym typeface="Arial"/>
              </a:rPr>
              <a:t> et al. [75] derive from the warning messages a warning density feature,</a:t>
            </a:r>
            <a:endParaRPr dirty="0"/>
          </a:p>
          <a:p>
            <a:pPr marL="228600" lvl="0" indent="-228600" algn="l" rtl="0">
              <a:lnSpc>
                <a:spcPct val="90000"/>
              </a:lnSpc>
              <a:spcBef>
                <a:spcPts val="1000"/>
              </a:spcBef>
              <a:spcAft>
                <a:spcPts val="0"/>
              </a:spcAft>
              <a:buClr>
                <a:schemeClr val="dk1"/>
              </a:buClr>
              <a:buSzPts val="2000"/>
              <a:buChar char="•"/>
            </a:pPr>
            <a:r>
              <a:rPr lang="en-US" sz="2000" b="0" i="0" u="none" strike="noStrike" dirty="0">
                <a:latin typeface="Arial"/>
                <a:ea typeface="Arial"/>
                <a:cs typeface="Arial"/>
                <a:sym typeface="Arial"/>
              </a:rPr>
              <a:t>i.e., the ratio of the number of static analysis warnings to the product size. </a:t>
            </a:r>
            <a:endParaRPr dirty="0"/>
          </a:p>
          <a:p>
            <a:pPr marL="0" lvl="0" indent="0" algn="l" rtl="0">
              <a:lnSpc>
                <a:spcPct val="90000"/>
              </a:lnSpc>
              <a:spcBef>
                <a:spcPts val="1000"/>
              </a:spcBef>
              <a:spcAft>
                <a:spcPts val="0"/>
              </a:spcAft>
              <a:buClr>
                <a:schemeClr val="dk1"/>
              </a:buClr>
              <a:buSzPts val="2000"/>
              <a:buNone/>
            </a:pPr>
            <a:r>
              <a:rPr lang="en-US" sz="2000" b="0" i="0" u="none" strike="noStrike" dirty="0">
                <a:latin typeface="Arial"/>
                <a:ea typeface="Arial"/>
                <a:cs typeface="Arial"/>
                <a:sym typeface="Arial"/>
              </a:rPr>
              <a:t>Their results show that features extracted from the static program analysis warning messages are among the top 10 most important features for defect prediction.</a:t>
            </a:r>
            <a:endParaRPr sz="2000" dirty="0">
              <a:latin typeface="Arial"/>
              <a:ea typeface="Arial"/>
              <a:cs typeface="Arial"/>
              <a:sym typeface="Arial"/>
            </a:endParaRPr>
          </a:p>
          <a:p>
            <a:pPr marL="0" lvl="0" indent="0" algn="l" rtl="0">
              <a:lnSpc>
                <a:spcPct val="90000"/>
              </a:lnSpc>
              <a:spcBef>
                <a:spcPts val="1000"/>
              </a:spcBef>
              <a:spcAft>
                <a:spcPts val="0"/>
              </a:spcAft>
              <a:buClr>
                <a:schemeClr val="dk1"/>
              </a:buClr>
              <a:buSzPts val="2000"/>
              <a:buNone/>
            </a:pPr>
            <a:endParaRPr sz="2000" dirty="0">
              <a:latin typeface="Arial"/>
              <a:ea typeface="Arial"/>
              <a:cs typeface="Arial"/>
              <a:sym typeface="Arial"/>
            </a:endParaRPr>
          </a:p>
          <a:p>
            <a:pPr marL="0" lvl="0" indent="0" algn="l" rtl="0">
              <a:lnSpc>
                <a:spcPct val="90000"/>
              </a:lnSpc>
              <a:spcBef>
                <a:spcPts val="1000"/>
              </a:spcBef>
              <a:spcAft>
                <a:spcPts val="0"/>
              </a:spcAft>
              <a:buClr>
                <a:schemeClr val="dk1"/>
              </a:buClr>
              <a:buSzPts val="2000"/>
              <a:buNone/>
            </a:pPr>
            <a:r>
              <a:rPr lang="en-US" sz="2000" b="1" i="0" u="none" strike="noStrike" dirty="0">
                <a:latin typeface="Arial"/>
                <a:ea typeface="Arial"/>
                <a:cs typeface="Arial"/>
                <a:sym typeface="Arial"/>
              </a:rPr>
              <a:t>Challenge</a:t>
            </a:r>
            <a:r>
              <a:rPr lang="en-US" sz="2000" b="0" i="0" u="none" strike="noStrike" dirty="0">
                <a:latin typeface="Arial"/>
                <a:ea typeface="Arial"/>
                <a:cs typeface="Arial"/>
                <a:sym typeface="Arial"/>
              </a:rPr>
              <a:t>: a full static program analysis takes significant computational time to complete on a large code base [61] and for each changeset</a:t>
            </a:r>
            <a:endParaRPr sz="2000" dirty="0">
              <a:latin typeface="Arial"/>
              <a:ea typeface="Arial"/>
              <a:cs typeface="Arial"/>
              <a:sym typeface="Arial"/>
            </a:endParaRPr>
          </a:p>
          <a:p>
            <a:pPr marL="0" lvl="0" indent="0" algn="l" rtl="0">
              <a:lnSpc>
                <a:spcPct val="90000"/>
              </a:lnSpc>
              <a:spcBef>
                <a:spcPts val="1000"/>
              </a:spcBef>
              <a:spcAft>
                <a:spcPts val="0"/>
              </a:spcAft>
              <a:buClr>
                <a:schemeClr val="dk1"/>
              </a:buClr>
              <a:buSzPts val="2000"/>
              <a:buNone/>
            </a:pPr>
            <a:r>
              <a:rPr lang="en-US" sz="2000" b="1" dirty="0">
                <a:latin typeface="Arial"/>
                <a:ea typeface="Arial"/>
                <a:cs typeface="Arial"/>
                <a:sym typeface="Arial"/>
              </a:rPr>
              <a:t>Solution</a:t>
            </a:r>
            <a:r>
              <a:rPr lang="en-US" sz="2000" dirty="0">
                <a:latin typeface="Arial"/>
                <a:ea typeface="Arial"/>
                <a:cs typeface="Arial"/>
                <a:sym typeface="Arial"/>
              </a:rPr>
              <a:t>: </a:t>
            </a:r>
            <a:r>
              <a:rPr lang="en-US" sz="2000" b="0" i="0" u="none" strike="noStrike" dirty="0">
                <a:latin typeface="Arial"/>
                <a:ea typeface="Arial"/>
                <a:cs typeface="Arial"/>
                <a:sym typeface="Arial"/>
              </a:rPr>
              <a:t>perhaps by performing only partial, lightweight static analysis</a:t>
            </a:r>
            <a:endParaRPr sz="2000" dirty="0"/>
          </a:p>
        </p:txBody>
      </p:sp>
      <p:sp>
        <p:nvSpPr>
          <p:cNvPr id="2" name="Arrow: Up 1">
            <a:hlinkClick r:id="rId3" action="ppaction://hlinksldjump"/>
            <a:extLst>
              <a:ext uri="{FF2B5EF4-FFF2-40B4-BE49-F238E27FC236}">
                <a16:creationId xmlns:a16="http://schemas.microsoft.com/office/drawing/2014/main" id="{5FC9A687-78E4-DCC4-8427-CFA892C6BD0D}"/>
              </a:ext>
            </a:extLst>
          </p:cNvPr>
          <p:cNvSpPr/>
          <p:nvPr/>
        </p:nvSpPr>
        <p:spPr>
          <a:xfrm>
            <a:off x="10046677" y="6447692"/>
            <a:ext cx="937846" cy="365125"/>
          </a:xfrm>
          <a:prstGeom prst="up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Home</a:t>
            </a:r>
          </a:p>
        </p:txBody>
      </p:sp>
      <p:graphicFrame>
        <p:nvGraphicFramePr>
          <p:cNvPr id="3" name="Table 6">
            <a:extLst>
              <a:ext uri="{FF2B5EF4-FFF2-40B4-BE49-F238E27FC236}">
                <a16:creationId xmlns:a16="http://schemas.microsoft.com/office/drawing/2014/main" id="{84B572EB-3EAE-25CC-9D50-FEDC39938DCD}"/>
              </a:ext>
            </a:extLst>
          </p:cNvPr>
          <p:cNvGraphicFramePr>
            <a:graphicFrameLocks noGrp="1"/>
          </p:cNvGraphicFramePr>
          <p:nvPr>
            <p:extLst>
              <p:ext uri="{D42A27DB-BD31-4B8C-83A1-F6EECF244321}">
                <p14:modId xmlns:p14="http://schemas.microsoft.com/office/powerpoint/2010/main" val="294051903"/>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Static Program Analysis Warning Message Review</a:t>
                      </a:r>
                      <a:endParaRPr lang="en-US" dirty="0"/>
                    </a:p>
                  </a:txBody>
                  <a:tcPr>
                    <a:solidFill>
                      <a:srgbClr val="7030A0"/>
                    </a:solidFill>
                  </a:tcPr>
                </a:tc>
                <a:tc>
                  <a:txBody>
                    <a:bodyPr/>
                    <a:lstStyle/>
                    <a:p>
                      <a:pPr algn="ctr"/>
                      <a:r>
                        <a:rPr lang="en-US" sz="1400" dirty="0">
                          <a:latin typeface="+mn-lt"/>
                        </a:rPr>
                        <a:t>Overview -&gt;  Feature Acquisition and Processing</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aphicFrame>
        <p:nvGraphicFramePr>
          <p:cNvPr id="2" name="Table 1">
            <a:extLst>
              <a:ext uri="{FF2B5EF4-FFF2-40B4-BE49-F238E27FC236}">
                <a16:creationId xmlns:a16="http://schemas.microsoft.com/office/drawing/2014/main" id="{2252FC34-7096-EA32-511D-D813DCA59007}"/>
              </a:ext>
            </a:extLst>
          </p:cNvPr>
          <p:cNvGraphicFramePr>
            <a:graphicFrameLocks noGrp="1"/>
          </p:cNvGraphicFramePr>
          <p:nvPr>
            <p:extLst>
              <p:ext uri="{D42A27DB-BD31-4B8C-83A1-F6EECF244321}">
                <p14:modId xmlns:p14="http://schemas.microsoft.com/office/powerpoint/2010/main" val="120174752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Acquisition and Processing Summary</a:t>
                      </a:r>
                      <a:endParaRPr lang="en-US" dirty="0"/>
                    </a:p>
                  </a:txBody>
                  <a:tcPr>
                    <a:solidFill>
                      <a:srgbClr val="7030A0"/>
                    </a:solidFill>
                  </a:tcPr>
                </a:tc>
                <a:tc>
                  <a:txBody>
                    <a:bodyPr/>
                    <a:lstStyle/>
                    <a:p>
                      <a:pPr algn="ctr"/>
                      <a:r>
                        <a:rPr lang="en-US" sz="1400" dirty="0">
                          <a:latin typeface="+mn-lt"/>
                        </a:rPr>
                        <a:t>Feature Acquisition and Processing Summary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2446742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9"/>
        <p:cNvGrpSpPr/>
        <p:nvPr/>
      </p:nvGrpSpPr>
      <p:grpSpPr>
        <a:xfrm>
          <a:off x="0" y="0"/>
          <a:ext cx="0" cy="0"/>
          <a:chOff x="0" y="0"/>
          <a:chExt cx="0" cy="0"/>
        </a:xfrm>
      </p:grpSpPr>
      <p:sp>
        <p:nvSpPr>
          <p:cNvPr id="180" name="Google Shape;180;p13"/>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13"/>
          <p:cNvSpPr txBox="1">
            <a:spLocks noGrp="1"/>
          </p:cNvSpPr>
          <p:nvPr>
            <p:ph type="title"/>
          </p:nvPr>
        </p:nvSpPr>
        <p:spPr>
          <a:xfrm>
            <a:off x="93784" y="320582"/>
            <a:ext cx="6686302" cy="57272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sz="4000" dirty="0">
                <a:latin typeface="Calibri"/>
                <a:ea typeface="Calibri"/>
                <a:cs typeface="Calibri"/>
                <a:sym typeface="Calibri"/>
              </a:rPr>
              <a:t>Feature Acquisition and Processing</a:t>
            </a:r>
            <a:endParaRPr dirty="0"/>
          </a:p>
        </p:txBody>
      </p:sp>
      <p:pic>
        <p:nvPicPr>
          <p:cNvPr id="183" name="Google Shape;183;p13"/>
          <p:cNvPicPr preferRelativeResize="0"/>
          <p:nvPr/>
        </p:nvPicPr>
        <p:blipFill rotWithShape="1">
          <a:blip r:embed="rId3">
            <a:alphaModFix/>
          </a:blip>
          <a:srcRect r="1413" b="-3"/>
          <a:stretch/>
        </p:blipFill>
        <p:spPr>
          <a:xfrm>
            <a:off x="5200350" y="1173203"/>
            <a:ext cx="6557896" cy="4524211"/>
          </a:xfrm>
          <a:prstGeom prst="rect">
            <a:avLst/>
          </a:prstGeom>
          <a:noFill/>
          <a:ln>
            <a:noFill/>
          </a:ln>
        </p:spPr>
      </p:pic>
      <p:sp>
        <p:nvSpPr>
          <p:cNvPr id="184" name="Google Shape;1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29</a:t>
            </a:fld>
            <a:endParaRPr/>
          </a:p>
        </p:txBody>
      </p:sp>
      <p:sp>
        <p:nvSpPr>
          <p:cNvPr id="4" name="Google Shape;182;p13">
            <a:extLst>
              <a:ext uri="{FF2B5EF4-FFF2-40B4-BE49-F238E27FC236}">
                <a16:creationId xmlns:a16="http://schemas.microsoft.com/office/drawing/2014/main" id="{6B287897-9995-CE25-D380-9363DB8934B2}"/>
              </a:ext>
            </a:extLst>
          </p:cNvPr>
          <p:cNvSpPr txBox="1">
            <a:spLocks noGrp="1"/>
          </p:cNvSpPr>
          <p:nvPr>
            <p:ph type="body" idx="1"/>
          </p:nvPr>
        </p:nvSpPr>
        <p:spPr>
          <a:xfrm>
            <a:off x="279281" y="1779900"/>
            <a:ext cx="4152774" cy="3298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Font typeface="Noto Sans Symbols"/>
              <a:buChar char="▪"/>
            </a:pPr>
            <a:r>
              <a:rPr lang="en-US" sz="2000" b="0" i="0" u="none" strike="noStrike" dirty="0">
                <a:latin typeface="+mn-lt"/>
                <a:ea typeface="Arial"/>
                <a:cs typeface="Arial"/>
                <a:sym typeface="Arial"/>
              </a:rPr>
              <a:t>What information do we need to extract from the data?</a:t>
            </a:r>
            <a:endParaRPr sz="2000" dirty="0">
              <a:latin typeface="+mn-lt"/>
            </a:endParaRPr>
          </a:p>
          <a:p>
            <a:pPr marL="228600" lvl="0" indent="-228600" algn="l" rtl="0">
              <a:lnSpc>
                <a:spcPct val="90000"/>
              </a:lnSpc>
              <a:spcBef>
                <a:spcPts val="1000"/>
              </a:spcBef>
              <a:spcAft>
                <a:spcPts val="0"/>
              </a:spcAft>
              <a:buClr>
                <a:schemeClr val="dk1"/>
              </a:buClr>
              <a:buSzPts val="2000"/>
              <a:buFont typeface="Noto Sans Symbols"/>
              <a:buChar char="▪"/>
            </a:pPr>
            <a:r>
              <a:rPr lang="en-US" sz="2000" b="0" i="0" u="none" strike="noStrike" dirty="0">
                <a:latin typeface="+mn-lt"/>
                <a:ea typeface="Arial"/>
                <a:cs typeface="Arial"/>
                <a:sym typeface="Arial"/>
              </a:rPr>
              <a:t>How do we extract them from the several types of input data discussed in the previous section?</a:t>
            </a:r>
            <a:endParaRPr sz="2000" dirty="0">
              <a:latin typeface="+mn-lt"/>
            </a:endParaRPr>
          </a:p>
          <a:p>
            <a:pPr marL="228600" lvl="0" indent="-101600" algn="l" rtl="0">
              <a:lnSpc>
                <a:spcPct val="90000"/>
              </a:lnSpc>
              <a:spcBef>
                <a:spcPts val="1000"/>
              </a:spcBef>
              <a:spcAft>
                <a:spcPts val="0"/>
              </a:spcAft>
              <a:buClr>
                <a:schemeClr val="dk1"/>
              </a:buClr>
              <a:buSzPts val="2000"/>
              <a:buNone/>
            </a:pPr>
            <a:endParaRPr sz="2000" dirty="0">
              <a:latin typeface="+mn-lt"/>
              <a:ea typeface="Arial"/>
              <a:cs typeface="Arial"/>
              <a:sym typeface="Arial"/>
            </a:endParaRPr>
          </a:p>
          <a:p>
            <a:pPr marL="0" lvl="0" indent="0" algn="l" rtl="0">
              <a:lnSpc>
                <a:spcPct val="90000"/>
              </a:lnSpc>
              <a:spcBef>
                <a:spcPts val="1000"/>
              </a:spcBef>
              <a:spcAft>
                <a:spcPts val="0"/>
              </a:spcAft>
              <a:buClr>
                <a:schemeClr val="dk1"/>
              </a:buClr>
              <a:buSzPts val="2000"/>
              <a:buNone/>
            </a:pPr>
            <a:r>
              <a:rPr lang="en-US" sz="2000" dirty="0">
                <a:latin typeface="+mn-lt"/>
                <a:ea typeface="Arial"/>
                <a:cs typeface="Arial"/>
                <a:sym typeface="Arial"/>
              </a:rPr>
              <a:t>Solutions: </a:t>
            </a:r>
            <a:r>
              <a:rPr lang="en-US" sz="2000" b="1" i="0" u="none" strike="noStrike" dirty="0">
                <a:latin typeface="+mn-lt"/>
                <a:ea typeface="Arial"/>
                <a:cs typeface="Arial"/>
                <a:sym typeface="Arial"/>
              </a:rPr>
              <a:t>feature engineering </a:t>
            </a:r>
            <a:r>
              <a:rPr lang="en-US" sz="2000" b="0" i="0" u="none" strike="noStrike" dirty="0">
                <a:latin typeface="+mn-lt"/>
                <a:ea typeface="Arial"/>
                <a:cs typeface="Arial"/>
                <a:sym typeface="Arial"/>
              </a:rPr>
              <a:t>(manually) and </a:t>
            </a:r>
            <a:r>
              <a:rPr lang="en-US" sz="2000" b="1" i="0" u="none" strike="noStrike" dirty="0">
                <a:latin typeface="+mn-lt"/>
                <a:ea typeface="Arial"/>
                <a:cs typeface="Arial"/>
                <a:sym typeface="Arial"/>
              </a:rPr>
              <a:t>feature learning </a:t>
            </a:r>
            <a:r>
              <a:rPr lang="en-US" sz="2000" b="0" i="0" u="none" strike="noStrike" dirty="0">
                <a:latin typeface="+mn-lt"/>
                <a:ea typeface="Arial"/>
                <a:cs typeface="Arial"/>
                <a:sym typeface="Arial"/>
              </a:rPr>
              <a:t>(algorithmically)</a:t>
            </a:r>
            <a:endParaRPr sz="2000" dirty="0">
              <a:latin typeface="+mn-lt"/>
            </a:endParaRPr>
          </a:p>
        </p:txBody>
      </p:sp>
      <p:graphicFrame>
        <p:nvGraphicFramePr>
          <p:cNvPr id="7" name="Table 6">
            <a:extLst>
              <a:ext uri="{FF2B5EF4-FFF2-40B4-BE49-F238E27FC236}">
                <a16:creationId xmlns:a16="http://schemas.microsoft.com/office/drawing/2014/main" id="{0E76D1D3-444F-6C97-4637-67376C892227}"/>
              </a:ext>
            </a:extLst>
          </p:cNvPr>
          <p:cNvGraphicFramePr>
            <a:graphicFrameLocks noGrp="1"/>
          </p:cNvGraphicFramePr>
          <p:nvPr>
            <p:extLst>
              <p:ext uri="{D42A27DB-BD31-4B8C-83A1-F6EECF244321}">
                <p14:modId xmlns:p14="http://schemas.microsoft.com/office/powerpoint/2010/main" val="3505835170"/>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Acquisition and Processing Summary</a:t>
                      </a:r>
                      <a:endParaRPr lang="en-US" dirty="0"/>
                    </a:p>
                  </a:txBody>
                  <a:tcPr>
                    <a:solidFill>
                      <a:srgbClr val="7030A0"/>
                    </a:solidFill>
                  </a:tcPr>
                </a:tc>
                <a:tc>
                  <a:txBody>
                    <a:bodyPr/>
                    <a:lstStyle/>
                    <a:p>
                      <a:pPr algn="ctr"/>
                      <a:r>
                        <a:rPr lang="en-US" sz="1400" dirty="0">
                          <a:latin typeface="+mn-lt"/>
                        </a:rPr>
                        <a:t>Feature Engineering Summary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13"/>
          <p:cNvSpPr txBox="1">
            <a:spLocks noGrp="1"/>
          </p:cNvSpPr>
          <p:nvPr>
            <p:ph type="title"/>
          </p:nvPr>
        </p:nvSpPr>
        <p:spPr>
          <a:xfrm>
            <a:off x="0" y="560632"/>
            <a:ext cx="6686302" cy="57272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sz="4000" dirty="0">
                <a:latin typeface="Calibri"/>
                <a:ea typeface="Calibri"/>
                <a:cs typeface="Calibri"/>
                <a:sym typeface="Calibri"/>
              </a:rPr>
              <a:t>Feature Engineering</a:t>
            </a:r>
            <a:endParaRPr dirty="0"/>
          </a:p>
        </p:txBody>
      </p:sp>
      <p:sp>
        <p:nvSpPr>
          <p:cNvPr id="184" name="Google Shape;1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30</a:t>
            </a:fld>
            <a:endParaRPr/>
          </a:p>
        </p:txBody>
      </p:sp>
      <p:pic>
        <p:nvPicPr>
          <p:cNvPr id="5" name="Google Shape;194;p14">
            <a:extLst>
              <a:ext uri="{FF2B5EF4-FFF2-40B4-BE49-F238E27FC236}">
                <a16:creationId xmlns:a16="http://schemas.microsoft.com/office/drawing/2014/main" id="{E2B19D62-E461-9FFB-F697-FF9774916B13}"/>
              </a:ext>
            </a:extLst>
          </p:cNvPr>
          <p:cNvPicPr preferRelativeResize="0"/>
          <p:nvPr/>
        </p:nvPicPr>
        <p:blipFill rotWithShape="1">
          <a:blip r:embed="rId3">
            <a:alphaModFix/>
          </a:blip>
          <a:srcRect/>
          <a:stretch/>
        </p:blipFill>
        <p:spPr>
          <a:xfrm>
            <a:off x="1103370" y="1292348"/>
            <a:ext cx="9330167" cy="4088544"/>
          </a:xfrm>
          <a:prstGeom prst="rect">
            <a:avLst/>
          </a:prstGeom>
          <a:noFill/>
          <a:ln>
            <a:noFill/>
          </a:ln>
        </p:spPr>
      </p:pic>
      <p:sp>
        <p:nvSpPr>
          <p:cNvPr id="6" name="TextBox 5">
            <a:extLst>
              <a:ext uri="{FF2B5EF4-FFF2-40B4-BE49-F238E27FC236}">
                <a16:creationId xmlns:a16="http://schemas.microsoft.com/office/drawing/2014/main" id="{3A48F73E-5EBA-5DC2-A017-9052DEC60648}"/>
              </a:ext>
            </a:extLst>
          </p:cNvPr>
          <p:cNvSpPr txBox="1"/>
          <p:nvPr/>
        </p:nvSpPr>
        <p:spPr>
          <a:xfrm>
            <a:off x="4298556" y="5698881"/>
            <a:ext cx="2994600" cy="276999"/>
          </a:xfrm>
          <a:prstGeom prst="rect">
            <a:avLst/>
          </a:prstGeom>
          <a:noFill/>
        </p:spPr>
        <p:txBody>
          <a:bodyPr wrap="square" rtlCol="0">
            <a:spAutoFit/>
          </a:bodyPr>
          <a:lstStyle/>
          <a:p>
            <a:r>
              <a:rPr lang="en-US" sz="1200" b="0" i="0" u="none" strike="noStrike" baseline="0" dirty="0">
                <a:latin typeface="+mn-lt"/>
              </a:rPr>
              <a:t>Manually Designed Features for JIT-SDP</a:t>
            </a:r>
            <a:endParaRPr lang="en-US" sz="1200" dirty="0">
              <a:latin typeface="+mn-lt"/>
            </a:endParaRPr>
          </a:p>
        </p:txBody>
      </p:sp>
      <p:graphicFrame>
        <p:nvGraphicFramePr>
          <p:cNvPr id="7" name="Table 6">
            <a:extLst>
              <a:ext uri="{FF2B5EF4-FFF2-40B4-BE49-F238E27FC236}">
                <a16:creationId xmlns:a16="http://schemas.microsoft.com/office/drawing/2014/main" id="{7F194D3F-4A0E-2FF9-2F5B-236828D3C494}"/>
              </a:ext>
            </a:extLst>
          </p:cNvPr>
          <p:cNvGraphicFramePr>
            <a:graphicFrameLocks noGrp="1"/>
          </p:cNvGraphicFramePr>
          <p:nvPr>
            <p:extLst>
              <p:ext uri="{D42A27DB-BD31-4B8C-83A1-F6EECF244321}">
                <p14:modId xmlns:p14="http://schemas.microsoft.com/office/powerpoint/2010/main" val="78951094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Feature Engineering Summary</a:t>
                      </a:r>
                      <a:endParaRPr lang="en-US" dirty="0"/>
                    </a:p>
                  </a:txBody>
                  <a:tcPr>
                    <a:solidFill>
                      <a:srgbClr val="7030A0"/>
                    </a:solidFill>
                  </a:tcPr>
                </a:tc>
                <a:tc>
                  <a:txBody>
                    <a:bodyPr/>
                    <a:lstStyle/>
                    <a:p>
                      <a:pPr algn="ctr"/>
                      <a:r>
                        <a:rPr lang="en-US" sz="1400" dirty="0">
                          <a:latin typeface="+mn-lt"/>
                        </a:rPr>
                        <a:t>Feature Engineering: Features from Software change history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25368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1" name="Google Shape;181;p13"/>
          <p:cNvSpPr txBox="1">
            <a:spLocks noGrp="1"/>
          </p:cNvSpPr>
          <p:nvPr>
            <p:ph type="title"/>
          </p:nvPr>
        </p:nvSpPr>
        <p:spPr>
          <a:xfrm>
            <a:off x="0" y="354483"/>
            <a:ext cx="11863754" cy="546181"/>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000"/>
              <a:buFont typeface="Calibri"/>
              <a:buNone/>
            </a:pPr>
            <a:r>
              <a:rPr lang="en-US" sz="4000" dirty="0">
                <a:latin typeface="Calibri"/>
                <a:ea typeface="Calibri"/>
                <a:cs typeface="Calibri"/>
                <a:sym typeface="Calibri"/>
              </a:rPr>
              <a:t>Feature Engineering: Software Metrics</a:t>
            </a:r>
            <a:endParaRPr dirty="0"/>
          </a:p>
        </p:txBody>
      </p:sp>
      <p:sp>
        <p:nvSpPr>
          <p:cNvPr id="184" name="Google Shape;18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31</a:t>
            </a:fld>
            <a:endParaRPr/>
          </a:p>
        </p:txBody>
      </p:sp>
      <p:sp>
        <p:nvSpPr>
          <p:cNvPr id="4" name="Google Shape;182;p13">
            <a:extLst>
              <a:ext uri="{FF2B5EF4-FFF2-40B4-BE49-F238E27FC236}">
                <a16:creationId xmlns:a16="http://schemas.microsoft.com/office/drawing/2014/main" id="{6B287897-9995-CE25-D380-9363DB8934B2}"/>
              </a:ext>
            </a:extLst>
          </p:cNvPr>
          <p:cNvSpPr txBox="1">
            <a:spLocks noGrp="1"/>
          </p:cNvSpPr>
          <p:nvPr>
            <p:ph type="body" idx="1"/>
          </p:nvPr>
        </p:nvSpPr>
        <p:spPr>
          <a:xfrm>
            <a:off x="260960" y="1223483"/>
            <a:ext cx="4152774" cy="1387512"/>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dirty="0"/>
              <a:t>Software change metrics are those directly computed from the software code of the changes, e.g., the diffs.</a:t>
            </a:r>
          </a:p>
        </p:txBody>
      </p:sp>
      <p:pic>
        <p:nvPicPr>
          <p:cNvPr id="3" name="Google Shape;205;p15">
            <a:extLst>
              <a:ext uri="{FF2B5EF4-FFF2-40B4-BE49-F238E27FC236}">
                <a16:creationId xmlns:a16="http://schemas.microsoft.com/office/drawing/2014/main" id="{F95E0C6C-9B61-1D5A-03B4-8423C59EF873}"/>
              </a:ext>
            </a:extLst>
          </p:cNvPr>
          <p:cNvPicPr preferRelativeResize="0">
            <a:picLocks/>
          </p:cNvPicPr>
          <p:nvPr/>
        </p:nvPicPr>
        <p:blipFill rotWithShape="1">
          <a:blip r:embed="rId3">
            <a:alphaModFix/>
          </a:blip>
          <a:srcRect/>
          <a:stretch/>
        </p:blipFill>
        <p:spPr>
          <a:xfrm>
            <a:off x="4316610" y="889401"/>
            <a:ext cx="7758159" cy="2064814"/>
          </a:xfrm>
          <a:prstGeom prst="rect">
            <a:avLst/>
          </a:prstGeom>
          <a:noFill/>
          <a:ln>
            <a:noFill/>
          </a:ln>
        </p:spPr>
      </p:pic>
      <p:pic>
        <p:nvPicPr>
          <p:cNvPr id="5" name="Picture 4">
            <a:extLst>
              <a:ext uri="{FF2B5EF4-FFF2-40B4-BE49-F238E27FC236}">
                <a16:creationId xmlns:a16="http://schemas.microsoft.com/office/drawing/2014/main" id="{28AC6E96-A525-4EB0-0D66-0ECB44A14460}"/>
              </a:ext>
            </a:extLst>
          </p:cNvPr>
          <p:cNvPicPr>
            <a:picLocks noChangeAspect="1"/>
          </p:cNvPicPr>
          <p:nvPr/>
        </p:nvPicPr>
        <p:blipFill>
          <a:blip r:embed="rId4"/>
          <a:stretch>
            <a:fillRect/>
          </a:stretch>
        </p:blipFill>
        <p:spPr>
          <a:xfrm>
            <a:off x="442959" y="3599852"/>
            <a:ext cx="11306082" cy="2217607"/>
          </a:xfrm>
          <a:prstGeom prst="rect">
            <a:avLst/>
          </a:prstGeom>
        </p:spPr>
      </p:pic>
      <p:graphicFrame>
        <p:nvGraphicFramePr>
          <p:cNvPr id="8" name="Table 7">
            <a:extLst>
              <a:ext uri="{FF2B5EF4-FFF2-40B4-BE49-F238E27FC236}">
                <a16:creationId xmlns:a16="http://schemas.microsoft.com/office/drawing/2014/main" id="{A3E6B97D-7AC1-457C-750B-E054C78251A4}"/>
              </a:ext>
            </a:extLst>
          </p:cNvPr>
          <p:cNvGraphicFramePr>
            <a:graphicFrameLocks noGrp="1"/>
          </p:cNvGraphicFramePr>
          <p:nvPr>
            <p:extLst>
              <p:ext uri="{D42A27DB-BD31-4B8C-83A1-F6EECF244321}">
                <p14:modId xmlns:p14="http://schemas.microsoft.com/office/powerpoint/2010/main" val="3602190680"/>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Software change history</a:t>
                      </a:r>
                      <a:endParaRPr lang="en-US" dirty="0"/>
                    </a:p>
                  </a:txBody>
                  <a:tcPr>
                    <a:solidFill>
                      <a:srgbClr val="7030A0"/>
                    </a:solidFill>
                  </a:tcPr>
                </a:tc>
                <a:tc>
                  <a:txBody>
                    <a:bodyPr/>
                    <a:lstStyle/>
                    <a:p>
                      <a:pPr algn="ctr"/>
                      <a:r>
                        <a:rPr lang="en-US" sz="1400" dirty="0">
                          <a:latin typeface="+mn-lt"/>
                        </a:rPr>
                        <a:t>Feature Engineering: Features from Commit Message</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4698743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4"/>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4"/>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4"/>
          <p:cNvSpPr/>
          <p:nvPr/>
        </p:nvSpPr>
        <p:spPr>
          <a:xfrm flipH="1">
            <a:off x="-39625" y="-496"/>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4"/>
          <p:cNvSpPr txBox="1">
            <a:spLocks noGrp="1"/>
          </p:cNvSpPr>
          <p:nvPr>
            <p:ph type="title"/>
          </p:nvPr>
        </p:nvSpPr>
        <p:spPr>
          <a:xfrm>
            <a:off x="39625" y="207554"/>
            <a:ext cx="10980067"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Engineering: Commit Messages(1/2)</a:t>
            </a:r>
            <a:endParaRPr dirty="0"/>
          </a:p>
        </p:txBody>
      </p:sp>
      <p:sp>
        <p:nvSpPr>
          <p:cNvPr id="195" name="Google Shape;195;p14"/>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32</a:t>
            </a:fld>
            <a:endParaRPr sz="1100">
              <a:solidFill>
                <a:srgbClr val="7F7F7F"/>
              </a:solidFill>
            </a:endParaRPr>
          </a:p>
        </p:txBody>
      </p:sp>
      <p:sp>
        <p:nvSpPr>
          <p:cNvPr id="2" name="Google Shape;182;p13">
            <a:extLst>
              <a:ext uri="{FF2B5EF4-FFF2-40B4-BE49-F238E27FC236}">
                <a16:creationId xmlns:a16="http://schemas.microsoft.com/office/drawing/2014/main" id="{BC13410F-2B2E-BFAE-CB8A-573083093741}"/>
              </a:ext>
            </a:extLst>
          </p:cNvPr>
          <p:cNvSpPr txBox="1">
            <a:spLocks noGrp="1"/>
          </p:cNvSpPr>
          <p:nvPr>
            <p:ph type="body" idx="1"/>
          </p:nvPr>
        </p:nvSpPr>
        <p:spPr>
          <a:xfrm>
            <a:off x="5967046" y="2295291"/>
            <a:ext cx="6056375" cy="376561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dirty="0"/>
              <a:t>Since commit messages are written as natural language text, features to encode them are usually borrowed from the natural language processing literature. These features include bag-of-words, the message length, and the message content features [3, 69].</a:t>
            </a:r>
          </a:p>
        </p:txBody>
      </p:sp>
      <p:pic>
        <p:nvPicPr>
          <p:cNvPr id="7" name="Picture 6">
            <a:extLst>
              <a:ext uri="{FF2B5EF4-FFF2-40B4-BE49-F238E27FC236}">
                <a16:creationId xmlns:a16="http://schemas.microsoft.com/office/drawing/2014/main" id="{76B3F39F-D62E-E4A9-4B0A-3AC535AB55BE}"/>
              </a:ext>
            </a:extLst>
          </p:cNvPr>
          <p:cNvPicPr>
            <a:picLocks noChangeAspect="1"/>
          </p:cNvPicPr>
          <p:nvPr/>
        </p:nvPicPr>
        <p:blipFill>
          <a:blip r:embed="rId3"/>
          <a:stretch>
            <a:fillRect/>
          </a:stretch>
        </p:blipFill>
        <p:spPr>
          <a:xfrm>
            <a:off x="0" y="1639663"/>
            <a:ext cx="4876800" cy="5241783"/>
          </a:xfrm>
          <a:prstGeom prst="rect">
            <a:avLst/>
          </a:prstGeom>
        </p:spPr>
      </p:pic>
      <p:graphicFrame>
        <p:nvGraphicFramePr>
          <p:cNvPr id="8" name="Table 7">
            <a:extLst>
              <a:ext uri="{FF2B5EF4-FFF2-40B4-BE49-F238E27FC236}">
                <a16:creationId xmlns:a16="http://schemas.microsoft.com/office/drawing/2014/main" id="{062BD463-C7F8-14DA-9BC8-DBC0239AF4A3}"/>
              </a:ext>
            </a:extLst>
          </p:cNvPr>
          <p:cNvGraphicFramePr>
            <a:graphicFrameLocks noGrp="1"/>
          </p:cNvGraphicFramePr>
          <p:nvPr>
            <p:extLst>
              <p:ext uri="{D42A27DB-BD31-4B8C-83A1-F6EECF244321}">
                <p14:modId xmlns:p14="http://schemas.microsoft.com/office/powerpoint/2010/main" val="1651825333"/>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Commit Message(1/2)</a:t>
                      </a:r>
                      <a:endParaRPr lang="en-US" dirty="0"/>
                    </a:p>
                  </a:txBody>
                  <a:tcPr>
                    <a:solidFill>
                      <a:srgbClr val="7030A0"/>
                    </a:solidFill>
                  </a:tcPr>
                </a:tc>
                <a:tc>
                  <a:txBody>
                    <a:bodyPr/>
                    <a:lstStyle/>
                    <a:p>
                      <a:pPr algn="ctr"/>
                      <a:r>
                        <a:rPr lang="en-US" sz="1400" dirty="0">
                          <a:latin typeface="+mn-lt"/>
                        </a:rPr>
                        <a:t>Feature Engineering: Features from Commit Message(2/2)</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0" name="Google Shape;190;p14"/>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1" name="Google Shape;191;p14"/>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2" name="Google Shape;192;p14"/>
          <p:cNvSpPr/>
          <p:nvPr/>
        </p:nvSpPr>
        <p:spPr>
          <a:xfrm flipH="1">
            <a:off x="-39625" y="-496"/>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3" name="Google Shape;193;p14"/>
          <p:cNvSpPr txBox="1">
            <a:spLocks noGrp="1"/>
          </p:cNvSpPr>
          <p:nvPr>
            <p:ph type="title"/>
          </p:nvPr>
        </p:nvSpPr>
        <p:spPr>
          <a:xfrm>
            <a:off x="39625" y="207554"/>
            <a:ext cx="10980067"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Engineering: Commit Messages</a:t>
            </a:r>
            <a:endParaRPr dirty="0"/>
          </a:p>
        </p:txBody>
      </p:sp>
      <p:sp>
        <p:nvSpPr>
          <p:cNvPr id="195" name="Google Shape;195;p14"/>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33</a:t>
            </a:fld>
            <a:endParaRPr sz="1100">
              <a:solidFill>
                <a:srgbClr val="7F7F7F"/>
              </a:solidFill>
            </a:endParaRPr>
          </a:p>
        </p:txBody>
      </p:sp>
      <p:sp>
        <p:nvSpPr>
          <p:cNvPr id="2" name="Google Shape;182;p13">
            <a:extLst>
              <a:ext uri="{FF2B5EF4-FFF2-40B4-BE49-F238E27FC236}">
                <a16:creationId xmlns:a16="http://schemas.microsoft.com/office/drawing/2014/main" id="{BC13410F-2B2E-BFAE-CB8A-573083093741}"/>
              </a:ext>
            </a:extLst>
          </p:cNvPr>
          <p:cNvSpPr txBox="1">
            <a:spLocks noGrp="1"/>
          </p:cNvSpPr>
          <p:nvPr>
            <p:ph type="body" idx="1"/>
          </p:nvPr>
        </p:nvSpPr>
        <p:spPr>
          <a:xfrm>
            <a:off x="234462" y="1909432"/>
            <a:ext cx="11917913" cy="136238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2000" dirty="0"/>
              <a:t>An example is term frequency (TF) that counts the occurrences of a specific word in the commit message, e.g., used by Tan et al. [62].</a:t>
            </a:r>
          </a:p>
          <a:p>
            <a:pPr marL="0" lvl="0" indent="0" algn="l" rtl="0">
              <a:lnSpc>
                <a:spcPct val="90000"/>
              </a:lnSpc>
              <a:spcBef>
                <a:spcPts val="0"/>
              </a:spcBef>
              <a:spcAft>
                <a:spcPts val="0"/>
              </a:spcAft>
              <a:buClr>
                <a:schemeClr val="dk1"/>
              </a:buClr>
              <a:buSzPts val="2000"/>
              <a:buNone/>
            </a:pPr>
            <a:r>
              <a:rPr lang="en-US" sz="2000" dirty="0"/>
              <a:t>Barnett et al. [5] hypothesize that the level of detail in commit messages is useful for JIT-SDP and confirm it</a:t>
            </a:r>
          </a:p>
          <a:p>
            <a:pPr marL="0" lvl="0" indent="0" algn="l" rtl="0">
              <a:lnSpc>
                <a:spcPct val="90000"/>
              </a:lnSpc>
              <a:spcBef>
                <a:spcPts val="0"/>
              </a:spcBef>
              <a:spcAft>
                <a:spcPts val="0"/>
              </a:spcAft>
              <a:buClr>
                <a:schemeClr val="dk1"/>
              </a:buClr>
              <a:buSzPts val="2000"/>
              <a:buNone/>
            </a:pPr>
            <a:r>
              <a:rPr lang="en-US" sz="2000" dirty="0"/>
              <a:t>via their investigation of more than 300 repositories.</a:t>
            </a:r>
          </a:p>
          <a:p>
            <a:pPr marL="0" lvl="0" indent="0" algn="l" rtl="0">
              <a:lnSpc>
                <a:spcPct val="90000"/>
              </a:lnSpc>
              <a:spcBef>
                <a:spcPts val="0"/>
              </a:spcBef>
              <a:spcAft>
                <a:spcPts val="0"/>
              </a:spcAft>
              <a:buClr>
                <a:schemeClr val="dk1"/>
              </a:buClr>
              <a:buSzPts val="2000"/>
              <a:buNone/>
            </a:pPr>
            <a:endParaRPr lang="en-US" sz="2000" dirty="0"/>
          </a:p>
        </p:txBody>
      </p:sp>
      <p:pic>
        <p:nvPicPr>
          <p:cNvPr id="4" name="Picture 3">
            <a:extLst>
              <a:ext uri="{FF2B5EF4-FFF2-40B4-BE49-F238E27FC236}">
                <a16:creationId xmlns:a16="http://schemas.microsoft.com/office/drawing/2014/main" id="{B8402BEA-478F-2DB6-7D11-D6540DC44911}"/>
              </a:ext>
            </a:extLst>
          </p:cNvPr>
          <p:cNvPicPr>
            <a:picLocks noChangeAspect="1"/>
          </p:cNvPicPr>
          <p:nvPr/>
        </p:nvPicPr>
        <p:blipFill>
          <a:blip r:embed="rId3"/>
          <a:stretch>
            <a:fillRect/>
          </a:stretch>
        </p:blipFill>
        <p:spPr>
          <a:xfrm>
            <a:off x="39625" y="3674156"/>
            <a:ext cx="12192000" cy="2781508"/>
          </a:xfrm>
          <a:prstGeom prst="rect">
            <a:avLst/>
          </a:prstGeom>
        </p:spPr>
      </p:pic>
      <p:graphicFrame>
        <p:nvGraphicFramePr>
          <p:cNvPr id="3" name="Table 2">
            <a:extLst>
              <a:ext uri="{FF2B5EF4-FFF2-40B4-BE49-F238E27FC236}">
                <a16:creationId xmlns:a16="http://schemas.microsoft.com/office/drawing/2014/main" id="{4725A16F-83AD-BFF6-CB34-056C935B2E5C}"/>
              </a:ext>
            </a:extLst>
          </p:cNvPr>
          <p:cNvGraphicFramePr>
            <a:graphicFrameLocks noGrp="1"/>
          </p:cNvGraphicFramePr>
          <p:nvPr>
            <p:extLst>
              <p:ext uri="{D42A27DB-BD31-4B8C-83A1-F6EECF244321}">
                <p14:modId xmlns:p14="http://schemas.microsoft.com/office/powerpoint/2010/main" val="2572079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Commit Message(2/2)</a:t>
                      </a:r>
                      <a:endParaRPr lang="en-US" dirty="0"/>
                    </a:p>
                  </a:txBody>
                  <a:tcPr>
                    <a:solidFill>
                      <a:srgbClr val="7030A0"/>
                    </a:solidFill>
                  </a:tcPr>
                </a:tc>
                <a:tc>
                  <a:txBody>
                    <a:bodyPr/>
                    <a:lstStyle/>
                    <a:p>
                      <a:pPr algn="ctr"/>
                      <a:r>
                        <a:rPr lang="en-US" sz="1400" dirty="0">
                          <a:latin typeface="+mn-lt"/>
                        </a:rPr>
                        <a:t>Feature Engineering: Features from ITS(1/2)</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4687477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9"/>
        <p:cNvGrpSpPr/>
        <p:nvPr/>
      </p:nvGrpSpPr>
      <p:grpSpPr>
        <a:xfrm>
          <a:off x="0" y="0"/>
          <a:ext cx="0" cy="0"/>
          <a:chOff x="0" y="0"/>
          <a:chExt cx="0" cy="0"/>
        </a:xfrm>
      </p:grpSpPr>
      <p:sp>
        <p:nvSpPr>
          <p:cNvPr id="201" name="Google Shape;201;p1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5"/>
          <p:cNvSpPr txBox="1"/>
          <p:nvPr/>
        </p:nvSpPr>
        <p:spPr>
          <a:xfrm>
            <a:off x="1" y="248038"/>
            <a:ext cx="12152374" cy="1159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Engineering: ITS Data(1/2)</a:t>
            </a:r>
            <a:endParaRPr dirty="0"/>
          </a:p>
        </p:txBody>
      </p:sp>
      <p:sp>
        <p:nvSpPr>
          <p:cNvPr id="206" name="Google Shape;206;p1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34</a:t>
            </a:fld>
            <a:endParaRPr sz="1100">
              <a:solidFill>
                <a:srgbClr val="7F7F7F"/>
              </a:solidFill>
            </a:endParaRPr>
          </a:p>
        </p:txBody>
      </p:sp>
      <p:sp>
        <p:nvSpPr>
          <p:cNvPr id="5" name="Google Shape;182;p13">
            <a:extLst>
              <a:ext uri="{FF2B5EF4-FFF2-40B4-BE49-F238E27FC236}">
                <a16:creationId xmlns:a16="http://schemas.microsoft.com/office/drawing/2014/main" id="{D6A8F4A0-582A-0678-96FC-58DCBD210DB5}"/>
              </a:ext>
            </a:extLst>
          </p:cNvPr>
          <p:cNvSpPr txBox="1">
            <a:spLocks noGrp="1"/>
          </p:cNvSpPr>
          <p:nvPr>
            <p:ph type="body" idx="1"/>
          </p:nvPr>
        </p:nvSpPr>
        <p:spPr>
          <a:xfrm>
            <a:off x="468923" y="2484111"/>
            <a:ext cx="4349262" cy="3240886"/>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2000"/>
              <a:buNone/>
            </a:pPr>
            <a:r>
              <a:rPr lang="en-US" sz="1800" dirty="0">
                <a:latin typeface="+mn-lt"/>
              </a:rPr>
              <a:t>ITS contains two types of data:</a:t>
            </a:r>
          </a:p>
          <a:p>
            <a:pPr marL="285750" indent="-285750">
              <a:spcBef>
                <a:spcPts val="0"/>
              </a:spcBef>
              <a:buSzPts val="2000"/>
            </a:pPr>
            <a:r>
              <a:rPr lang="en-US" sz="1800" dirty="0">
                <a:latin typeface="+mn-lt"/>
              </a:rPr>
              <a:t>natural language text, such as, issue reports, issue discussions, and code reviews </a:t>
            </a:r>
          </a:p>
          <a:p>
            <a:pPr marL="285750" indent="-285750">
              <a:spcBef>
                <a:spcPts val="0"/>
              </a:spcBef>
              <a:buSzPts val="2000"/>
            </a:pPr>
            <a:r>
              <a:rPr lang="en-US" sz="1800" dirty="0">
                <a:latin typeface="+mn-lt"/>
              </a:rPr>
              <a:t>meta-data, such as, the type of issues and the issue creation time.</a:t>
            </a:r>
          </a:p>
          <a:p>
            <a:pPr marL="0" indent="0">
              <a:spcBef>
                <a:spcPts val="0"/>
              </a:spcBef>
              <a:buSzPts val="2000"/>
              <a:buNone/>
            </a:pPr>
            <a:endParaRPr lang="en-US" sz="1800" dirty="0">
              <a:latin typeface="+mn-lt"/>
            </a:endParaRPr>
          </a:p>
          <a:p>
            <a:pPr marL="0" lvl="0" indent="0" algn="l" rtl="0">
              <a:lnSpc>
                <a:spcPct val="90000"/>
              </a:lnSpc>
              <a:spcBef>
                <a:spcPts val="0"/>
              </a:spcBef>
              <a:spcAft>
                <a:spcPts val="0"/>
              </a:spcAft>
              <a:buClr>
                <a:schemeClr val="dk1"/>
              </a:buClr>
              <a:buSzPts val="2000"/>
              <a:buNone/>
            </a:pPr>
            <a:r>
              <a:rPr lang="en-US" sz="1800" dirty="0">
                <a:latin typeface="+mn-lt"/>
              </a:rPr>
              <a:t>Prior JIT-SDP studies design and investigate features mostly capturing the characteristics of the ITS data other than actual textual contents [72, 74].</a:t>
            </a:r>
          </a:p>
          <a:p>
            <a:pPr marL="0" lvl="0" indent="0" algn="l" rtl="0">
              <a:lnSpc>
                <a:spcPct val="90000"/>
              </a:lnSpc>
              <a:spcBef>
                <a:spcPts val="0"/>
              </a:spcBef>
              <a:spcAft>
                <a:spcPts val="0"/>
              </a:spcAft>
              <a:buClr>
                <a:schemeClr val="dk1"/>
              </a:buClr>
              <a:buSzPts val="2000"/>
              <a:buNone/>
            </a:pPr>
            <a:endParaRPr lang="en-US" sz="1800" dirty="0">
              <a:latin typeface="+mn-lt"/>
            </a:endParaRPr>
          </a:p>
          <a:p>
            <a:pPr marL="0" indent="0">
              <a:spcBef>
                <a:spcPts val="0"/>
              </a:spcBef>
              <a:buSzPts val="2000"/>
              <a:buNone/>
            </a:pPr>
            <a:endParaRPr lang="en-US" sz="1800" dirty="0">
              <a:latin typeface="+mn-lt"/>
            </a:endParaRPr>
          </a:p>
        </p:txBody>
      </p:sp>
      <p:pic>
        <p:nvPicPr>
          <p:cNvPr id="15" name="Picture 14">
            <a:extLst>
              <a:ext uri="{FF2B5EF4-FFF2-40B4-BE49-F238E27FC236}">
                <a16:creationId xmlns:a16="http://schemas.microsoft.com/office/drawing/2014/main" id="{A25EA1DB-BFD1-7773-B715-B30BA9E885D4}"/>
              </a:ext>
            </a:extLst>
          </p:cNvPr>
          <p:cNvPicPr>
            <a:picLocks noChangeAspect="1"/>
          </p:cNvPicPr>
          <p:nvPr/>
        </p:nvPicPr>
        <p:blipFill>
          <a:blip r:embed="rId3"/>
          <a:stretch>
            <a:fillRect/>
          </a:stretch>
        </p:blipFill>
        <p:spPr>
          <a:xfrm>
            <a:off x="5566395" y="1605144"/>
            <a:ext cx="5887784" cy="5176656"/>
          </a:xfrm>
          <a:prstGeom prst="rect">
            <a:avLst/>
          </a:prstGeom>
        </p:spPr>
      </p:pic>
      <p:graphicFrame>
        <p:nvGraphicFramePr>
          <p:cNvPr id="16" name="Table 15">
            <a:extLst>
              <a:ext uri="{FF2B5EF4-FFF2-40B4-BE49-F238E27FC236}">
                <a16:creationId xmlns:a16="http://schemas.microsoft.com/office/drawing/2014/main" id="{3B174BBB-6F11-CBCF-0E71-B5B06BD0DF9E}"/>
              </a:ext>
            </a:extLst>
          </p:cNvPr>
          <p:cNvGraphicFramePr>
            <a:graphicFrameLocks noGrp="1"/>
          </p:cNvGraphicFramePr>
          <p:nvPr>
            <p:extLst>
              <p:ext uri="{D42A27DB-BD31-4B8C-83A1-F6EECF244321}">
                <p14:modId xmlns:p14="http://schemas.microsoft.com/office/powerpoint/2010/main" val="62896223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ITS(1/2)</a:t>
                      </a:r>
                      <a:endParaRPr lang="en-US" dirty="0"/>
                    </a:p>
                  </a:txBody>
                  <a:tcPr>
                    <a:solidFill>
                      <a:srgbClr val="7030A0"/>
                    </a:solidFill>
                  </a:tcPr>
                </a:tc>
                <a:tc>
                  <a:txBody>
                    <a:bodyPr/>
                    <a:lstStyle/>
                    <a:p>
                      <a:pPr algn="ctr"/>
                      <a:r>
                        <a:rPr lang="en-US" sz="1400" dirty="0">
                          <a:latin typeface="+mn-lt"/>
                        </a:rPr>
                        <a:t>Feature Engineering: Features from ITS(2/2)</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1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5"/>
          <p:cNvSpPr txBox="1"/>
          <p:nvPr/>
        </p:nvSpPr>
        <p:spPr>
          <a:xfrm>
            <a:off x="1" y="248038"/>
            <a:ext cx="12152374" cy="1159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Engineering: ITS Data(2/2)</a:t>
            </a:r>
            <a:endParaRPr dirty="0"/>
          </a:p>
        </p:txBody>
      </p:sp>
      <p:sp>
        <p:nvSpPr>
          <p:cNvPr id="206" name="Google Shape;206;p1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35</a:t>
            </a:fld>
            <a:endParaRPr sz="1100">
              <a:solidFill>
                <a:srgbClr val="7F7F7F"/>
              </a:solidFill>
            </a:endParaRPr>
          </a:p>
        </p:txBody>
      </p:sp>
      <p:sp>
        <p:nvSpPr>
          <p:cNvPr id="5" name="Google Shape;182;p13">
            <a:extLst>
              <a:ext uri="{FF2B5EF4-FFF2-40B4-BE49-F238E27FC236}">
                <a16:creationId xmlns:a16="http://schemas.microsoft.com/office/drawing/2014/main" id="{D6A8F4A0-582A-0678-96FC-58DCBD210DB5}"/>
              </a:ext>
            </a:extLst>
          </p:cNvPr>
          <p:cNvSpPr txBox="1">
            <a:spLocks noGrp="1"/>
          </p:cNvSpPr>
          <p:nvPr>
            <p:ph type="body" idx="1"/>
          </p:nvPr>
        </p:nvSpPr>
        <p:spPr>
          <a:xfrm>
            <a:off x="0" y="1745557"/>
            <a:ext cx="4431324" cy="4864405"/>
          </a:xfrm>
          <a:prstGeom prst="rect">
            <a:avLst/>
          </a:prstGeom>
          <a:noFill/>
          <a:ln>
            <a:noFill/>
          </a:ln>
        </p:spPr>
        <p:txBody>
          <a:bodyPr spcFirstLastPara="1" wrap="square" lIns="91425" tIns="45700" rIns="91425" bIns="45700" anchor="t" anchorCtr="0">
            <a:noAutofit/>
          </a:bodyPr>
          <a:lstStyle/>
          <a:p>
            <a:pPr marL="285750" indent="-285750">
              <a:spcBef>
                <a:spcPts val="0"/>
              </a:spcBef>
              <a:buSzPts val="2000"/>
            </a:pPr>
            <a:r>
              <a:rPr lang="en-US" sz="1800" dirty="0" err="1">
                <a:latin typeface="+mn-lt"/>
              </a:rPr>
              <a:t>Tourani</a:t>
            </a:r>
            <a:r>
              <a:rPr lang="en-US" sz="1800" dirty="0">
                <a:latin typeface="+mn-lt"/>
              </a:rPr>
              <a:t> and Adams [66] propose a suite of issue discussion and code review discussion metrics that attempt to capture the characteristics of these data sources other than actual textual content.</a:t>
            </a: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285750" indent="-285750">
              <a:spcBef>
                <a:spcPts val="0"/>
              </a:spcBef>
              <a:buSzPts val="2000"/>
            </a:pPr>
            <a:endParaRPr lang="en-US" sz="1800" dirty="0">
              <a:latin typeface="+mn-lt"/>
            </a:endParaRPr>
          </a:p>
          <a:p>
            <a:pPr marL="0" indent="0">
              <a:spcBef>
                <a:spcPts val="0"/>
              </a:spcBef>
              <a:buSzPts val="2000"/>
              <a:buNone/>
            </a:pPr>
            <a:endParaRPr lang="en-US" sz="1800" dirty="0">
              <a:latin typeface="+mn-lt"/>
            </a:endParaRPr>
          </a:p>
          <a:p>
            <a:pPr marL="285750" indent="-285750">
              <a:spcBef>
                <a:spcPts val="0"/>
              </a:spcBef>
              <a:buSzPts val="2000"/>
            </a:pPr>
            <a:r>
              <a:rPr lang="en-US" sz="1800" b="0" i="0" u="none" strike="noStrike" baseline="0" dirty="0" err="1">
                <a:latin typeface="+mn-lt"/>
              </a:rPr>
              <a:t>Tessema</a:t>
            </a:r>
            <a:r>
              <a:rPr lang="en-US" sz="1800" b="0" i="0" u="none" strike="noStrike" baseline="0" dirty="0">
                <a:latin typeface="+mn-lt"/>
              </a:rPr>
              <a:t> and Abebe [64] propose 6 metrics for change requests in ITS.</a:t>
            </a:r>
            <a:endParaRPr lang="en-US" sz="1800" dirty="0">
              <a:latin typeface="+mn-lt"/>
            </a:endParaRPr>
          </a:p>
        </p:txBody>
      </p:sp>
      <p:pic>
        <p:nvPicPr>
          <p:cNvPr id="7" name="Picture 6">
            <a:extLst>
              <a:ext uri="{FF2B5EF4-FFF2-40B4-BE49-F238E27FC236}">
                <a16:creationId xmlns:a16="http://schemas.microsoft.com/office/drawing/2014/main" id="{4D1B6918-C4CA-30CD-EE1E-6B72DD7FF2CE}"/>
              </a:ext>
            </a:extLst>
          </p:cNvPr>
          <p:cNvPicPr>
            <a:picLocks noChangeAspect="1"/>
          </p:cNvPicPr>
          <p:nvPr/>
        </p:nvPicPr>
        <p:blipFill>
          <a:blip r:embed="rId3"/>
          <a:stretch>
            <a:fillRect/>
          </a:stretch>
        </p:blipFill>
        <p:spPr>
          <a:xfrm>
            <a:off x="4274467" y="1561492"/>
            <a:ext cx="7877908" cy="3424950"/>
          </a:xfrm>
          <a:prstGeom prst="rect">
            <a:avLst/>
          </a:prstGeom>
        </p:spPr>
      </p:pic>
      <p:pic>
        <p:nvPicPr>
          <p:cNvPr id="9" name="Picture 8">
            <a:extLst>
              <a:ext uri="{FF2B5EF4-FFF2-40B4-BE49-F238E27FC236}">
                <a16:creationId xmlns:a16="http://schemas.microsoft.com/office/drawing/2014/main" id="{6F8D4981-A7CB-8CBF-CB68-8D6E5FC14BC8}"/>
              </a:ext>
            </a:extLst>
          </p:cNvPr>
          <p:cNvPicPr>
            <a:picLocks noChangeAspect="1"/>
          </p:cNvPicPr>
          <p:nvPr/>
        </p:nvPicPr>
        <p:blipFill>
          <a:blip r:embed="rId4"/>
          <a:stretch>
            <a:fillRect/>
          </a:stretch>
        </p:blipFill>
        <p:spPr>
          <a:xfrm>
            <a:off x="5205041" y="5045057"/>
            <a:ext cx="6096000" cy="1905270"/>
          </a:xfrm>
          <a:prstGeom prst="rect">
            <a:avLst/>
          </a:prstGeom>
        </p:spPr>
      </p:pic>
      <p:graphicFrame>
        <p:nvGraphicFramePr>
          <p:cNvPr id="2" name="Table 1">
            <a:extLst>
              <a:ext uri="{FF2B5EF4-FFF2-40B4-BE49-F238E27FC236}">
                <a16:creationId xmlns:a16="http://schemas.microsoft.com/office/drawing/2014/main" id="{67D27E61-92FD-DEB0-91D8-86E160FF44A6}"/>
              </a:ext>
            </a:extLst>
          </p:cNvPr>
          <p:cNvGraphicFramePr>
            <a:graphicFrameLocks noGrp="1"/>
          </p:cNvGraphicFramePr>
          <p:nvPr>
            <p:extLst>
              <p:ext uri="{D42A27DB-BD31-4B8C-83A1-F6EECF244321}">
                <p14:modId xmlns:p14="http://schemas.microsoft.com/office/powerpoint/2010/main" val="64627832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ITS(2/2)</a:t>
                      </a:r>
                      <a:endParaRPr lang="en-US" dirty="0"/>
                    </a:p>
                  </a:txBody>
                  <a:tcPr>
                    <a:solidFill>
                      <a:srgbClr val="7030A0"/>
                    </a:solidFill>
                  </a:tcPr>
                </a:tc>
                <a:tc>
                  <a:txBody>
                    <a:bodyPr/>
                    <a:lstStyle/>
                    <a:p>
                      <a:pPr algn="ctr"/>
                      <a:r>
                        <a:rPr lang="en-US" sz="1400" dirty="0">
                          <a:latin typeface="+mn-lt"/>
                        </a:rPr>
                        <a:t>Feature Engineering: Features from Static Program Analysis </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9193442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1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5"/>
          <p:cNvSpPr txBox="1"/>
          <p:nvPr/>
        </p:nvSpPr>
        <p:spPr>
          <a:xfrm>
            <a:off x="0" y="248038"/>
            <a:ext cx="11857891" cy="1159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Engineering: Static Program Analysis</a:t>
            </a:r>
            <a:endParaRPr dirty="0"/>
          </a:p>
        </p:txBody>
      </p:sp>
      <p:sp>
        <p:nvSpPr>
          <p:cNvPr id="206" name="Google Shape;206;p1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36</a:t>
            </a:fld>
            <a:endParaRPr sz="1100">
              <a:solidFill>
                <a:srgbClr val="7F7F7F"/>
              </a:solidFill>
            </a:endParaRPr>
          </a:p>
        </p:txBody>
      </p:sp>
      <p:sp>
        <p:nvSpPr>
          <p:cNvPr id="5" name="Google Shape;182;p13">
            <a:extLst>
              <a:ext uri="{FF2B5EF4-FFF2-40B4-BE49-F238E27FC236}">
                <a16:creationId xmlns:a16="http://schemas.microsoft.com/office/drawing/2014/main" id="{D6A8F4A0-582A-0678-96FC-58DCBD210DB5}"/>
              </a:ext>
            </a:extLst>
          </p:cNvPr>
          <p:cNvSpPr txBox="1">
            <a:spLocks noGrp="1"/>
          </p:cNvSpPr>
          <p:nvPr>
            <p:ph type="body" idx="1"/>
          </p:nvPr>
        </p:nvSpPr>
        <p:spPr>
          <a:xfrm>
            <a:off x="334108" y="1655275"/>
            <a:ext cx="10896600" cy="1369279"/>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endParaRPr lang="en-US" sz="2000" dirty="0"/>
          </a:p>
          <a:p>
            <a:pPr marL="0" lvl="0" indent="0" algn="l" rtl="0">
              <a:lnSpc>
                <a:spcPct val="90000"/>
              </a:lnSpc>
              <a:spcBef>
                <a:spcPts val="0"/>
              </a:spcBef>
              <a:spcAft>
                <a:spcPts val="0"/>
              </a:spcAft>
              <a:buClr>
                <a:schemeClr val="dk1"/>
              </a:buClr>
              <a:buSzPts val="2000"/>
              <a:buNone/>
            </a:pPr>
            <a:r>
              <a:rPr lang="en-US" sz="2000" dirty="0" err="1"/>
              <a:t>Trautsch</a:t>
            </a:r>
            <a:r>
              <a:rPr lang="en-US" sz="2000" dirty="0"/>
              <a:t> et al. [75] collect static program analysis warning messages using two popular tools, PMD and </a:t>
            </a:r>
            <a:r>
              <a:rPr lang="en-US" sz="2000" dirty="0" err="1"/>
              <a:t>OpenStaticAnalyzer</a:t>
            </a:r>
            <a:r>
              <a:rPr lang="en-US" sz="2000" dirty="0"/>
              <a:t>. From these warning messages, aimed at JIT-SDP, they derive several warning density metrics.</a:t>
            </a:r>
          </a:p>
        </p:txBody>
      </p:sp>
      <p:pic>
        <p:nvPicPr>
          <p:cNvPr id="3" name="Picture 2">
            <a:extLst>
              <a:ext uri="{FF2B5EF4-FFF2-40B4-BE49-F238E27FC236}">
                <a16:creationId xmlns:a16="http://schemas.microsoft.com/office/drawing/2014/main" id="{6ED8D3A4-05D3-24F4-2745-9B3CAE5E99AB}"/>
              </a:ext>
            </a:extLst>
          </p:cNvPr>
          <p:cNvPicPr>
            <a:picLocks noChangeAspect="1"/>
          </p:cNvPicPr>
          <p:nvPr/>
        </p:nvPicPr>
        <p:blipFill>
          <a:blip r:embed="rId3"/>
          <a:stretch>
            <a:fillRect/>
          </a:stretch>
        </p:blipFill>
        <p:spPr>
          <a:xfrm>
            <a:off x="0" y="3657136"/>
            <a:ext cx="12192000" cy="2629810"/>
          </a:xfrm>
          <a:prstGeom prst="rect">
            <a:avLst/>
          </a:prstGeom>
        </p:spPr>
      </p:pic>
      <p:graphicFrame>
        <p:nvGraphicFramePr>
          <p:cNvPr id="4" name="Table 3">
            <a:extLst>
              <a:ext uri="{FF2B5EF4-FFF2-40B4-BE49-F238E27FC236}">
                <a16:creationId xmlns:a16="http://schemas.microsoft.com/office/drawing/2014/main" id="{50E8DBE3-89D1-5DFD-EFA5-0413733D2675}"/>
              </a:ext>
            </a:extLst>
          </p:cNvPr>
          <p:cNvGraphicFramePr>
            <a:graphicFrameLocks noGrp="1"/>
          </p:cNvGraphicFramePr>
          <p:nvPr>
            <p:extLst>
              <p:ext uri="{D42A27DB-BD31-4B8C-83A1-F6EECF244321}">
                <p14:modId xmlns:p14="http://schemas.microsoft.com/office/powerpoint/2010/main" val="312727102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Engineering: Features from Static Program Analysis </a:t>
                      </a:r>
                      <a:endParaRPr lang="en-US" dirty="0"/>
                    </a:p>
                  </a:txBody>
                  <a:tcPr>
                    <a:solidFill>
                      <a:srgbClr val="7030A0"/>
                    </a:solidFill>
                  </a:tcPr>
                </a:tc>
                <a:tc>
                  <a:txBody>
                    <a:bodyPr/>
                    <a:lstStyle/>
                    <a:p>
                      <a:pPr algn="ctr"/>
                      <a:r>
                        <a:rPr lang="en-US" sz="1400" dirty="0">
                          <a:latin typeface="+mn-lt"/>
                        </a:rPr>
                        <a:t>Feature Learning</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6059775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1" name="Google Shape;201;p1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1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1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15"/>
          <p:cNvSpPr txBox="1"/>
          <p:nvPr/>
        </p:nvSpPr>
        <p:spPr>
          <a:xfrm>
            <a:off x="0" y="248038"/>
            <a:ext cx="11857891" cy="1159200"/>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Feature Learning</a:t>
            </a:r>
            <a:endParaRPr dirty="0"/>
          </a:p>
        </p:txBody>
      </p:sp>
      <p:sp>
        <p:nvSpPr>
          <p:cNvPr id="206" name="Google Shape;206;p1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37</a:t>
            </a:fld>
            <a:endParaRPr sz="1100">
              <a:solidFill>
                <a:srgbClr val="7F7F7F"/>
              </a:solidFill>
            </a:endParaRPr>
          </a:p>
        </p:txBody>
      </p:sp>
      <p:sp>
        <p:nvSpPr>
          <p:cNvPr id="5" name="Google Shape;182;p13">
            <a:extLst>
              <a:ext uri="{FF2B5EF4-FFF2-40B4-BE49-F238E27FC236}">
                <a16:creationId xmlns:a16="http://schemas.microsoft.com/office/drawing/2014/main" id="{D6A8F4A0-582A-0678-96FC-58DCBD210DB5}"/>
              </a:ext>
            </a:extLst>
          </p:cNvPr>
          <p:cNvSpPr txBox="1">
            <a:spLocks noGrp="1"/>
          </p:cNvSpPr>
          <p:nvPr>
            <p:ph type="body" idx="1"/>
          </p:nvPr>
        </p:nvSpPr>
        <p:spPr>
          <a:xfrm>
            <a:off x="-41678" y="1822348"/>
            <a:ext cx="7142286" cy="438242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en-US" sz="1800" b="0" i="0" u="none" strike="noStrike" baseline="0" dirty="0">
                <a:latin typeface="+mn-lt"/>
              </a:rPr>
              <a:t>Two general approaches:</a:t>
            </a:r>
          </a:p>
          <a:p>
            <a:pPr marL="342900" lvl="0" algn="l" rtl="0">
              <a:lnSpc>
                <a:spcPct val="90000"/>
              </a:lnSpc>
              <a:spcBef>
                <a:spcPts val="0"/>
              </a:spcBef>
              <a:spcAft>
                <a:spcPts val="0"/>
              </a:spcAft>
              <a:buClr>
                <a:schemeClr val="dk1"/>
              </a:buClr>
              <a:buSzPts val="2000"/>
              <a:buFont typeface="+mj-lt"/>
              <a:buAutoNum type="arabicParenR"/>
            </a:pPr>
            <a:r>
              <a:rPr lang="en-US" sz="1600" dirty="0">
                <a:latin typeface="+mn-lt"/>
              </a:rPr>
              <a:t>directly compute from software changes (e.g., tokenized diffs) the “end-to-end” feature representation [24, 25].</a:t>
            </a:r>
          </a:p>
          <a:p>
            <a:pPr marL="342900" lvl="0" algn="l" rtl="0">
              <a:lnSpc>
                <a:spcPct val="90000"/>
              </a:lnSpc>
              <a:spcBef>
                <a:spcPts val="0"/>
              </a:spcBef>
              <a:spcAft>
                <a:spcPts val="0"/>
              </a:spcAft>
              <a:buClr>
                <a:schemeClr val="dk1"/>
              </a:buClr>
              <a:buSzPts val="2000"/>
              <a:buFont typeface="+mj-lt"/>
              <a:buAutoNum type="arabicParenR"/>
            </a:pPr>
            <a:r>
              <a:rPr lang="en-US" sz="1600" dirty="0">
                <a:latin typeface="+mn-lt"/>
              </a:rPr>
              <a:t>take human designed features as inputs to learn feature representations, which Yang et al. [83] refer to as the “expressive features”.</a:t>
            </a:r>
          </a:p>
          <a:p>
            <a:pPr marL="0" lvl="0" indent="0" algn="l" rtl="0">
              <a:lnSpc>
                <a:spcPct val="90000"/>
              </a:lnSpc>
              <a:spcBef>
                <a:spcPts val="0"/>
              </a:spcBef>
              <a:spcAft>
                <a:spcPts val="0"/>
              </a:spcAft>
              <a:buClr>
                <a:schemeClr val="dk1"/>
              </a:buClr>
              <a:buSzPts val="2000"/>
              <a:buNone/>
            </a:pPr>
            <a:endParaRPr lang="en-US" sz="1600" dirty="0">
              <a:latin typeface="+mn-lt"/>
            </a:endParaRPr>
          </a:p>
          <a:p>
            <a:pPr marL="0" lvl="0" indent="0" algn="l" rtl="0">
              <a:lnSpc>
                <a:spcPct val="90000"/>
              </a:lnSpc>
              <a:spcBef>
                <a:spcPts val="0"/>
              </a:spcBef>
              <a:spcAft>
                <a:spcPts val="0"/>
              </a:spcAft>
              <a:buClr>
                <a:schemeClr val="dk1"/>
              </a:buClr>
              <a:buSzPts val="2000"/>
              <a:buNone/>
            </a:pPr>
            <a:endParaRPr lang="en-US" sz="1600" dirty="0">
              <a:latin typeface="+mn-lt"/>
            </a:endParaRPr>
          </a:p>
          <a:p>
            <a:pPr marL="0" lvl="0" indent="0" algn="l" rtl="0">
              <a:lnSpc>
                <a:spcPct val="90000"/>
              </a:lnSpc>
              <a:spcBef>
                <a:spcPts val="0"/>
              </a:spcBef>
              <a:spcAft>
                <a:spcPts val="0"/>
              </a:spcAft>
              <a:buClr>
                <a:schemeClr val="dk1"/>
              </a:buClr>
              <a:buSzPts val="2000"/>
              <a:buNone/>
            </a:pPr>
            <a:endParaRPr lang="en-US" sz="1600" dirty="0">
              <a:latin typeface="+mn-lt"/>
            </a:endParaRPr>
          </a:p>
          <a:p>
            <a:pPr marL="0" lvl="0" indent="0" algn="l" rtl="0">
              <a:lnSpc>
                <a:spcPct val="90000"/>
              </a:lnSpc>
              <a:spcBef>
                <a:spcPts val="0"/>
              </a:spcBef>
              <a:spcAft>
                <a:spcPts val="0"/>
              </a:spcAft>
              <a:buClr>
                <a:schemeClr val="dk1"/>
              </a:buClr>
              <a:buSzPts val="2000"/>
              <a:buNone/>
            </a:pPr>
            <a:r>
              <a:rPr lang="en-US" sz="1600" dirty="0">
                <a:latin typeface="+mn-lt"/>
              </a:rPr>
              <a:t>Hoang et al. [25] propose a deep learning architecture, namely CC2Vec,</a:t>
            </a:r>
          </a:p>
          <a:p>
            <a:pPr marL="0" lvl="0" indent="0" algn="l" rtl="0">
              <a:lnSpc>
                <a:spcPct val="90000"/>
              </a:lnSpc>
              <a:spcBef>
                <a:spcPts val="0"/>
              </a:spcBef>
              <a:spcAft>
                <a:spcPts val="0"/>
              </a:spcAft>
              <a:buClr>
                <a:schemeClr val="dk1"/>
              </a:buClr>
              <a:buSzPts val="2000"/>
              <a:buNone/>
            </a:pPr>
            <a:r>
              <a:rPr lang="en-US" sz="1600" dirty="0">
                <a:latin typeface="+mn-lt"/>
              </a:rPr>
              <a:t>that learns distributed representations of code changes guided</a:t>
            </a:r>
          </a:p>
          <a:p>
            <a:pPr marL="0" lvl="0" indent="0" algn="l" rtl="0">
              <a:lnSpc>
                <a:spcPct val="90000"/>
              </a:lnSpc>
              <a:spcBef>
                <a:spcPts val="0"/>
              </a:spcBef>
              <a:spcAft>
                <a:spcPts val="0"/>
              </a:spcAft>
              <a:buClr>
                <a:schemeClr val="dk1"/>
              </a:buClr>
              <a:buSzPts val="2000"/>
              <a:buNone/>
            </a:pPr>
            <a:r>
              <a:rPr lang="en-US" sz="1600" dirty="0">
                <a:latin typeface="+mn-lt"/>
              </a:rPr>
              <a:t>by the semantic meaning contained in log messages.</a:t>
            </a:r>
          </a:p>
          <a:p>
            <a:pPr marL="0" lvl="0" indent="0" algn="l" rtl="0">
              <a:lnSpc>
                <a:spcPct val="90000"/>
              </a:lnSpc>
              <a:spcBef>
                <a:spcPts val="0"/>
              </a:spcBef>
              <a:spcAft>
                <a:spcPts val="0"/>
              </a:spcAft>
              <a:buClr>
                <a:schemeClr val="dk1"/>
              </a:buClr>
              <a:buSzPts val="2000"/>
              <a:buNone/>
            </a:pPr>
            <a:endParaRPr lang="en-US" sz="1600" dirty="0">
              <a:latin typeface="+mn-lt"/>
            </a:endParaRPr>
          </a:p>
          <a:p>
            <a:pPr marL="0" lvl="0" indent="0" algn="l" rtl="0">
              <a:lnSpc>
                <a:spcPct val="90000"/>
              </a:lnSpc>
              <a:spcBef>
                <a:spcPts val="0"/>
              </a:spcBef>
              <a:spcAft>
                <a:spcPts val="0"/>
              </a:spcAft>
              <a:buClr>
                <a:schemeClr val="dk1"/>
              </a:buClr>
              <a:buSzPts val="2000"/>
              <a:buNone/>
            </a:pPr>
            <a:r>
              <a:rPr lang="en-US" sz="1600" dirty="0">
                <a:latin typeface="+mn-lt"/>
              </a:rPr>
              <a:t>CC2Vec takes the code change of a patch as input and generates its distributed representation. CC2Vec uses the first line of the log message of the patch to supervise learning the code change representation.</a:t>
            </a:r>
          </a:p>
          <a:p>
            <a:pPr marL="0" lvl="0" indent="0" algn="l" rtl="0">
              <a:lnSpc>
                <a:spcPct val="90000"/>
              </a:lnSpc>
              <a:spcBef>
                <a:spcPts val="0"/>
              </a:spcBef>
              <a:spcAft>
                <a:spcPts val="0"/>
              </a:spcAft>
              <a:buClr>
                <a:schemeClr val="dk1"/>
              </a:buClr>
              <a:buSzPts val="2000"/>
              <a:buNone/>
            </a:pPr>
            <a:endParaRPr lang="en-US" sz="1600" dirty="0">
              <a:latin typeface="+mn-lt"/>
            </a:endParaRPr>
          </a:p>
        </p:txBody>
      </p:sp>
      <p:pic>
        <p:nvPicPr>
          <p:cNvPr id="4" name="Picture 3">
            <a:extLst>
              <a:ext uri="{FF2B5EF4-FFF2-40B4-BE49-F238E27FC236}">
                <a16:creationId xmlns:a16="http://schemas.microsoft.com/office/drawing/2014/main" id="{146D1959-C092-C468-7795-D7134A483F5D}"/>
              </a:ext>
            </a:extLst>
          </p:cNvPr>
          <p:cNvPicPr>
            <a:picLocks noChangeAspect="1"/>
          </p:cNvPicPr>
          <p:nvPr/>
        </p:nvPicPr>
        <p:blipFill>
          <a:blip r:embed="rId3"/>
          <a:stretch>
            <a:fillRect/>
          </a:stretch>
        </p:blipFill>
        <p:spPr>
          <a:xfrm>
            <a:off x="7346793" y="336662"/>
            <a:ext cx="4269603" cy="6484127"/>
          </a:xfrm>
          <a:prstGeom prst="rect">
            <a:avLst/>
          </a:prstGeom>
        </p:spPr>
      </p:pic>
      <p:graphicFrame>
        <p:nvGraphicFramePr>
          <p:cNvPr id="7" name="Table 6">
            <a:extLst>
              <a:ext uri="{FF2B5EF4-FFF2-40B4-BE49-F238E27FC236}">
                <a16:creationId xmlns:a16="http://schemas.microsoft.com/office/drawing/2014/main" id="{4E216C4F-1DEC-4521-F9EB-8B014FEC937C}"/>
              </a:ext>
            </a:extLst>
          </p:cNvPr>
          <p:cNvGraphicFramePr>
            <a:graphicFrameLocks noGrp="1"/>
          </p:cNvGraphicFramePr>
          <p:nvPr>
            <p:extLst>
              <p:ext uri="{D42A27DB-BD31-4B8C-83A1-F6EECF244321}">
                <p14:modId xmlns:p14="http://schemas.microsoft.com/office/powerpoint/2010/main" val="97661642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Feature Learning</a:t>
                      </a:r>
                      <a:endParaRPr lang="en-US" dirty="0"/>
                    </a:p>
                  </a:txBody>
                  <a:tcPr>
                    <a:solidFill>
                      <a:srgbClr val="7030A0"/>
                    </a:solidFill>
                  </a:tcPr>
                </a:tc>
                <a:tc>
                  <a:txBody>
                    <a:bodyPr/>
                    <a:lstStyle/>
                    <a:p>
                      <a:pPr algn="ctr"/>
                      <a:r>
                        <a:rPr lang="en-US" sz="1400" dirty="0">
                          <a:latin typeface="+mn-lt"/>
                        </a:rPr>
                        <a:t>Overview: Defect-Inducing Label Assignment</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941969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aphicFrame>
        <p:nvGraphicFramePr>
          <p:cNvPr id="2" name="Table 1">
            <a:extLst>
              <a:ext uri="{FF2B5EF4-FFF2-40B4-BE49-F238E27FC236}">
                <a16:creationId xmlns:a16="http://schemas.microsoft.com/office/drawing/2014/main" id="{3B806C9F-D233-CD5F-B675-2EA1D97968AF}"/>
              </a:ext>
            </a:extLst>
          </p:cNvPr>
          <p:cNvGraphicFramePr>
            <a:graphicFrameLocks noGrp="1"/>
          </p:cNvGraphicFramePr>
          <p:nvPr>
            <p:extLst>
              <p:ext uri="{D42A27DB-BD31-4B8C-83A1-F6EECF244321}">
                <p14:modId xmlns:p14="http://schemas.microsoft.com/office/powerpoint/2010/main" val="3283056180"/>
              </p:ext>
            </p:extLst>
          </p:nvPr>
        </p:nvGraphicFramePr>
        <p:xfrm>
          <a:off x="0" y="16022"/>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Overview: Defect-Inducing Label Assignment</a:t>
                      </a:r>
                      <a:endParaRPr lang="en-US" dirty="0"/>
                    </a:p>
                  </a:txBody>
                  <a:tcPr>
                    <a:solidFill>
                      <a:srgbClr val="7030A0"/>
                    </a:solidFill>
                  </a:tcPr>
                </a:tc>
                <a:tc>
                  <a:txBody>
                    <a:bodyPr/>
                    <a:lstStyle/>
                    <a:p>
                      <a:pPr algn="ctr"/>
                      <a:r>
                        <a:rPr lang="en-US" sz="1400" dirty="0">
                          <a:latin typeface="+mn-lt"/>
                        </a:rPr>
                        <a:t>Label Assignment 2 steps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642268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0" y="445385"/>
            <a:ext cx="10515600" cy="59038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Defect-Inducing Label Assignment</a:t>
            </a:r>
            <a:endParaRPr dirty="0"/>
          </a:p>
        </p:txBody>
      </p:sp>
      <p:sp>
        <p:nvSpPr>
          <p:cNvPr id="212" name="Google Shape;212;p16"/>
          <p:cNvSpPr txBox="1">
            <a:spLocks noGrp="1"/>
          </p:cNvSpPr>
          <p:nvPr>
            <p:ph type="body" idx="1"/>
          </p:nvPr>
        </p:nvSpPr>
        <p:spPr>
          <a:xfrm>
            <a:off x="2" y="1035766"/>
            <a:ext cx="12027876" cy="5320583"/>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2000"/>
              <a:buNone/>
            </a:pPr>
            <a:r>
              <a:rPr lang="en-US" sz="2300" b="0" i="0" u="none" strike="noStrike" dirty="0">
                <a:latin typeface="+mn-lt"/>
                <a:ea typeface="Arial"/>
                <a:cs typeface="Arial"/>
                <a:sym typeface="Arial"/>
              </a:rPr>
              <a:t>How do we assign the defect-inducing (i.e., defective) or clean label to a software change?</a:t>
            </a:r>
          </a:p>
          <a:p>
            <a:pPr marL="0" lvl="0" indent="0" algn="l" rtl="0">
              <a:lnSpc>
                <a:spcPct val="90000"/>
              </a:lnSpc>
              <a:spcBef>
                <a:spcPts val="1000"/>
              </a:spcBef>
              <a:spcAft>
                <a:spcPts val="0"/>
              </a:spcAft>
              <a:buClr>
                <a:schemeClr val="dk1"/>
              </a:buClr>
              <a:buSzPts val="2000"/>
              <a:buNone/>
            </a:pPr>
            <a:endParaRPr sz="2400" dirty="0">
              <a:latin typeface="+mn-lt"/>
            </a:endParaRPr>
          </a:p>
          <a:p>
            <a:pPr marL="0" lvl="0" indent="0" algn="l" rtl="0">
              <a:lnSpc>
                <a:spcPct val="90000"/>
              </a:lnSpc>
              <a:spcBef>
                <a:spcPts val="1000"/>
              </a:spcBef>
              <a:spcAft>
                <a:spcPts val="0"/>
              </a:spcAft>
              <a:buClr>
                <a:schemeClr val="dk1"/>
              </a:buClr>
              <a:buSzPts val="2000"/>
              <a:buNone/>
            </a:pPr>
            <a:r>
              <a:rPr lang="en-US" sz="2200" dirty="0">
                <a:latin typeface="+mn-lt"/>
                <a:ea typeface="Arial"/>
                <a:cs typeface="Arial"/>
                <a:sym typeface="Arial"/>
              </a:rPr>
              <a:t>Two steps:</a:t>
            </a:r>
            <a:endParaRPr sz="2200" dirty="0">
              <a:latin typeface="+mn-lt"/>
            </a:endParaRPr>
          </a:p>
          <a:p>
            <a:pPr marL="342900" lvl="0" indent="-342900" algn="l" rtl="0">
              <a:lnSpc>
                <a:spcPct val="90000"/>
              </a:lnSpc>
              <a:spcBef>
                <a:spcPts val="1000"/>
              </a:spcBef>
              <a:spcAft>
                <a:spcPts val="0"/>
              </a:spcAft>
              <a:buClr>
                <a:schemeClr val="dk1"/>
              </a:buClr>
              <a:buSzPts val="2000"/>
              <a:buFont typeface="Calibri"/>
              <a:buAutoNum type="arabicParenR"/>
            </a:pPr>
            <a:r>
              <a:rPr lang="en-US" sz="2200" b="1" i="0" u="none" strike="noStrike" dirty="0">
                <a:latin typeface="+mn-lt"/>
                <a:ea typeface="Arial"/>
                <a:cs typeface="Arial"/>
                <a:sym typeface="Arial"/>
              </a:rPr>
              <a:t>identify a defect-fixing change  </a:t>
            </a:r>
            <a:r>
              <a:rPr lang="en-US" sz="2200" b="0" i="0" u="none" strike="noStrike" dirty="0">
                <a:latin typeface="+mn-lt"/>
                <a:ea typeface="Arial"/>
                <a:cs typeface="Arial"/>
                <a:sym typeface="Arial"/>
              </a:rPr>
              <a:t>-&gt;  examine either commit log messages , or issue reports in ITS, or both. There are two commonly used heuristics. </a:t>
            </a:r>
          </a:p>
          <a:p>
            <a:pPr algn="l"/>
            <a:r>
              <a:rPr lang="en-US" sz="2000" b="0" i="0" u="none" strike="noStrike" baseline="0" dirty="0">
                <a:latin typeface="+mn-lt"/>
              </a:rPr>
              <a:t>One is to search for a natural language pattern in the text, e.g., “fixes”, “fixed”, “resolves”, “resolved”, “defect”, and “bug“ [32]. </a:t>
            </a:r>
          </a:p>
          <a:p>
            <a:pPr algn="l"/>
            <a:r>
              <a:rPr lang="en-US" sz="2000" b="0" i="0" u="none" strike="noStrike" baseline="0" dirty="0">
                <a:latin typeface="+mn-lt"/>
              </a:rPr>
              <a:t>The other is to look for references to issue reports, e.g., “#123abc” [47].</a:t>
            </a:r>
            <a:endParaRPr sz="2000" b="0" i="0" u="none" strike="noStrike" dirty="0">
              <a:latin typeface="+mn-lt"/>
              <a:ea typeface="Arial"/>
              <a:cs typeface="Arial"/>
              <a:sym typeface="Arial"/>
            </a:endParaRPr>
          </a:p>
          <a:p>
            <a:pPr lvl="0" indent="-457200" algn="l" rtl="0">
              <a:lnSpc>
                <a:spcPct val="90000"/>
              </a:lnSpc>
              <a:spcBef>
                <a:spcPts val="1000"/>
              </a:spcBef>
              <a:spcAft>
                <a:spcPts val="0"/>
              </a:spcAft>
              <a:buClr>
                <a:schemeClr val="dk1"/>
              </a:buClr>
              <a:buSzPts val="2000"/>
              <a:buFont typeface="+mj-lt"/>
              <a:buAutoNum type="arabicParenR" startAt="2"/>
            </a:pPr>
            <a:r>
              <a:rPr lang="en-US" sz="2200" b="1" i="0" u="none" strike="noStrike" dirty="0">
                <a:latin typeface="Arial"/>
                <a:ea typeface="Arial"/>
                <a:cs typeface="Arial"/>
                <a:sym typeface="Arial"/>
              </a:rPr>
              <a:t>locate the prior change that introduced the defect in  </a:t>
            </a:r>
            <a:r>
              <a:rPr lang="en-US" sz="2200" b="0" i="0" u="none" strike="noStrike" dirty="0">
                <a:latin typeface="Arial"/>
                <a:ea typeface="Arial"/>
                <a:cs typeface="Arial"/>
                <a:sym typeface="Arial"/>
              </a:rPr>
              <a:t>-&gt; locate the removed lines first appeared change</a:t>
            </a:r>
          </a:p>
          <a:p>
            <a:pPr algn="l"/>
            <a:r>
              <a:rPr lang="en-US" sz="2000" b="0" i="0" u="none" strike="noStrike" baseline="0" dirty="0">
                <a:latin typeface="+mn-lt"/>
              </a:rPr>
              <a:t>Search backward in the change history to find the changeset that introduced the defect. </a:t>
            </a:r>
          </a:p>
          <a:p>
            <a:pPr marL="114300" indent="0" algn="l">
              <a:buNone/>
            </a:pPr>
            <a:r>
              <a:rPr lang="en-US" sz="2000" dirty="0">
                <a:latin typeface="+mn-lt"/>
              </a:rPr>
              <a:t>    </a:t>
            </a:r>
            <a:r>
              <a:rPr lang="en-US" sz="2000" b="0" i="0" u="none" strike="noStrike" baseline="0" dirty="0">
                <a:latin typeface="+mn-lt"/>
              </a:rPr>
              <a:t>Conceptually, this is possible because the current change fixes a defect, therefore the added lines are     the fix and the removed lines contain the defect.</a:t>
            </a:r>
            <a:endParaRPr lang="en-US" sz="2000" dirty="0">
              <a:latin typeface="+mn-lt"/>
            </a:endParaRPr>
          </a:p>
          <a:p>
            <a:pPr marL="0" lvl="0" indent="0" algn="l" rtl="0">
              <a:lnSpc>
                <a:spcPct val="90000"/>
              </a:lnSpc>
              <a:spcBef>
                <a:spcPts val="1000"/>
              </a:spcBef>
              <a:spcAft>
                <a:spcPts val="0"/>
              </a:spcAft>
              <a:buClr>
                <a:schemeClr val="dk1"/>
              </a:buClr>
              <a:buSzPts val="2000"/>
              <a:buNone/>
            </a:pPr>
            <a:endParaRPr sz="2000" dirty="0">
              <a:latin typeface="Arial"/>
              <a:ea typeface="Arial"/>
              <a:cs typeface="Arial"/>
              <a:sym typeface="Arial"/>
            </a:endParaRPr>
          </a:p>
          <a:p>
            <a:pPr marL="0" lvl="0" indent="0" algn="l" rtl="0">
              <a:lnSpc>
                <a:spcPct val="90000"/>
              </a:lnSpc>
              <a:spcBef>
                <a:spcPts val="1000"/>
              </a:spcBef>
              <a:spcAft>
                <a:spcPts val="0"/>
              </a:spcAft>
              <a:buClr>
                <a:schemeClr val="dk1"/>
              </a:buClr>
              <a:buSzPts val="2000"/>
              <a:buNone/>
            </a:pPr>
            <a:endParaRPr sz="2000" dirty="0"/>
          </a:p>
        </p:txBody>
      </p:sp>
      <p:sp>
        <p:nvSpPr>
          <p:cNvPr id="213" name="Google Shape;21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aphicFrame>
        <p:nvGraphicFramePr>
          <p:cNvPr id="4" name="Table 3">
            <a:extLst>
              <a:ext uri="{FF2B5EF4-FFF2-40B4-BE49-F238E27FC236}">
                <a16:creationId xmlns:a16="http://schemas.microsoft.com/office/drawing/2014/main" id="{1D3DC36D-D9D9-097F-225B-4A700402267E}"/>
              </a:ext>
            </a:extLst>
          </p:cNvPr>
          <p:cNvGraphicFramePr>
            <a:graphicFrameLocks noGrp="1"/>
          </p:cNvGraphicFramePr>
          <p:nvPr>
            <p:extLst>
              <p:ext uri="{D42A27DB-BD31-4B8C-83A1-F6EECF244321}">
                <p14:modId xmlns:p14="http://schemas.microsoft.com/office/powerpoint/2010/main" val="8799320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Label Assignment 2 steps</a:t>
                      </a:r>
                      <a:endParaRPr lang="en-US" dirty="0"/>
                    </a:p>
                  </a:txBody>
                  <a:tcPr>
                    <a:solidFill>
                      <a:srgbClr val="7030A0"/>
                    </a:solidFill>
                  </a:tcPr>
                </a:tc>
                <a:tc>
                  <a:txBody>
                    <a:bodyPr/>
                    <a:lstStyle/>
                    <a:p>
                      <a:pPr algn="ctr"/>
                      <a:r>
                        <a:rPr lang="en-US" sz="1400" dirty="0">
                          <a:latin typeface="+mn-lt"/>
                        </a:rPr>
                        <a:t>SZZ and problems in the 2 steps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0" y="424004"/>
            <a:ext cx="10515600" cy="66719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Defect-Inducing Label Assignment</a:t>
            </a:r>
            <a:endParaRPr dirty="0"/>
          </a:p>
        </p:txBody>
      </p:sp>
      <p:sp>
        <p:nvSpPr>
          <p:cNvPr id="212" name="Google Shape;212;p16"/>
          <p:cNvSpPr txBox="1">
            <a:spLocks noGrp="1"/>
          </p:cNvSpPr>
          <p:nvPr>
            <p:ph type="body" idx="1"/>
          </p:nvPr>
        </p:nvSpPr>
        <p:spPr>
          <a:xfrm>
            <a:off x="6975231" y="1922653"/>
            <a:ext cx="5052646" cy="386861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chemeClr val="dk1"/>
              </a:buClr>
              <a:buSzPts val="2000"/>
              <a:buNone/>
            </a:pPr>
            <a:r>
              <a:rPr lang="en-US" sz="2000" dirty="0">
                <a:latin typeface="Arial"/>
                <a:ea typeface="Arial"/>
                <a:cs typeface="Arial"/>
                <a:sym typeface="Arial"/>
              </a:rPr>
              <a:t>Investigations of the accuracy of this automated software change labeling have shown that:</a:t>
            </a:r>
          </a:p>
          <a:p>
            <a:pPr marL="342900">
              <a:buSzPts val="2000"/>
            </a:pPr>
            <a:r>
              <a:rPr lang="en-US" sz="2000" dirty="0">
                <a:latin typeface="Arial"/>
                <a:ea typeface="Arial"/>
                <a:cs typeface="Arial"/>
                <a:sym typeface="Arial"/>
              </a:rPr>
              <a:t>it may not always be easy to identify a defect-fixing change (i.e., Step 1) [30, 35, 75]</a:t>
            </a:r>
          </a:p>
          <a:p>
            <a:pPr marL="342900">
              <a:buSzPts val="2000"/>
            </a:pPr>
            <a:r>
              <a:rPr lang="en-US" sz="2000" dirty="0">
                <a:latin typeface="Arial"/>
                <a:ea typeface="Arial"/>
                <a:cs typeface="Arial"/>
                <a:sym typeface="Arial"/>
              </a:rPr>
              <a:t>it can also be difficult to locate the corresponding defect-inducing change (i.e., Step 2) [36, 52].</a:t>
            </a:r>
          </a:p>
        </p:txBody>
      </p:sp>
      <p:sp>
        <p:nvSpPr>
          <p:cNvPr id="213" name="Google Shape;21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
        <p:nvSpPr>
          <p:cNvPr id="2" name="Flowchart: Process 1">
            <a:extLst>
              <a:ext uri="{FF2B5EF4-FFF2-40B4-BE49-F238E27FC236}">
                <a16:creationId xmlns:a16="http://schemas.microsoft.com/office/drawing/2014/main" id="{E6ED2340-78A0-8BDB-546C-52A2C411C2E8}"/>
              </a:ext>
            </a:extLst>
          </p:cNvPr>
          <p:cNvSpPr/>
          <p:nvPr/>
        </p:nvSpPr>
        <p:spPr>
          <a:xfrm>
            <a:off x="838200" y="1090245"/>
            <a:ext cx="9929445" cy="703385"/>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000" b="0" i="0" u="none" strike="noStrike" baseline="0" dirty="0" err="1"/>
              <a:t>Śliwerski</a:t>
            </a:r>
            <a:r>
              <a:rPr lang="en-US" sz="2000" b="0" i="0" u="none" strike="noStrike" baseline="0" dirty="0"/>
              <a:t>, Zimmermann, and Zeller </a:t>
            </a:r>
            <a:r>
              <a:rPr lang="en-US" sz="2000" dirty="0"/>
              <a:t>[67] propose an algorithm to automatically identify defect-inducting changes, called SZZ</a:t>
            </a:r>
          </a:p>
        </p:txBody>
      </p:sp>
      <p:pic>
        <p:nvPicPr>
          <p:cNvPr id="4" name="Picture 3">
            <a:extLst>
              <a:ext uri="{FF2B5EF4-FFF2-40B4-BE49-F238E27FC236}">
                <a16:creationId xmlns:a16="http://schemas.microsoft.com/office/drawing/2014/main" id="{06DF0A72-7822-264F-62F4-4E00BB3B4949}"/>
              </a:ext>
            </a:extLst>
          </p:cNvPr>
          <p:cNvPicPr>
            <a:picLocks noChangeAspect="1"/>
          </p:cNvPicPr>
          <p:nvPr/>
        </p:nvPicPr>
        <p:blipFill>
          <a:blip r:embed="rId3"/>
          <a:stretch>
            <a:fillRect/>
          </a:stretch>
        </p:blipFill>
        <p:spPr>
          <a:xfrm>
            <a:off x="293800" y="1922653"/>
            <a:ext cx="6575201" cy="4641318"/>
          </a:xfrm>
          <a:prstGeom prst="rect">
            <a:avLst/>
          </a:prstGeom>
        </p:spPr>
      </p:pic>
      <p:graphicFrame>
        <p:nvGraphicFramePr>
          <p:cNvPr id="3" name="Table 2">
            <a:extLst>
              <a:ext uri="{FF2B5EF4-FFF2-40B4-BE49-F238E27FC236}">
                <a16:creationId xmlns:a16="http://schemas.microsoft.com/office/drawing/2014/main" id="{B5616074-0831-F0FC-3640-367FF0329041}"/>
              </a:ext>
            </a:extLst>
          </p:cNvPr>
          <p:cNvGraphicFramePr>
            <a:graphicFrameLocks noGrp="1"/>
          </p:cNvGraphicFramePr>
          <p:nvPr>
            <p:extLst>
              <p:ext uri="{D42A27DB-BD31-4B8C-83A1-F6EECF244321}">
                <p14:modId xmlns:p14="http://schemas.microsoft.com/office/powerpoint/2010/main" val="4536216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SZZ and problems in the 2 steps</a:t>
                      </a:r>
                      <a:endParaRPr lang="en-US" dirty="0"/>
                    </a:p>
                  </a:txBody>
                  <a:tcPr>
                    <a:solidFill>
                      <a:srgbClr val="7030A0"/>
                    </a:solidFill>
                  </a:tcPr>
                </a:tc>
                <a:tc>
                  <a:txBody>
                    <a:bodyPr/>
                    <a:lstStyle/>
                    <a:p>
                      <a:pPr algn="ctr"/>
                      <a:r>
                        <a:rPr lang="en-US" sz="1400" dirty="0">
                          <a:latin typeface="+mn-lt"/>
                        </a:rPr>
                        <a:t>Issues could be caused by SZZ in detail</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382212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0" y="550985"/>
            <a:ext cx="10515600" cy="656422"/>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Defect-Inducing Label Assignment</a:t>
            </a:r>
            <a:endParaRPr dirty="0"/>
          </a:p>
        </p:txBody>
      </p:sp>
      <p:sp>
        <p:nvSpPr>
          <p:cNvPr id="212" name="Google Shape;212;p16"/>
          <p:cNvSpPr txBox="1">
            <a:spLocks noGrp="1"/>
          </p:cNvSpPr>
          <p:nvPr>
            <p:ph type="body" idx="1"/>
          </p:nvPr>
        </p:nvSpPr>
        <p:spPr>
          <a:xfrm>
            <a:off x="349608" y="1494692"/>
            <a:ext cx="11725161" cy="5363307"/>
          </a:xfrm>
          <a:prstGeom prst="rect">
            <a:avLst/>
          </a:prstGeom>
          <a:noFill/>
          <a:ln>
            <a:noFill/>
          </a:ln>
        </p:spPr>
        <p:txBody>
          <a:bodyPr spcFirstLastPara="1" wrap="square" lIns="91425" tIns="45700" rIns="91425" bIns="45700" anchor="t" anchorCtr="0">
            <a:noAutofit/>
          </a:bodyPr>
          <a:lstStyle/>
          <a:p>
            <a:pPr marL="0" indent="0">
              <a:buSzPts val="2000"/>
              <a:buNone/>
            </a:pPr>
            <a:r>
              <a:rPr lang="en-US" sz="2000" dirty="0">
                <a:effectLst/>
                <a:latin typeface="+mn-lt"/>
              </a:rPr>
              <a:t>Issues could be caused by SZZ:</a:t>
            </a:r>
          </a:p>
          <a:p>
            <a:pPr marL="0" indent="0">
              <a:buSzPts val="2000"/>
              <a:buNone/>
            </a:pPr>
            <a:r>
              <a:rPr lang="en-US" sz="2000" dirty="0">
                <a:effectLst/>
                <a:latin typeface="Arial" panose="020B0604020202020204" pitchFamily="34" charset="0"/>
              </a:rPr>
              <a:t>1) </a:t>
            </a:r>
            <a:r>
              <a:rPr lang="en-US" sz="2000" b="1" dirty="0">
                <a:effectLst/>
                <a:latin typeface="Arial" panose="020B0604020202020204" pitchFamily="34" charset="0"/>
              </a:rPr>
              <a:t>keywords</a:t>
            </a:r>
            <a:r>
              <a:rPr lang="en-US" sz="2000" dirty="0">
                <a:effectLst/>
                <a:latin typeface="Arial" panose="020B0604020202020204" pitchFamily="34" charset="0"/>
              </a:rPr>
              <a:t> like “fixed”, “bug”, or “patch” to identify defect-fixing changes</a:t>
            </a:r>
          </a:p>
          <a:p>
            <a:pPr marL="0" indent="0">
              <a:buSzPts val="2000"/>
              <a:buNone/>
            </a:pPr>
            <a:r>
              <a:rPr lang="en-US" sz="2000" dirty="0">
                <a:effectLst/>
                <a:latin typeface="Arial" panose="020B0604020202020204" pitchFamily="34" charset="0"/>
              </a:rPr>
              <a:t>2) the ”removed lines” in the defect-fixing change contain noise, like </a:t>
            </a:r>
            <a:r>
              <a:rPr lang="en-US" sz="2000" b="1" dirty="0">
                <a:effectLst/>
                <a:latin typeface="Arial" panose="020B0604020202020204" pitchFamily="34" charset="0"/>
              </a:rPr>
              <a:t>tangled changes</a:t>
            </a:r>
          </a:p>
          <a:p>
            <a:pPr marL="0" indent="0">
              <a:buSzPts val="2000"/>
              <a:buNone/>
            </a:pPr>
            <a:r>
              <a:rPr lang="en-US" sz="2000" dirty="0">
                <a:effectLst/>
                <a:latin typeface="Arial" panose="020B0604020202020204" pitchFamily="34" charset="0"/>
              </a:rPr>
              <a:t>3) added the removed lines from the defect-fixing change, like </a:t>
            </a:r>
            <a:r>
              <a:rPr lang="en-US" sz="2000" b="1" dirty="0">
                <a:effectLst/>
                <a:latin typeface="Arial" panose="020B0604020202020204" pitchFamily="34" charset="0"/>
              </a:rPr>
              <a:t>formatting changes or refactoring changes</a:t>
            </a:r>
          </a:p>
          <a:p>
            <a:pPr marL="0" indent="0">
              <a:buSzPts val="2000"/>
              <a:buNone/>
            </a:pPr>
            <a:r>
              <a:rPr lang="en-US" sz="2000" dirty="0">
                <a:effectLst/>
                <a:latin typeface="Arial" panose="020B0604020202020204" pitchFamily="34" charset="0"/>
              </a:rPr>
              <a:t>4) whether we can always attribute a defect to a single defect-inducing change, </a:t>
            </a:r>
            <a:r>
              <a:rPr lang="en-US" sz="2000" dirty="0">
                <a:latin typeface="Arial" panose="020B0604020202020204" pitchFamily="34" charset="0"/>
              </a:rPr>
              <a:t>like “removed lines” in</a:t>
            </a:r>
          </a:p>
          <a:p>
            <a:pPr marL="0" indent="0">
              <a:buSzPts val="2000"/>
              <a:buNone/>
            </a:pPr>
            <a:r>
              <a:rPr lang="en-US" sz="2000" dirty="0">
                <a:latin typeface="Arial" panose="020B0604020202020204" pitchFamily="34" charset="0"/>
              </a:rPr>
              <a:t>the defect-fixing change may have come </a:t>
            </a:r>
            <a:r>
              <a:rPr lang="en-US" sz="2000" b="1" dirty="0">
                <a:latin typeface="Arial" panose="020B0604020202020204" pitchFamily="34" charset="0"/>
              </a:rPr>
              <a:t>from multiple prior changes</a:t>
            </a:r>
          </a:p>
          <a:p>
            <a:pPr marL="0" lvl="0" indent="0" algn="l" rtl="0">
              <a:lnSpc>
                <a:spcPct val="90000"/>
              </a:lnSpc>
              <a:spcBef>
                <a:spcPts val="1000"/>
              </a:spcBef>
              <a:spcAft>
                <a:spcPts val="0"/>
              </a:spcAft>
              <a:buClr>
                <a:schemeClr val="dk1"/>
              </a:buClr>
              <a:buSzPts val="2000"/>
              <a:buNone/>
            </a:pPr>
            <a:endParaRPr lang="en-US" sz="2000" dirty="0">
              <a:latin typeface="Arial"/>
              <a:ea typeface="Arial"/>
              <a:cs typeface="Arial"/>
              <a:sym typeface="Arial"/>
            </a:endParaRPr>
          </a:p>
          <a:p>
            <a:pPr marL="0" lvl="0" indent="0" algn="l" rtl="0">
              <a:lnSpc>
                <a:spcPct val="90000"/>
              </a:lnSpc>
              <a:spcBef>
                <a:spcPts val="1000"/>
              </a:spcBef>
              <a:spcAft>
                <a:spcPts val="0"/>
              </a:spcAft>
              <a:buClr>
                <a:schemeClr val="dk1"/>
              </a:buClr>
              <a:buSzPts val="2000"/>
              <a:buNone/>
            </a:pPr>
            <a:r>
              <a:rPr lang="en-US" sz="2000" dirty="0">
                <a:latin typeface="Arial"/>
                <a:ea typeface="Arial"/>
                <a:cs typeface="Arial"/>
                <a:sym typeface="Arial"/>
              </a:rPr>
              <a:t>There have been several implementations (or variants) of SZZ with the aim of addressing some</a:t>
            </a:r>
          </a:p>
          <a:p>
            <a:pPr marL="0" lvl="0" indent="0" algn="l" rtl="0">
              <a:lnSpc>
                <a:spcPct val="90000"/>
              </a:lnSpc>
              <a:spcBef>
                <a:spcPts val="1000"/>
              </a:spcBef>
              <a:spcAft>
                <a:spcPts val="0"/>
              </a:spcAft>
              <a:buClr>
                <a:schemeClr val="dk1"/>
              </a:buClr>
              <a:buSzPts val="2000"/>
              <a:buNone/>
            </a:pPr>
            <a:r>
              <a:rPr lang="en-US" sz="2000" dirty="0">
                <a:latin typeface="Arial"/>
                <a:ea typeface="Arial"/>
                <a:cs typeface="Arial"/>
                <a:sym typeface="Arial"/>
              </a:rPr>
              <a:t>of these issues. Like: </a:t>
            </a:r>
          </a:p>
          <a:p>
            <a:pPr algn="l"/>
            <a:r>
              <a:rPr lang="en-US" sz="1800" b="0" i="0" u="none" strike="noStrike" baseline="0" dirty="0">
                <a:latin typeface="Abadi" panose="020B0604020104020204" pitchFamily="34" charset="0"/>
              </a:rPr>
              <a:t>how should we identify defect-fixing changes? </a:t>
            </a:r>
          </a:p>
          <a:p>
            <a:pPr algn="l"/>
            <a:r>
              <a:rPr lang="en-US" sz="1800" b="0" i="0" u="none" strike="noStrike" baseline="0" dirty="0">
                <a:latin typeface="Abadi" panose="020B0604020104020204" pitchFamily="34" charset="0"/>
              </a:rPr>
              <a:t>which implementation of SZZ should we use?</a:t>
            </a:r>
          </a:p>
          <a:p>
            <a:pPr algn="l"/>
            <a:r>
              <a:rPr lang="en-US" sz="1800" b="0" i="0" u="none" strike="noStrike" baseline="0" dirty="0">
                <a:latin typeface="Abadi" panose="020B0604020104020204" pitchFamily="34" charset="0"/>
              </a:rPr>
              <a:t>how do these choices impact JIT-SDP results?</a:t>
            </a:r>
            <a:endParaRPr lang="en-US" sz="2000" dirty="0">
              <a:latin typeface="Arial"/>
              <a:ea typeface="Arial"/>
              <a:cs typeface="Arial"/>
              <a:sym typeface="Arial"/>
            </a:endParaRPr>
          </a:p>
        </p:txBody>
      </p:sp>
      <p:sp>
        <p:nvSpPr>
          <p:cNvPr id="213" name="Google Shape;21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aphicFrame>
        <p:nvGraphicFramePr>
          <p:cNvPr id="5" name="Table 4">
            <a:extLst>
              <a:ext uri="{FF2B5EF4-FFF2-40B4-BE49-F238E27FC236}">
                <a16:creationId xmlns:a16="http://schemas.microsoft.com/office/drawing/2014/main" id="{A9753F48-AB04-B5E9-F145-CEA9B98AD516}"/>
              </a:ext>
            </a:extLst>
          </p:cNvPr>
          <p:cNvGraphicFramePr>
            <a:graphicFrameLocks noGrp="1"/>
          </p:cNvGraphicFramePr>
          <p:nvPr>
            <p:extLst>
              <p:ext uri="{D42A27DB-BD31-4B8C-83A1-F6EECF244321}">
                <p14:modId xmlns:p14="http://schemas.microsoft.com/office/powerpoint/2010/main" val="253149441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Issues could be caused by SZZ in detail</a:t>
                      </a:r>
                      <a:endParaRPr lang="en-US" dirty="0"/>
                    </a:p>
                  </a:txBody>
                  <a:tcPr>
                    <a:solidFill>
                      <a:srgbClr val="7030A0"/>
                    </a:solidFill>
                  </a:tcPr>
                </a:tc>
                <a:tc>
                  <a:txBody>
                    <a:bodyPr/>
                    <a:lstStyle/>
                    <a:p>
                      <a:pPr algn="ctr"/>
                      <a:r>
                        <a:rPr lang="en-US" sz="1400" dirty="0">
                          <a:latin typeface="+mn-lt"/>
                        </a:rPr>
                        <a:t>Solutions from literature</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533043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10"/>
        <p:cNvGrpSpPr/>
        <p:nvPr/>
      </p:nvGrpSpPr>
      <p:grpSpPr>
        <a:xfrm>
          <a:off x="0" y="0"/>
          <a:ext cx="0" cy="0"/>
          <a:chOff x="0" y="0"/>
          <a:chExt cx="0" cy="0"/>
        </a:xfrm>
      </p:grpSpPr>
      <p:sp useBgFill="1">
        <p:nvSpPr>
          <p:cNvPr id="218" name="Rectangle 21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Google Shape;211;p16"/>
          <p:cNvSpPr txBox="1">
            <a:spLocks noGrp="1"/>
          </p:cNvSpPr>
          <p:nvPr>
            <p:ph type="title"/>
          </p:nvPr>
        </p:nvSpPr>
        <p:spPr>
          <a:xfrm>
            <a:off x="1371599" y="294538"/>
            <a:ext cx="9895951" cy="1033669"/>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US" sz="4000">
                <a:solidFill>
                  <a:srgbClr val="FFFFFF"/>
                </a:solidFill>
                <a:latin typeface="Calibri"/>
                <a:ea typeface="Calibri"/>
                <a:cs typeface="Calibri"/>
                <a:sym typeface="Calibri"/>
              </a:rPr>
              <a:t>Defect-Inducing Label Assignment</a:t>
            </a:r>
            <a:endParaRPr lang="en-US" sz="4000">
              <a:solidFill>
                <a:srgbClr val="FFFFFF"/>
              </a:solidFill>
            </a:endParaRPr>
          </a:p>
        </p:txBody>
      </p:sp>
      <p:sp>
        <p:nvSpPr>
          <p:cNvPr id="213" name="Google Shape;213;p16"/>
          <p:cNvSpPr txBox="1">
            <a:spLocks noGrp="1"/>
          </p:cNvSpPr>
          <p:nvPr>
            <p:ph type="sldNum" idx="12"/>
          </p:nvPr>
        </p:nvSpPr>
        <p:spPr>
          <a:xfrm>
            <a:off x="11704320" y="6455431"/>
            <a:ext cx="445913" cy="365125"/>
          </a:xfrm>
          <a:prstGeom prst="rect">
            <a:avLst/>
          </a:prstGeom>
        </p:spPr>
        <p:txBody>
          <a:bodyPr spcFirstLastPara="1" lIns="91425" tIns="45700" rIns="91425" bIns="45700" anchorCtr="0">
            <a:normAutofit/>
          </a:bodyPr>
          <a:lstStyle/>
          <a:p>
            <a:pPr marL="0" lvl="0" indent="0" rtl="0">
              <a:spcBef>
                <a:spcPts val="0"/>
              </a:spcBef>
              <a:spcAft>
                <a:spcPts val="600"/>
              </a:spcAft>
              <a:buNone/>
            </a:pPr>
            <a:fld id="{00000000-1234-1234-1234-123412341234}" type="slidenum">
              <a:rPr lang="en-US" sz="1100">
                <a:solidFill>
                  <a:schemeClr val="tx1">
                    <a:lumMod val="50000"/>
                    <a:lumOff val="50000"/>
                  </a:schemeClr>
                </a:solidFill>
              </a:rPr>
              <a:pPr marL="0" lvl="0" indent="0" rtl="0">
                <a:spcBef>
                  <a:spcPts val="0"/>
                </a:spcBef>
                <a:spcAft>
                  <a:spcPts val="600"/>
                </a:spcAft>
                <a:buNone/>
              </a:pPr>
              <a:t>42</a:t>
            </a:fld>
            <a:endParaRPr lang="en-US" sz="1100">
              <a:solidFill>
                <a:schemeClr val="tx1">
                  <a:lumMod val="50000"/>
                  <a:lumOff val="50000"/>
                </a:schemeClr>
              </a:solidFill>
            </a:endParaRPr>
          </a:p>
        </p:txBody>
      </p:sp>
      <p:graphicFrame>
        <p:nvGraphicFramePr>
          <p:cNvPr id="230" name="Google Shape;212;p16">
            <a:extLst>
              <a:ext uri="{FF2B5EF4-FFF2-40B4-BE49-F238E27FC236}">
                <a16:creationId xmlns:a16="http://schemas.microsoft.com/office/drawing/2014/main" id="{1C6D46B4-8873-BBA9-53B2-7A8CFA04B72A}"/>
              </a:ext>
            </a:extLst>
          </p:cNvPr>
          <p:cNvGraphicFramePr/>
          <p:nvPr>
            <p:extLst>
              <p:ext uri="{D42A27DB-BD31-4B8C-83A1-F6EECF244321}">
                <p14:modId xmlns:p14="http://schemas.microsoft.com/office/powerpoint/2010/main" val="462681132"/>
              </p:ext>
            </p:extLst>
          </p:nvPr>
        </p:nvGraphicFramePr>
        <p:xfrm>
          <a:off x="459351" y="1746738"/>
          <a:ext cx="11591972" cy="4671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Table 3">
            <a:extLst>
              <a:ext uri="{FF2B5EF4-FFF2-40B4-BE49-F238E27FC236}">
                <a16:creationId xmlns:a16="http://schemas.microsoft.com/office/drawing/2014/main" id="{BC1FFEDD-8E04-A44A-AF89-17C45FCEDD04}"/>
              </a:ext>
            </a:extLst>
          </p:cNvPr>
          <p:cNvGraphicFramePr>
            <a:graphicFrameLocks noGrp="1"/>
          </p:cNvGraphicFramePr>
          <p:nvPr>
            <p:extLst>
              <p:ext uri="{D42A27DB-BD31-4B8C-83A1-F6EECF244321}">
                <p14:modId xmlns:p14="http://schemas.microsoft.com/office/powerpoint/2010/main" val="77499260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Solutions from literature</a:t>
                      </a:r>
                      <a:endParaRPr lang="en-US" dirty="0"/>
                    </a:p>
                  </a:txBody>
                  <a:tcPr>
                    <a:solidFill>
                      <a:srgbClr val="7030A0"/>
                    </a:solidFill>
                  </a:tcPr>
                </a:tc>
                <a:tc>
                  <a:txBody>
                    <a:bodyPr/>
                    <a:lstStyle/>
                    <a:p>
                      <a:pPr algn="ctr"/>
                      <a:r>
                        <a:rPr lang="en-US" sz="1400" dirty="0">
                          <a:latin typeface="+mn-lt"/>
                        </a:rPr>
                        <a:t>Overview -&gt; Data Transformation</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8767626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aphicFrame>
        <p:nvGraphicFramePr>
          <p:cNvPr id="2" name="Table 1">
            <a:extLst>
              <a:ext uri="{FF2B5EF4-FFF2-40B4-BE49-F238E27FC236}">
                <a16:creationId xmlns:a16="http://schemas.microsoft.com/office/drawing/2014/main" id="{D220564A-CC7B-98F3-4DF9-ECB4ACF7A3F1}"/>
              </a:ext>
            </a:extLst>
          </p:cNvPr>
          <p:cNvGraphicFramePr>
            <a:graphicFrameLocks noGrp="1"/>
          </p:cNvGraphicFramePr>
          <p:nvPr>
            <p:extLst>
              <p:ext uri="{D42A27DB-BD31-4B8C-83A1-F6EECF244321}">
                <p14:modId xmlns:p14="http://schemas.microsoft.com/office/powerpoint/2010/main" val="193706736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Overview: Data Transformation</a:t>
                      </a:r>
                      <a:endParaRPr lang="en-US" dirty="0"/>
                    </a:p>
                  </a:txBody>
                  <a:tcPr>
                    <a:solidFill>
                      <a:srgbClr val="7030A0"/>
                    </a:solidFill>
                  </a:tcPr>
                </a:tc>
                <a:tc>
                  <a:txBody>
                    <a:bodyPr/>
                    <a:lstStyle/>
                    <a:p>
                      <a:pPr algn="ctr"/>
                      <a:r>
                        <a:rPr lang="en-US" sz="1400" dirty="0">
                          <a:latin typeface="+mn-lt"/>
                        </a:rPr>
                        <a:t>Data Transformation Summary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9953148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7"/>
        <p:cNvGrpSpPr/>
        <p:nvPr/>
      </p:nvGrpSpPr>
      <p:grpSpPr>
        <a:xfrm>
          <a:off x="0" y="0"/>
          <a:ext cx="0" cy="0"/>
          <a:chOff x="0" y="0"/>
          <a:chExt cx="0" cy="0"/>
        </a:xfrm>
      </p:grpSpPr>
      <p:sp>
        <p:nvSpPr>
          <p:cNvPr id="218" name="Google Shape;218;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7"/>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17"/>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7"/>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7"/>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Data Transformation</a:t>
            </a:r>
            <a:endParaRPr/>
          </a:p>
        </p:txBody>
      </p:sp>
      <p:pic>
        <p:nvPicPr>
          <p:cNvPr id="223" name="Google Shape;223;p17"/>
          <p:cNvPicPr preferRelativeResize="0"/>
          <p:nvPr/>
        </p:nvPicPr>
        <p:blipFill rotWithShape="1">
          <a:blip r:embed="rId3">
            <a:alphaModFix/>
          </a:blip>
          <a:srcRect/>
          <a:stretch/>
        </p:blipFill>
        <p:spPr>
          <a:xfrm>
            <a:off x="2761173" y="1574310"/>
            <a:ext cx="6181973" cy="5440136"/>
          </a:xfrm>
          <a:prstGeom prst="rect">
            <a:avLst/>
          </a:prstGeom>
          <a:noFill/>
          <a:ln>
            <a:noFill/>
          </a:ln>
        </p:spPr>
      </p:pic>
      <p:sp>
        <p:nvSpPr>
          <p:cNvPr id="224" name="Google Shape;224;p17"/>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44</a:t>
            </a:fld>
            <a:endParaRPr sz="1100">
              <a:solidFill>
                <a:srgbClr val="7F7F7F"/>
              </a:solidFill>
            </a:endParaRPr>
          </a:p>
        </p:txBody>
      </p:sp>
      <p:graphicFrame>
        <p:nvGraphicFramePr>
          <p:cNvPr id="2" name="Table 1">
            <a:extLst>
              <a:ext uri="{FF2B5EF4-FFF2-40B4-BE49-F238E27FC236}">
                <a16:creationId xmlns:a16="http://schemas.microsoft.com/office/drawing/2014/main" id="{B218E513-FBC1-6ED9-8DED-740F91C7E2C6}"/>
              </a:ext>
            </a:extLst>
          </p:cNvPr>
          <p:cNvGraphicFramePr>
            <a:graphicFrameLocks noGrp="1"/>
          </p:cNvGraphicFramePr>
          <p:nvPr>
            <p:extLst>
              <p:ext uri="{D42A27DB-BD31-4B8C-83A1-F6EECF244321}">
                <p14:modId xmlns:p14="http://schemas.microsoft.com/office/powerpoint/2010/main" val="2008825588"/>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Overview: Data Transformation Summary</a:t>
                      </a:r>
                      <a:endParaRPr lang="en-US" dirty="0"/>
                    </a:p>
                  </a:txBody>
                  <a:tcPr>
                    <a:solidFill>
                      <a:srgbClr val="7030A0"/>
                    </a:solidFill>
                  </a:tcPr>
                </a:tc>
                <a:tc>
                  <a:txBody>
                    <a:bodyPr/>
                    <a:lstStyle/>
                    <a:p>
                      <a:pPr algn="ctr"/>
                      <a:r>
                        <a:rPr lang="en-US" sz="1400" dirty="0">
                          <a:latin typeface="+mn-lt"/>
                        </a:rPr>
                        <a:t>Column based transformation necessary proof</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17"/>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0" name="Google Shape;220;p17"/>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1" name="Google Shape;221;p17"/>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17"/>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dirty="0">
                <a:solidFill>
                  <a:srgbClr val="FFFFFF"/>
                </a:solidFill>
                <a:latin typeface="Calibri"/>
                <a:ea typeface="Calibri"/>
                <a:cs typeface="Calibri"/>
                <a:sym typeface="Calibri"/>
              </a:rPr>
              <a:t>Data Transformation</a:t>
            </a:r>
            <a:endParaRPr dirty="0"/>
          </a:p>
        </p:txBody>
      </p:sp>
      <p:sp>
        <p:nvSpPr>
          <p:cNvPr id="224" name="Google Shape;224;p17"/>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45</a:t>
            </a:fld>
            <a:endParaRPr sz="1100">
              <a:solidFill>
                <a:srgbClr val="7F7F7F"/>
              </a:solidFill>
            </a:endParaRPr>
          </a:p>
        </p:txBody>
      </p:sp>
      <p:pic>
        <p:nvPicPr>
          <p:cNvPr id="3" name="Picture 2">
            <a:extLst>
              <a:ext uri="{FF2B5EF4-FFF2-40B4-BE49-F238E27FC236}">
                <a16:creationId xmlns:a16="http://schemas.microsoft.com/office/drawing/2014/main" id="{33366F96-8173-017A-6BE5-E42324BD74AB}"/>
              </a:ext>
            </a:extLst>
          </p:cNvPr>
          <p:cNvPicPr>
            <a:picLocks noChangeAspect="1"/>
          </p:cNvPicPr>
          <p:nvPr/>
        </p:nvPicPr>
        <p:blipFill>
          <a:blip r:embed="rId3"/>
          <a:stretch>
            <a:fillRect/>
          </a:stretch>
        </p:blipFill>
        <p:spPr>
          <a:xfrm>
            <a:off x="0" y="1946295"/>
            <a:ext cx="12192000" cy="1108364"/>
          </a:xfrm>
          <a:prstGeom prst="rect">
            <a:avLst/>
          </a:prstGeom>
        </p:spPr>
      </p:pic>
      <p:pic>
        <p:nvPicPr>
          <p:cNvPr id="8" name="Picture 7">
            <a:extLst>
              <a:ext uri="{FF2B5EF4-FFF2-40B4-BE49-F238E27FC236}">
                <a16:creationId xmlns:a16="http://schemas.microsoft.com/office/drawing/2014/main" id="{0312FDE6-3BD8-CCC7-A59E-E068604D3D11}"/>
              </a:ext>
            </a:extLst>
          </p:cNvPr>
          <p:cNvPicPr>
            <a:picLocks noChangeAspect="1"/>
          </p:cNvPicPr>
          <p:nvPr/>
        </p:nvPicPr>
        <p:blipFill>
          <a:blip r:embed="rId4"/>
          <a:stretch>
            <a:fillRect/>
          </a:stretch>
        </p:blipFill>
        <p:spPr>
          <a:xfrm>
            <a:off x="699713" y="2924028"/>
            <a:ext cx="4849325" cy="3356764"/>
          </a:xfrm>
          <a:prstGeom prst="rect">
            <a:avLst/>
          </a:prstGeom>
        </p:spPr>
      </p:pic>
      <p:sp>
        <p:nvSpPr>
          <p:cNvPr id="9" name="TextBox 8">
            <a:extLst>
              <a:ext uri="{FF2B5EF4-FFF2-40B4-BE49-F238E27FC236}">
                <a16:creationId xmlns:a16="http://schemas.microsoft.com/office/drawing/2014/main" id="{4FE6C356-39AE-73C6-8517-CB084EEE066C}"/>
              </a:ext>
            </a:extLst>
          </p:cNvPr>
          <p:cNvSpPr txBox="1"/>
          <p:nvPr/>
        </p:nvSpPr>
        <p:spPr>
          <a:xfrm>
            <a:off x="3153508" y="6479871"/>
            <a:ext cx="3700975" cy="307777"/>
          </a:xfrm>
          <a:prstGeom prst="rect">
            <a:avLst/>
          </a:prstGeom>
          <a:noFill/>
        </p:spPr>
        <p:txBody>
          <a:bodyPr wrap="square" rtlCol="0">
            <a:spAutoFit/>
          </a:bodyPr>
          <a:lstStyle/>
          <a:p>
            <a:r>
              <a:rPr lang="en-US" dirty="0"/>
              <a:t>Lt and entropy histograms of Bugzilla</a:t>
            </a:r>
          </a:p>
        </p:txBody>
      </p:sp>
      <p:pic>
        <p:nvPicPr>
          <p:cNvPr id="11" name="Picture 10">
            <a:extLst>
              <a:ext uri="{FF2B5EF4-FFF2-40B4-BE49-F238E27FC236}">
                <a16:creationId xmlns:a16="http://schemas.microsoft.com/office/drawing/2014/main" id="{8DACCA7B-70E3-8DB0-C5B8-F3D88B3F000D}"/>
              </a:ext>
            </a:extLst>
          </p:cNvPr>
          <p:cNvPicPr>
            <a:picLocks noChangeAspect="1"/>
          </p:cNvPicPr>
          <p:nvPr/>
        </p:nvPicPr>
        <p:blipFill>
          <a:blip r:embed="rId5"/>
          <a:stretch>
            <a:fillRect/>
          </a:stretch>
        </p:blipFill>
        <p:spPr>
          <a:xfrm>
            <a:off x="6509053" y="2924029"/>
            <a:ext cx="4519880" cy="3356764"/>
          </a:xfrm>
          <a:prstGeom prst="rect">
            <a:avLst/>
          </a:prstGeom>
        </p:spPr>
      </p:pic>
      <p:graphicFrame>
        <p:nvGraphicFramePr>
          <p:cNvPr id="12" name="Table 11">
            <a:extLst>
              <a:ext uri="{FF2B5EF4-FFF2-40B4-BE49-F238E27FC236}">
                <a16:creationId xmlns:a16="http://schemas.microsoft.com/office/drawing/2014/main" id="{49D6D1C2-5CAB-30C3-183C-EBE569FC7CB0}"/>
              </a:ext>
            </a:extLst>
          </p:cNvPr>
          <p:cNvGraphicFramePr>
            <a:graphicFrameLocks noGrp="1"/>
          </p:cNvGraphicFramePr>
          <p:nvPr>
            <p:extLst>
              <p:ext uri="{D42A27DB-BD31-4B8C-83A1-F6EECF244321}">
                <p14:modId xmlns:p14="http://schemas.microsoft.com/office/powerpoint/2010/main" val="136724672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Column based transformation necessary proof</a:t>
                      </a:r>
                      <a:endParaRPr lang="en-US" dirty="0"/>
                    </a:p>
                  </a:txBody>
                  <a:tcPr>
                    <a:solidFill>
                      <a:srgbClr val="7030A0"/>
                    </a:solidFill>
                  </a:tcPr>
                </a:tc>
                <a:tc>
                  <a:txBody>
                    <a:bodyPr/>
                    <a:lstStyle/>
                    <a:p>
                      <a:pPr algn="ctr"/>
                      <a:r>
                        <a:rPr lang="en-US" sz="1400" dirty="0">
                          <a:latin typeface="+mn-lt"/>
                        </a:rPr>
                        <a:t>Column based transformation methods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677551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18"/>
          <p:cNvSpPr txBox="1">
            <a:spLocks noGrp="1"/>
          </p:cNvSpPr>
          <p:nvPr>
            <p:ph type="title"/>
          </p:nvPr>
        </p:nvSpPr>
        <p:spPr>
          <a:xfrm>
            <a:off x="0" y="573471"/>
            <a:ext cx="10515600" cy="76558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Data Transformation: column based</a:t>
            </a:r>
            <a:endParaRPr dirty="0"/>
          </a:p>
        </p:txBody>
      </p:sp>
      <p:sp>
        <p:nvSpPr>
          <p:cNvPr id="230" name="Google Shape;23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pic>
        <p:nvPicPr>
          <p:cNvPr id="231" name="Google Shape;231;p18"/>
          <p:cNvPicPr preferRelativeResize="0"/>
          <p:nvPr/>
        </p:nvPicPr>
        <p:blipFill rotWithShape="1">
          <a:blip r:embed="rId3">
            <a:alphaModFix/>
          </a:blip>
          <a:srcRect/>
          <a:stretch/>
        </p:blipFill>
        <p:spPr>
          <a:xfrm>
            <a:off x="7303924" y="1203633"/>
            <a:ext cx="1438275" cy="400050"/>
          </a:xfrm>
          <a:prstGeom prst="rect">
            <a:avLst/>
          </a:prstGeom>
          <a:noFill/>
          <a:ln>
            <a:noFill/>
          </a:ln>
        </p:spPr>
      </p:pic>
      <p:pic>
        <p:nvPicPr>
          <p:cNvPr id="232" name="Google Shape;232;p18"/>
          <p:cNvPicPr preferRelativeResize="0"/>
          <p:nvPr/>
        </p:nvPicPr>
        <p:blipFill rotWithShape="1">
          <a:blip r:embed="rId4">
            <a:alphaModFix/>
          </a:blip>
          <a:srcRect/>
          <a:stretch/>
        </p:blipFill>
        <p:spPr>
          <a:xfrm>
            <a:off x="6690351" y="2717132"/>
            <a:ext cx="5243031" cy="289670"/>
          </a:xfrm>
          <a:prstGeom prst="rect">
            <a:avLst/>
          </a:prstGeom>
          <a:noFill/>
          <a:ln>
            <a:noFill/>
          </a:ln>
        </p:spPr>
      </p:pic>
      <p:pic>
        <p:nvPicPr>
          <p:cNvPr id="233" name="Google Shape;233;p18"/>
          <p:cNvPicPr preferRelativeResize="0"/>
          <p:nvPr/>
        </p:nvPicPr>
        <p:blipFill rotWithShape="1">
          <a:blip r:embed="rId5">
            <a:alphaModFix/>
          </a:blip>
          <a:srcRect/>
          <a:stretch/>
        </p:blipFill>
        <p:spPr>
          <a:xfrm>
            <a:off x="7137979" y="1913878"/>
            <a:ext cx="2543175" cy="428625"/>
          </a:xfrm>
          <a:prstGeom prst="rect">
            <a:avLst/>
          </a:prstGeom>
          <a:noFill/>
          <a:ln>
            <a:noFill/>
          </a:ln>
        </p:spPr>
      </p:pic>
      <p:pic>
        <p:nvPicPr>
          <p:cNvPr id="234" name="Google Shape;234;p18"/>
          <p:cNvPicPr preferRelativeResize="0"/>
          <p:nvPr/>
        </p:nvPicPr>
        <p:blipFill rotWithShape="1">
          <a:blip r:embed="rId6">
            <a:alphaModFix/>
          </a:blip>
          <a:srcRect/>
          <a:stretch/>
        </p:blipFill>
        <p:spPr>
          <a:xfrm>
            <a:off x="3716059" y="3255568"/>
            <a:ext cx="8334604" cy="765589"/>
          </a:xfrm>
          <a:prstGeom prst="rect">
            <a:avLst/>
          </a:prstGeom>
          <a:noFill/>
          <a:ln>
            <a:noFill/>
          </a:ln>
        </p:spPr>
      </p:pic>
      <p:pic>
        <p:nvPicPr>
          <p:cNvPr id="235" name="Google Shape;235;p18"/>
          <p:cNvPicPr preferRelativeResize="0"/>
          <p:nvPr/>
        </p:nvPicPr>
        <p:blipFill rotWithShape="1">
          <a:blip r:embed="rId7">
            <a:alphaModFix/>
          </a:blip>
          <a:srcRect/>
          <a:stretch/>
        </p:blipFill>
        <p:spPr>
          <a:xfrm>
            <a:off x="-33999" y="1150712"/>
            <a:ext cx="7007405" cy="4840423"/>
          </a:xfrm>
          <a:prstGeom prst="rect">
            <a:avLst/>
          </a:prstGeom>
          <a:noFill/>
          <a:ln>
            <a:noFill/>
          </a:ln>
        </p:spPr>
      </p:pic>
      <p:sp>
        <p:nvSpPr>
          <p:cNvPr id="236" name="Google Shape;236;p18"/>
          <p:cNvSpPr txBox="1"/>
          <p:nvPr/>
        </p:nvSpPr>
        <p:spPr>
          <a:xfrm>
            <a:off x="7487840" y="4272508"/>
            <a:ext cx="3976159"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a:solidFill>
                  <a:schemeClr val="dk1"/>
                </a:solidFill>
                <a:latin typeface="Arial"/>
                <a:ea typeface="Arial"/>
                <a:cs typeface="Arial"/>
                <a:sym typeface="Arial"/>
              </a:rPr>
              <a:t>if two variables are correlated, </a:t>
            </a:r>
            <a:endParaRPr/>
          </a:p>
          <a:p>
            <a:pPr marL="0" marR="0" lvl="0" indent="0" algn="l" rtl="0">
              <a:spcBef>
                <a:spcPts val="0"/>
              </a:spcBef>
              <a:spcAft>
                <a:spcPts val="0"/>
              </a:spcAft>
              <a:buNone/>
            </a:pPr>
            <a:r>
              <a:rPr lang="en-US" sz="1800" b="0" i="0" u="none" strike="noStrike">
                <a:solidFill>
                  <a:schemeClr val="dk1"/>
                </a:solidFill>
                <a:latin typeface="Arial"/>
                <a:ea typeface="Arial"/>
                <a:cs typeface="Arial"/>
                <a:sym typeface="Arial"/>
              </a:rPr>
              <a:t>keep the variable that helps ease model interpretation</a:t>
            </a:r>
            <a:endParaRPr sz="180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F338D4F9-EFD3-8ACD-EFE1-D9699E0D80EE}"/>
              </a:ext>
            </a:extLst>
          </p:cNvPr>
          <p:cNvGraphicFramePr>
            <a:graphicFrameLocks noGrp="1"/>
          </p:cNvGraphicFramePr>
          <p:nvPr>
            <p:extLst>
              <p:ext uri="{D42A27DB-BD31-4B8C-83A1-F6EECF244321}">
                <p14:modId xmlns:p14="http://schemas.microsoft.com/office/powerpoint/2010/main" val="290206530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algn="ctr"/>
                      <a:r>
                        <a:rPr lang="en-US" sz="1400" dirty="0">
                          <a:latin typeface="+mn-lt"/>
                        </a:rPr>
                        <a:t>Column based transformation methods</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Row based transformation necessary proof</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Data Transformation: row based</a:t>
            </a:r>
            <a:endParaRPr/>
          </a:p>
        </p:txBody>
      </p:sp>
      <p:sp>
        <p:nvSpPr>
          <p:cNvPr id="242" name="Google Shape;24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pic>
        <p:nvPicPr>
          <p:cNvPr id="243" name="Google Shape;243;p19"/>
          <p:cNvPicPr preferRelativeResize="0"/>
          <p:nvPr/>
        </p:nvPicPr>
        <p:blipFill rotWithShape="1">
          <a:blip r:embed="rId3">
            <a:alphaModFix/>
          </a:blip>
          <a:srcRect/>
          <a:stretch/>
        </p:blipFill>
        <p:spPr>
          <a:xfrm>
            <a:off x="1010903" y="2228850"/>
            <a:ext cx="9458325" cy="2400300"/>
          </a:xfrm>
          <a:prstGeom prst="rect">
            <a:avLst/>
          </a:prstGeom>
          <a:noFill/>
          <a:ln>
            <a:noFill/>
          </a:ln>
        </p:spPr>
      </p:pic>
      <p:sp>
        <p:nvSpPr>
          <p:cNvPr id="244" name="Google Shape;244;p19"/>
          <p:cNvSpPr txBox="1"/>
          <p:nvPr/>
        </p:nvSpPr>
        <p:spPr>
          <a:xfrm>
            <a:off x="672765" y="5153304"/>
            <a:ext cx="101346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Data is very imbalanced, which would impact the performance of models, like </a:t>
            </a:r>
            <a:r>
              <a:rPr lang="en-US" sz="1800" dirty="0" err="1">
                <a:solidFill>
                  <a:schemeClr val="dk1"/>
                </a:solidFill>
                <a:latin typeface="Calibri"/>
                <a:ea typeface="Calibri"/>
                <a:cs typeface="Calibri"/>
                <a:sym typeface="Calibri"/>
              </a:rPr>
              <a:t>Sklearn</a:t>
            </a:r>
            <a:r>
              <a:rPr lang="en-US" sz="1800" dirty="0">
                <a:solidFill>
                  <a:schemeClr val="dk1"/>
                </a:solidFill>
                <a:latin typeface="Calibri"/>
                <a:ea typeface="Calibri"/>
                <a:cs typeface="Calibri"/>
                <a:sym typeface="Calibri"/>
              </a:rPr>
              <a:t> decision trees</a:t>
            </a:r>
            <a:endParaRPr dirty="0"/>
          </a:p>
        </p:txBody>
      </p:sp>
      <p:pic>
        <p:nvPicPr>
          <p:cNvPr id="3" name="Picture 2">
            <a:extLst>
              <a:ext uri="{FF2B5EF4-FFF2-40B4-BE49-F238E27FC236}">
                <a16:creationId xmlns:a16="http://schemas.microsoft.com/office/drawing/2014/main" id="{7698556C-9CFE-C2C0-9BEA-E42E4A5CAE97}"/>
              </a:ext>
            </a:extLst>
          </p:cNvPr>
          <p:cNvPicPr>
            <a:picLocks noChangeAspect="1"/>
          </p:cNvPicPr>
          <p:nvPr/>
        </p:nvPicPr>
        <p:blipFill>
          <a:blip r:embed="rId4"/>
          <a:stretch>
            <a:fillRect/>
          </a:stretch>
        </p:blipFill>
        <p:spPr>
          <a:xfrm>
            <a:off x="545123" y="5677416"/>
            <a:ext cx="11311758" cy="718401"/>
          </a:xfrm>
          <a:prstGeom prst="rect">
            <a:avLst/>
          </a:prstGeom>
        </p:spPr>
      </p:pic>
      <p:graphicFrame>
        <p:nvGraphicFramePr>
          <p:cNvPr id="4" name="Table 3">
            <a:extLst>
              <a:ext uri="{FF2B5EF4-FFF2-40B4-BE49-F238E27FC236}">
                <a16:creationId xmlns:a16="http://schemas.microsoft.com/office/drawing/2014/main" id="{152E093F-7285-C606-CF5E-4053D18E881F}"/>
              </a:ext>
            </a:extLst>
          </p:cNvPr>
          <p:cNvGraphicFramePr>
            <a:graphicFrameLocks noGrp="1"/>
          </p:cNvGraphicFramePr>
          <p:nvPr>
            <p:extLst>
              <p:ext uri="{D42A27DB-BD31-4B8C-83A1-F6EECF244321}">
                <p14:modId xmlns:p14="http://schemas.microsoft.com/office/powerpoint/2010/main" val="208646196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Row based transformation necessary proof</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Row based transformation methods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0"/>
          <p:cNvSpPr txBox="1">
            <a:spLocks noGrp="1"/>
          </p:cNvSpPr>
          <p:nvPr>
            <p:ph type="title"/>
          </p:nvPr>
        </p:nvSpPr>
        <p:spPr>
          <a:xfrm>
            <a:off x="-55418" y="304799"/>
            <a:ext cx="12099636" cy="603309"/>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Data Transformation: row based(dealing imbalance)</a:t>
            </a:r>
            <a:endParaRPr dirty="0"/>
          </a:p>
        </p:txBody>
      </p:sp>
      <p:sp>
        <p:nvSpPr>
          <p:cNvPr id="250" name="Google Shape;250;p20"/>
          <p:cNvSpPr txBox="1">
            <a:spLocks noGrp="1"/>
          </p:cNvSpPr>
          <p:nvPr>
            <p:ph type="body" idx="1"/>
          </p:nvPr>
        </p:nvSpPr>
        <p:spPr>
          <a:xfrm>
            <a:off x="-52754" y="908109"/>
            <a:ext cx="12326816" cy="5533291"/>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chemeClr val="dk1"/>
              </a:buClr>
              <a:buSzPts val="2400"/>
              <a:buNone/>
            </a:pPr>
            <a:r>
              <a:rPr lang="en-US" sz="2000" dirty="0">
                <a:latin typeface="+mn-lt"/>
              </a:rPr>
              <a:t>1) Resampling the original data set</a:t>
            </a:r>
            <a:endParaRPr sz="2000" dirty="0">
              <a:latin typeface="+mn-lt"/>
            </a:endParaRPr>
          </a:p>
          <a:p>
            <a:pPr marL="228600" lvl="0" indent="-228600" algn="l" rtl="0">
              <a:lnSpc>
                <a:spcPct val="90000"/>
              </a:lnSpc>
              <a:spcBef>
                <a:spcPts val="1000"/>
              </a:spcBef>
              <a:spcAft>
                <a:spcPts val="0"/>
              </a:spcAft>
              <a:buClr>
                <a:schemeClr val="dk1"/>
              </a:buClr>
              <a:buSzPts val="2000"/>
              <a:buFont typeface="Noto Sans Symbols"/>
              <a:buChar char="▪"/>
            </a:pPr>
            <a:r>
              <a:rPr lang="en-US" sz="1700" dirty="0" err="1">
                <a:latin typeface="+mn-lt"/>
              </a:rPr>
              <a:t>Undersampling</a:t>
            </a:r>
            <a:r>
              <a:rPr lang="en-US" sz="1700" dirty="0">
                <a:latin typeface="+mn-lt"/>
              </a:rPr>
              <a:t> the majority class</a:t>
            </a:r>
            <a:endParaRPr sz="1700" dirty="0">
              <a:latin typeface="+mn-lt"/>
            </a:endParaRPr>
          </a:p>
          <a:p>
            <a:pPr marL="228600" lvl="0" indent="-228600" algn="l" rtl="0">
              <a:lnSpc>
                <a:spcPct val="90000"/>
              </a:lnSpc>
              <a:spcBef>
                <a:spcPts val="1000"/>
              </a:spcBef>
              <a:spcAft>
                <a:spcPts val="0"/>
              </a:spcAft>
              <a:buClr>
                <a:schemeClr val="dk1"/>
              </a:buClr>
              <a:buSzPts val="2000"/>
              <a:buFont typeface="Noto Sans Symbols"/>
              <a:buChar char="▪"/>
            </a:pPr>
            <a:r>
              <a:rPr lang="en-US" sz="1700" dirty="0">
                <a:latin typeface="+mn-lt"/>
              </a:rPr>
              <a:t>Oversampling the minority class</a:t>
            </a:r>
            <a:endParaRPr sz="1700" dirty="0">
              <a:latin typeface="+mn-lt"/>
            </a:endParaRPr>
          </a:p>
          <a:p>
            <a:pPr marL="228600" lvl="0" indent="-228600" algn="l" rtl="0">
              <a:lnSpc>
                <a:spcPct val="90000"/>
              </a:lnSpc>
              <a:spcBef>
                <a:spcPts val="1000"/>
              </a:spcBef>
              <a:spcAft>
                <a:spcPts val="0"/>
              </a:spcAft>
              <a:buClr>
                <a:schemeClr val="dk1"/>
              </a:buClr>
              <a:buSzPts val="2000"/>
              <a:buFont typeface="Noto Sans Symbols"/>
              <a:buChar char="▪"/>
            </a:pPr>
            <a:r>
              <a:rPr lang="en-US" sz="1700" dirty="0">
                <a:latin typeface="+mn-lt"/>
              </a:rPr>
              <a:t>A combination of them</a:t>
            </a:r>
            <a:endParaRPr sz="1700" dirty="0">
              <a:latin typeface="+mn-lt"/>
            </a:endParaRPr>
          </a:p>
          <a:p>
            <a:pPr marL="0" lvl="0" indent="0" algn="l" rtl="0">
              <a:lnSpc>
                <a:spcPct val="90000"/>
              </a:lnSpc>
              <a:spcBef>
                <a:spcPts val="1000"/>
              </a:spcBef>
              <a:spcAft>
                <a:spcPts val="0"/>
              </a:spcAft>
              <a:buClr>
                <a:schemeClr val="dk1"/>
              </a:buClr>
              <a:buSzPts val="800"/>
              <a:buNone/>
            </a:pPr>
            <a:endParaRPr sz="800" dirty="0">
              <a:latin typeface="+mn-lt"/>
            </a:endParaRPr>
          </a:p>
          <a:p>
            <a:pPr marL="0" lvl="0" indent="0" algn="l" rtl="0">
              <a:lnSpc>
                <a:spcPct val="90000"/>
              </a:lnSpc>
              <a:spcBef>
                <a:spcPts val="1000"/>
              </a:spcBef>
              <a:spcAft>
                <a:spcPts val="0"/>
              </a:spcAft>
              <a:buClr>
                <a:schemeClr val="dk1"/>
              </a:buClr>
              <a:buSzPts val="2400"/>
              <a:buNone/>
            </a:pPr>
            <a:r>
              <a:rPr lang="en-US" sz="1700" dirty="0">
                <a:latin typeface="+mn-lt"/>
                <a:ea typeface="Arial"/>
                <a:cs typeface="Arial"/>
                <a:sym typeface="Arial"/>
              </a:rPr>
              <a:t>Tan et al. [69] further divide the oversampling and </a:t>
            </a:r>
            <a:r>
              <a:rPr lang="en-US" sz="1700" dirty="0" err="1">
                <a:latin typeface="+mn-lt"/>
                <a:ea typeface="Arial"/>
                <a:cs typeface="Arial"/>
                <a:sym typeface="Arial"/>
              </a:rPr>
              <a:t>undersampling</a:t>
            </a:r>
            <a:r>
              <a:rPr lang="en-US" sz="1700" dirty="0">
                <a:latin typeface="+mn-lt"/>
                <a:ea typeface="Arial"/>
                <a:cs typeface="Arial"/>
                <a:sym typeface="Arial"/>
              </a:rPr>
              <a:t> class-balancing strategies into four methods, namely, Simple Duplicate, Synthetic Minority Over-sampling Technique (SMOTE), Spread Subsample, and Bootstrapping with/without Replacements.</a:t>
            </a:r>
          </a:p>
          <a:p>
            <a:pPr marL="0" lvl="0" indent="0" algn="l" rtl="0">
              <a:lnSpc>
                <a:spcPct val="90000"/>
              </a:lnSpc>
              <a:spcBef>
                <a:spcPts val="1000"/>
              </a:spcBef>
              <a:spcAft>
                <a:spcPts val="0"/>
              </a:spcAft>
              <a:buClr>
                <a:schemeClr val="dk1"/>
              </a:buClr>
              <a:buSzPts val="2400"/>
              <a:buNone/>
            </a:pPr>
            <a:endParaRPr lang="en-US" sz="1700" dirty="0">
              <a:latin typeface="+mn-lt"/>
              <a:ea typeface="Arial"/>
              <a:cs typeface="Arial"/>
              <a:sym typeface="Arial"/>
            </a:endParaRPr>
          </a:p>
          <a:p>
            <a:pPr marL="0" indent="0">
              <a:buSzPts val="2400"/>
              <a:buNone/>
            </a:pPr>
            <a:r>
              <a:rPr lang="en-US" sz="1900" b="0" i="0" u="none" strike="noStrike" dirty="0">
                <a:latin typeface="+mn-lt"/>
                <a:ea typeface="Arial"/>
                <a:cs typeface="Arial"/>
                <a:sym typeface="Arial"/>
              </a:rPr>
              <a:t>The prior JIT-SDP studies adopt more frequently the </a:t>
            </a:r>
            <a:r>
              <a:rPr lang="en-US" sz="1900" b="0" i="0" u="none" strike="noStrike" dirty="0" err="1">
                <a:latin typeface="+mn-lt"/>
                <a:ea typeface="Arial"/>
                <a:cs typeface="Arial"/>
                <a:sym typeface="Arial"/>
              </a:rPr>
              <a:t>undersampling</a:t>
            </a:r>
            <a:r>
              <a:rPr lang="en-US" sz="1900" b="0" i="0" u="none" strike="noStrike" dirty="0">
                <a:latin typeface="+mn-lt"/>
                <a:ea typeface="Arial"/>
                <a:cs typeface="Arial"/>
                <a:sym typeface="Arial"/>
              </a:rPr>
              <a:t> and the SMOTE approaches than the others.</a:t>
            </a:r>
            <a:endParaRPr lang="en-US" sz="1900" dirty="0">
              <a:latin typeface="+mn-lt"/>
            </a:endParaRPr>
          </a:p>
          <a:p>
            <a:pPr marL="0" lvl="0" indent="0" algn="l" rtl="0">
              <a:lnSpc>
                <a:spcPct val="90000"/>
              </a:lnSpc>
              <a:spcBef>
                <a:spcPts val="1000"/>
              </a:spcBef>
              <a:spcAft>
                <a:spcPts val="0"/>
              </a:spcAft>
              <a:buClr>
                <a:schemeClr val="dk1"/>
              </a:buClr>
              <a:buSzPts val="2400"/>
              <a:buNone/>
            </a:pPr>
            <a:r>
              <a:rPr lang="en-US" sz="1900" dirty="0">
                <a:latin typeface="+mn-lt"/>
                <a:ea typeface="Arial"/>
                <a:cs typeface="Arial"/>
                <a:sym typeface="Arial"/>
              </a:rPr>
              <a:t>Researchers remain inconclusive on the optimal choice of data balancing strategies for JIT-SDP models. </a:t>
            </a:r>
          </a:p>
          <a:p>
            <a:pPr marL="0" lvl="0" indent="0" algn="l" rtl="0">
              <a:lnSpc>
                <a:spcPct val="90000"/>
              </a:lnSpc>
              <a:spcBef>
                <a:spcPts val="1000"/>
              </a:spcBef>
              <a:spcAft>
                <a:spcPts val="0"/>
              </a:spcAft>
              <a:buClr>
                <a:schemeClr val="dk1"/>
              </a:buClr>
              <a:buSzPts val="2400"/>
              <a:buNone/>
            </a:pPr>
            <a:endParaRPr lang="en-US" sz="1900" dirty="0">
              <a:latin typeface="+mn-lt"/>
              <a:ea typeface="Arial"/>
              <a:cs typeface="Arial"/>
              <a:sym typeface="Arial"/>
            </a:endParaRPr>
          </a:p>
          <a:p>
            <a:pPr marL="0" lvl="0" indent="0" algn="l" rtl="0">
              <a:lnSpc>
                <a:spcPct val="90000"/>
              </a:lnSpc>
              <a:spcBef>
                <a:spcPts val="1000"/>
              </a:spcBef>
              <a:spcAft>
                <a:spcPts val="0"/>
              </a:spcAft>
              <a:buClr>
                <a:schemeClr val="dk1"/>
              </a:buClr>
              <a:buSzPts val="2400"/>
              <a:buNone/>
            </a:pPr>
            <a:r>
              <a:rPr lang="en-US" sz="2000" dirty="0">
                <a:latin typeface="+mn-lt"/>
              </a:rPr>
              <a:t>2) Model design</a:t>
            </a:r>
            <a:endParaRPr sz="2000" dirty="0">
              <a:latin typeface="+mn-lt"/>
            </a:endParaRPr>
          </a:p>
          <a:p>
            <a:pPr marL="228600" lvl="0" indent="-228600" algn="l" rtl="0">
              <a:lnSpc>
                <a:spcPct val="90000"/>
              </a:lnSpc>
              <a:spcBef>
                <a:spcPts val="1000"/>
              </a:spcBef>
              <a:spcAft>
                <a:spcPts val="0"/>
              </a:spcAft>
              <a:buClr>
                <a:schemeClr val="dk1"/>
              </a:buClr>
              <a:buSzPts val="2000"/>
              <a:buChar char="•"/>
            </a:pPr>
            <a:r>
              <a:rPr lang="en-US" sz="1700" b="0" i="0" u="none" strike="noStrike" dirty="0">
                <a:latin typeface="+mn-lt"/>
                <a:ea typeface="Arial"/>
                <a:cs typeface="Arial"/>
                <a:sym typeface="Arial"/>
              </a:rPr>
              <a:t>When a JIT-SDP model is to minimize a loss function, we can assign a larger class weight to the minority class than do to the majority class [92]</a:t>
            </a:r>
          </a:p>
          <a:p>
            <a:pPr marL="228600" lvl="0" indent="-228600" algn="l" rtl="0">
              <a:lnSpc>
                <a:spcPct val="90000"/>
              </a:lnSpc>
              <a:spcBef>
                <a:spcPts val="1000"/>
              </a:spcBef>
              <a:spcAft>
                <a:spcPts val="0"/>
              </a:spcAft>
              <a:buClr>
                <a:schemeClr val="dk1"/>
              </a:buClr>
              <a:buSzPts val="2000"/>
              <a:buChar char="•"/>
            </a:pPr>
            <a:r>
              <a:rPr lang="en-US" sz="1700" dirty="0">
                <a:latin typeface="+mn-lt"/>
                <a:cs typeface="Arial"/>
                <a:sym typeface="Arial"/>
              </a:rPr>
              <a:t>An ensemble of classifiers can as a whole use all of the data while each of the classifier uses a balanced subset of the whole data set [82, 95].</a:t>
            </a:r>
          </a:p>
          <a:p>
            <a:pPr marL="228600" lvl="0" indent="-228600" algn="l" rtl="0">
              <a:lnSpc>
                <a:spcPct val="90000"/>
              </a:lnSpc>
              <a:spcBef>
                <a:spcPts val="1000"/>
              </a:spcBef>
              <a:spcAft>
                <a:spcPts val="0"/>
              </a:spcAft>
              <a:buClr>
                <a:schemeClr val="dk1"/>
              </a:buClr>
              <a:buSzPts val="2000"/>
              <a:buChar char="•"/>
            </a:pPr>
            <a:endParaRPr lang="en-US" sz="1700" dirty="0">
              <a:latin typeface="+mn-lt"/>
              <a:cs typeface="Arial"/>
              <a:sym typeface="Arial"/>
            </a:endParaRPr>
          </a:p>
          <a:p>
            <a:pPr marL="0" lvl="0" indent="0" algn="l" rtl="0">
              <a:lnSpc>
                <a:spcPct val="90000"/>
              </a:lnSpc>
              <a:spcBef>
                <a:spcPts val="1000"/>
              </a:spcBef>
              <a:spcAft>
                <a:spcPts val="0"/>
              </a:spcAft>
              <a:buClr>
                <a:schemeClr val="dk1"/>
              </a:buClr>
              <a:buSzPts val="2000"/>
              <a:buNone/>
            </a:pPr>
            <a:r>
              <a:rPr lang="en-US" sz="1900" dirty="0">
                <a:latin typeface="+mn-lt"/>
              </a:rPr>
              <a:t>we should also be cautious about balancing the data when the interpretation of the model is our primary concern since the balanced data may change the interpretation of the model, such as shift the ranking of the most important metrics [44].</a:t>
            </a:r>
          </a:p>
        </p:txBody>
      </p:sp>
      <p:sp>
        <p:nvSpPr>
          <p:cNvPr id="251" name="Google Shape;2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
        <p:nvSpPr>
          <p:cNvPr id="2" name="Arrow: Up 1">
            <a:hlinkClick r:id="rId3" action="ppaction://hlinksldjump"/>
            <a:extLst>
              <a:ext uri="{FF2B5EF4-FFF2-40B4-BE49-F238E27FC236}">
                <a16:creationId xmlns:a16="http://schemas.microsoft.com/office/drawing/2014/main" id="{D826E83D-2C60-F054-EEDB-CC4247D1C8F0}"/>
              </a:ext>
            </a:extLst>
          </p:cNvPr>
          <p:cNvSpPr/>
          <p:nvPr/>
        </p:nvSpPr>
        <p:spPr>
          <a:xfrm>
            <a:off x="10046677" y="6447692"/>
            <a:ext cx="937846" cy="365125"/>
          </a:xfrm>
          <a:prstGeom prst="upArrow">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Home</a:t>
            </a:r>
          </a:p>
        </p:txBody>
      </p:sp>
      <p:graphicFrame>
        <p:nvGraphicFramePr>
          <p:cNvPr id="3" name="Table 2">
            <a:extLst>
              <a:ext uri="{FF2B5EF4-FFF2-40B4-BE49-F238E27FC236}">
                <a16:creationId xmlns:a16="http://schemas.microsoft.com/office/drawing/2014/main" id="{D1B7B189-264B-6C82-A83F-33A045CB1250}"/>
              </a:ext>
            </a:extLst>
          </p:cNvPr>
          <p:cNvGraphicFramePr>
            <a:graphicFrameLocks noGrp="1"/>
          </p:cNvGraphicFramePr>
          <p:nvPr>
            <p:extLst>
              <p:ext uri="{D42A27DB-BD31-4B8C-83A1-F6EECF244321}">
                <p14:modId xmlns:p14="http://schemas.microsoft.com/office/powerpoint/2010/main" val="311016075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Row based transformation methods</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Overview -&gt; Modeling</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graphicFrame>
        <p:nvGraphicFramePr>
          <p:cNvPr id="2" name="Table 1">
            <a:extLst>
              <a:ext uri="{FF2B5EF4-FFF2-40B4-BE49-F238E27FC236}">
                <a16:creationId xmlns:a16="http://schemas.microsoft.com/office/drawing/2014/main" id="{6E7263CF-E5CC-84DF-E5C0-0F877B59F8C0}"/>
              </a:ext>
            </a:extLst>
          </p:cNvPr>
          <p:cNvGraphicFramePr>
            <a:graphicFrameLocks noGrp="1"/>
          </p:cNvGraphicFramePr>
          <p:nvPr>
            <p:extLst>
              <p:ext uri="{D42A27DB-BD31-4B8C-83A1-F6EECF244321}">
                <p14:modId xmlns:p14="http://schemas.microsoft.com/office/powerpoint/2010/main" val="2427376518"/>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Overview: Modeling</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Summary</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6867920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6"/>
        <p:cNvGrpSpPr/>
        <p:nvPr/>
      </p:nvGrpSpPr>
      <p:grpSpPr>
        <a:xfrm>
          <a:off x="0" y="0"/>
          <a:ext cx="0" cy="0"/>
          <a:chOff x="0" y="0"/>
          <a:chExt cx="0" cy="0"/>
        </a:xfrm>
      </p:grpSpPr>
      <p:sp useBgFill="1">
        <p:nvSpPr>
          <p:cNvPr id="275" name="Rectangle 274">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Google Shape;267;p22"/>
          <p:cNvSpPr txBox="1">
            <a:spLocks noGrp="1"/>
          </p:cNvSpPr>
          <p:nvPr>
            <p:ph type="title"/>
          </p:nvPr>
        </p:nvSpPr>
        <p:spPr>
          <a:xfrm>
            <a:off x="630936" y="639520"/>
            <a:ext cx="3429000" cy="1719072"/>
          </a:xfrm>
          <a:prstGeom prst="rect">
            <a:avLst/>
          </a:prstGeom>
        </p:spPr>
        <p:txBody>
          <a:bodyPr spcFirstLastPara="1" vert="horz" lIns="91440" tIns="45720" rIns="91440" bIns="45720" rtlCol="0" anchor="b" anchorCtr="0">
            <a:normAutofit/>
          </a:bodyPr>
          <a:lstStyle/>
          <a:p>
            <a:pPr marL="0" lvl="0" indent="0">
              <a:spcBef>
                <a:spcPct val="0"/>
              </a:spcBef>
              <a:spcAft>
                <a:spcPts val="0"/>
              </a:spcAft>
              <a:buClr>
                <a:schemeClr val="dk1"/>
              </a:buClr>
              <a:buSzPts val="4400"/>
            </a:pPr>
            <a:r>
              <a:rPr lang="en-US" sz="5400" kern="1200">
                <a:solidFill>
                  <a:schemeClr val="tx1"/>
                </a:solidFill>
                <a:latin typeface="+mj-lt"/>
                <a:ea typeface="+mj-ea"/>
                <a:cs typeface="+mj-cs"/>
                <a:sym typeface="Calibri"/>
              </a:rPr>
              <a:t>Modeling</a:t>
            </a:r>
          </a:p>
        </p:txBody>
      </p:sp>
      <p:sp>
        <p:nvSpPr>
          <p:cNvPr id="277"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Google Shape;270;p22"/>
          <p:cNvSpPr txBox="1"/>
          <p:nvPr/>
        </p:nvSpPr>
        <p:spPr>
          <a:xfrm>
            <a:off x="343645" y="3520006"/>
            <a:ext cx="4306144" cy="803500"/>
          </a:xfrm>
          <a:prstGeom prst="rect">
            <a:avLst/>
          </a:prstGeom>
        </p:spPr>
        <p:txBody>
          <a:bodyPr spcFirstLastPara="1" vert="horz" lIns="91440" tIns="45720" rIns="91440" bIns="45720" rtlCol="0" anchor="t" anchorCtr="0">
            <a:normAutofit/>
          </a:bodyPr>
          <a:lstStyle/>
          <a:p>
            <a:pPr marR="0" lvl="0">
              <a:lnSpc>
                <a:spcPct val="90000"/>
              </a:lnSpc>
              <a:spcBef>
                <a:spcPts val="0"/>
              </a:spcBef>
              <a:spcAft>
                <a:spcPts val="600"/>
              </a:spcAft>
            </a:pPr>
            <a:r>
              <a:rPr lang="en-US" sz="1800" b="0" i="0" u="none" strike="noStrike" baseline="0" dirty="0">
                <a:latin typeface="+mn-lt"/>
              </a:rPr>
              <a:t>Table 12 lists the modeling techniques in the prior JIT-SDP studies</a:t>
            </a:r>
            <a:r>
              <a:rPr lang="en-US" sz="1800" b="0" i="0" u="none" strike="noStrike" baseline="0" dirty="0">
                <a:latin typeface="Abadi" panose="020B0604020104020204" pitchFamily="34" charset="0"/>
              </a:rPr>
              <a:t>. </a:t>
            </a:r>
            <a:endParaRPr lang="en-US" sz="1800" kern="1200" dirty="0">
              <a:solidFill>
                <a:schemeClr val="tx1"/>
              </a:solidFill>
              <a:latin typeface="+mn-lt"/>
              <a:ea typeface="+mn-ea"/>
              <a:cs typeface="+mn-cs"/>
              <a:sym typeface="Calibri"/>
            </a:endParaRPr>
          </a:p>
        </p:txBody>
      </p:sp>
      <p:pic>
        <p:nvPicPr>
          <p:cNvPr id="269" name="Google Shape;269;p22"/>
          <p:cNvPicPr preferRelativeResize="0"/>
          <p:nvPr/>
        </p:nvPicPr>
        <p:blipFill rotWithShape="1">
          <a:blip r:embed="rId3"/>
          <a:stretch/>
        </p:blipFill>
        <p:spPr>
          <a:xfrm>
            <a:off x="4767542" y="393426"/>
            <a:ext cx="6555288" cy="6464574"/>
          </a:xfrm>
          <a:prstGeom prst="rect">
            <a:avLst/>
          </a:prstGeom>
          <a:noFill/>
        </p:spPr>
      </p:pic>
      <p:sp>
        <p:nvSpPr>
          <p:cNvPr id="268" name="Google Shape;268;p22"/>
          <p:cNvSpPr txBox="1">
            <a:spLocks noGrp="1"/>
          </p:cNvSpPr>
          <p:nvPr>
            <p:ph type="sldNum" idx="12"/>
          </p:nvPr>
        </p:nvSpPr>
        <p:spPr>
          <a:xfrm>
            <a:off x="8610600" y="635635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smtClean="0">
                <a:solidFill>
                  <a:schemeClr val="tx1">
                    <a:tint val="75000"/>
                  </a:schemeClr>
                </a:solidFill>
                <a:latin typeface="+mn-lt"/>
                <a:ea typeface="+mn-ea"/>
                <a:cs typeface="+mn-cs"/>
              </a:rPr>
              <a:pPr lvl="0" indent="0">
                <a:spcBef>
                  <a:spcPts val="0"/>
                </a:spcBef>
                <a:spcAft>
                  <a:spcPts val="600"/>
                </a:spcAft>
                <a:buNone/>
              </a:pPr>
              <a:t>50</a:t>
            </a:fld>
            <a:endParaRPr lang="en-US" kern="1200">
              <a:solidFill>
                <a:schemeClr val="tx1">
                  <a:tint val="75000"/>
                </a:schemeClr>
              </a:solidFill>
              <a:latin typeface="+mn-lt"/>
              <a:ea typeface="+mn-ea"/>
              <a:cs typeface="+mn-cs"/>
            </a:endParaRPr>
          </a:p>
        </p:txBody>
      </p:sp>
      <p:graphicFrame>
        <p:nvGraphicFramePr>
          <p:cNvPr id="2" name="Table 1">
            <a:extLst>
              <a:ext uri="{FF2B5EF4-FFF2-40B4-BE49-F238E27FC236}">
                <a16:creationId xmlns:a16="http://schemas.microsoft.com/office/drawing/2014/main" id="{E55B6E76-99D3-A910-2EF1-FCE4F20CB292}"/>
              </a:ext>
            </a:extLst>
          </p:cNvPr>
          <p:cNvGraphicFramePr>
            <a:graphicFrameLocks noGrp="1"/>
          </p:cNvGraphicFramePr>
          <p:nvPr>
            <p:extLst>
              <p:ext uri="{D42A27DB-BD31-4B8C-83A1-F6EECF244321}">
                <p14:modId xmlns:p14="http://schemas.microsoft.com/office/powerpoint/2010/main" val="597177122"/>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Summary</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Settings</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5"/>
        <p:cNvGrpSpPr/>
        <p:nvPr/>
      </p:nvGrpSpPr>
      <p:grpSpPr>
        <a:xfrm>
          <a:off x="0" y="0"/>
          <a:ext cx="0" cy="0"/>
          <a:chOff x="0" y="0"/>
          <a:chExt cx="0" cy="0"/>
        </a:xfrm>
      </p:grpSpPr>
      <p:sp>
        <p:nvSpPr>
          <p:cNvPr id="256" name="Google Shape;256;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1"/>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21"/>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21"/>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1"/>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Modeling</a:t>
            </a:r>
            <a:endParaRPr/>
          </a:p>
        </p:txBody>
      </p:sp>
      <p:sp>
        <p:nvSpPr>
          <p:cNvPr id="262" name="Google Shape;262;p21"/>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51</a:t>
            </a:fld>
            <a:endParaRPr sz="1100">
              <a:solidFill>
                <a:srgbClr val="7F7F7F"/>
              </a:solidFill>
            </a:endParaRPr>
          </a:p>
        </p:txBody>
      </p:sp>
      <p:pic>
        <p:nvPicPr>
          <p:cNvPr id="3082" name="Picture 10">
            <a:extLst>
              <a:ext uri="{FF2B5EF4-FFF2-40B4-BE49-F238E27FC236}">
                <a16:creationId xmlns:a16="http://schemas.microsoft.com/office/drawing/2014/main" id="{704834DA-7733-CFD5-DCD7-F45BDE733F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60" y="1574310"/>
            <a:ext cx="11124199" cy="63786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7CAADC80-F6C9-5687-D5A2-3EA57F1D272D}"/>
              </a:ext>
            </a:extLst>
          </p:cNvPr>
          <p:cNvGraphicFramePr>
            <a:graphicFrameLocks noGrp="1"/>
          </p:cNvGraphicFramePr>
          <p:nvPr>
            <p:extLst>
              <p:ext uri="{D42A27DB-BD31-4B8C-83A1-F6EECF244321}">
                <p14:modId xmlns:p14="http://schemas.microsoft.com/office/powerpoint/2010/main" val="260044129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Settings Summary</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Defect Proneness Prediction Modeling</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4"/>
        <p:cNvGrpSpPr/>
        <p:nvPr/>
      </p:nvGrpSpPr>
      <p:grpSpPr>
        <a:xfrm>
          <a:off x="0" y="0"/>
          <a:ext cx="0" cy="0"/>
          <a:chOff x="0" y="0"/>
          <a:chExt cx="0" cy="0"/>
        </a:xfrm>
      </p:grpSpPr>
      <p:sp>
        <p:nvSpPr>
          <p:cNvPr id="276" name="Google Shape;276;p23"/>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7" name="Google Shape;277;p23"/>
          <p:cNvSpPr/>
          <p:nvPr/>
        </p:nvSpPr>
        <p:spPr>
          <a:xfrm rot="10800000" flipH="1">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8" name="Google Shape;278;p23"/>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79" name="Google Shape;279;p23"/>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0" name="Google Shape;280;p23"/>
          <p:cNvSpPr txBox="1">
            <a:spLocks noGrp="1"/>
          </p:cNvSpPr>
          <p:nvPr>
            <p:ph type="title"/>
          </p:nvPr>
        </p:nvSpPr>
        <p:spPr>
          <a:xfrm>
            <a:off x="1371599" y="294538"/>
            <a:ext cx="9895951"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dirty="0">
                <a:solidFill>
                  <a:srgbClr val="FFFFFF"/>
                </a:solidFill>
                <a:latin typeface="Calibri"/>
                <a:ea typeface="Calibri"/>
                <a:cs typeface="Calibri"/>
                <a:sym typeface="Calibri"/>
              </a:rPr>
              <a:t>Modeling: Defect Proneness Prediction</a:t>
            </a:r>
            <a:endParaRPr dirty="0"/>
          </a:p>
        </p:txBody>
      </p:sp>
      <p:sp>
        <p:nvSpPr>
          <p:cNvPr id="281" name="Google Shape;281;p23"/>
          <p:cNvSpPr txBox="1">
            <a:spLocks noGrp="1"/>
          </p:cNvSpPr>
          <p:nvPr>
            <p:ph type="body" idx="1"/>
          </p:nvPr>
        </p:nvSpPr>
        <p:spPr>
          <a:xfrm>
            <a:off x="164123" y="1590741"/>
            <a:ext cx="12192000" cy="103366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2000"/>
              <a:buNone/>
            </a:pPr>
            <a:r>
              <a:rPr lang="en-US" sz="2000" b="0" i="0" u="none" strike="noStrike" dirty="0">
                <a:latin typeface="Arial"/>
                <a:ea typeface="Arial"/>
                <a:cs typeface="Arial"/>
                <a:sym typeface="Arial"/>
              </a:rPr>
              <a:t>Defect Proneness Prediction: JIT-SDP is typically formulated as predicting defect proneness or defect inducing at the granularity of software changes.</a:t>
            </a:r>
            <a:endParaRPr dirty="0"/>
          </a:p>
        </p:txBody>
      </p:sp>
      <p:sp>
        <p:nvSpPr>
          <p:cNvPr id="282" name="Google Shape;282;p23"/>
          <p:cNvSpPr txBox="1">
            <a:spLocks noGrp="1"/>
          </p:cNvSpPr>
          <p:nvPr>
            <p:ph type="sldNum" idx="12"/>
          </p:nvPr>
        </p:nvSpPr>
        <p:spPr>
          <a:xfrm>
            <a:off x="11704320" y="6455431"/>
            <a:ext cx="445913"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52</a:t>
            </a:fld>
            <a:endParaRPr sz="1100">
              <a:solidFill>
                <a:srgbClr val="7F7F7F"/>
              </a:solidFill>
            </a:endParaRPr>
          </a:p>
        </p:txBody>
      </p:sp>
      <p:sp>
        <p:nvSpPr>
          <p:cNvPr id="2" name="Google Shape;270;p22">
            <a:extLst>
              <a:ext uri="{FF2B5EF4-FFF2-40B4-BE49-F238E27FC236}">
                <a16:creationId xmlns:a16="http://schemas.microsoft.com/office/drawing/2014/main" id="{346D30B5-5FB4-77A7-B2EA-117332B544CD}"/>
              </a:ext>
            </a:extLst>
          </p:cNvPr>
          <p:cNvSpPr txBox="1"/>
          <p:nvPr/>
        </p:nvSpPr>
        <p:spPr>
          <a:xfrm>
            <a:off x="459350" y="2667484"/>
            <a:ext cx="4306144" cy="3895978"/>
          </a:xfrm>
          <a:prstGeom prst="rect">
            <a:avLst/>
          </a:prstGeom>
        </p:spPr>
        <p:txBody>
          <a:bodyPr spcFirstLastPara="1" vert="horz" lIns="91440" tIns="45720" rIns="91440" bIns="45720" rtlCol="0" anchor="t" anchorCtr="0">
            <a:normAutofit/>
          </a:bodyPr>
          <a:lstStyle/>
          <a:p>
            <a:pPr marR="0" lvl="0">
              <a:lnSpc>
                <a:spcPct val="90000"/>
              </a:lnSpc>
              <a:spcBef>
                <a:spcPts val="0"/>
              </a:spcBef>
              <a:spcAft>
                <a:spcPts val="600"/>
              </a:spcAft>
            </a:pPr>
            <a:r>
              <a:rPr lang="en-US" sz="1800" b="0" i="0" u="none" strike="noStrike" baseline="0" dirty="0">
                <a:latin typeface="+mn-lt"/>
              </a:rPr>
              <a:t>M</a:t>
            </a:r>
            <a:r>
              <a:rPr lang="en-US" sz="1800" kern="1200" dirty="0">
                <a:solidFill>
                  <a:schemeClr val="tx1"/>
                </a:solidFill>
                <a:latin typeface="+mn-lt"/>
                <a:ea typeface="+mn-ea"/>
                <a:cs typeface="+mn-cs"/>
                <a:sym typeface="Calibri"/>
              </a:rPr>
              <a:t>ore popular modeling techniques</a:t>
            </a:r>
            <a:endParaRPr lang="en-US" sz="1800" kern="1200" dirty="0">
              <a:solidFill>
                <a:schemeClr val="tx1"/>
              </a:solidFill>
              <a:latin typeface="+mn-lt"/>
              <a:ea typeface="+mn-ea"/>
              <a:cs typeface="+mn-cs"/>
            </a:endParaRPr>
          </a:p>
          <a:p>
            <a:pPr marL="285750" marR="0" lvl="0" indent="-228600">
              <a:lnSpc>
                <a:spcPct val="90000"/>
              </a:lnSpc>
              <a:spcBef>
                <a:spcPts val="0"/>
              </a:spcBef>
              <a:spcAft>
                <a:spcPts val="600"/>
              </a:spcAft>
              <a:buClr>
                <a:schemeClr val="dk1"/>
              </a:buClr>
              <a:buSzPts val="1800"/>
              <a:buFont typeface="Arial" panose="020B0604020202020204" pitchFamily="34" charset="0"/>
              <a:buChar char="•"/>
            </a:pPr>
            <a:r>
              <a:rPr lang="en-US" sz="1800" kern="1200" dirty="0">
                <a:solidFill>
                  <a:schemeClr val="tx1"/>
                </a:solidFill>
                <a:latin typeface="+mn-lt"/>
                <a:ea typeface="+mn-ea"/>
                <a:cs typeface="+mn-cs"/>
                <a:sym typeface="Calibri"/>
              </a:rPr>
              <a:t>Logistic Regression</a:t>
            </a:r>
            <a:endParaRPr lang="en-US" sz="1800" kern="1200" dirty="0">
              <a:solidFill>
                <a:schemeClr val="tx1"/>
              </a:solidFill>
              <a:latin typeface="+mn-lt"/>
              <a:ea typeface="+mn-ea"/>
              <a:cs typeface="+mn-cs"/>
            </a:endParaRPr>
          </a:p>
          <a:p>
            <a:pPr marL="285750" marR="0" lvl="0" indent="-228600">
              <a:lnSpc>
                <a:spcPct val="90000"/>
              </a:lnSpc>
              <a:spcBef>
                <a:spcPts val="0"/>
              </a:spcBef>
              <a:spcAft>
                <a:spcPts val="600"/>
              </a:spcAft>
              <a:buClr>
                <a:schemeClr val="dk1"/>
              </a:buClr>
              <a:buSzPts val="1800"/>
              <a:buFont typeface="Arial" panose="020B0604020202020204" pitchFamily="34" charset="0"/>
              <a:buChar char="•"/>
            </a:pPr>
            <a:r>
              <a:rPr lang="en-US" sz="1800" kern="1200" dirty="0">
                <a:solidFill>
                  <a:schemeClr val="tx1"/>
                </a:solidFill>
                <a:latin typeface="+mn-lt"/>
                <a:ea typeface="+mn-ea"/>
                <a:cs typeface="+mn-cs"/>
                <a:sym typeface="Calibri"/>
              </a:rPr>
              <a:t>Tree-based models (including Random Forest, C4.5 Decision Tree and </a:t>
            </a:r>
            <a:r>
              <a:rPr lang="en-US" sz="1800" kern="1200" dirty="0" err="1">
                <a:solidFill>
                  <a:schemeClr val="tx1"/>
                </a:solidFill>
                <a:latin typeface="+mn-lt"/>
                <a:ea typeface="+mn-ea"/>
                <a:cs typeface="+mn-cs"/>
                <a:sym typeface="Calibri"/>
              </a:rPr>
              <a:t>ADTree</a:t>
            </a:r>
            <a:r>
              <a:rPr lang="en-US" sz="1800" kern="1200" dirty="0">
                <a:solidFill>
                  <a:schemeClr val="tx1"/>
                </a:solidFill>
                <a:latin typeface="+mn-lt"/>
                <a:ea typeface="+mn-ea"/>
                <a:cs typeface="+mn-cs"/>
                <a:sym typeface="Calibri"/>
              </a:rPr>
              <a:t>)</a:t>
            </a:r>
            <a:endParaRPr lang="en-US" sz="1800" kern="1200" dirty="0">
              <a:solidFill>
                <a:schemeClr val="tx1"/>
              </a:solidFill>
              <a:latin typeface="+mn-lt"/>
              <a:ea typeface="+mn-ea"/>
              <a:cs typeface="+mn-cs"/>
            </a:endParaRPr>
          </a:p>
          <a:p>
            <a:pPr marL="285750" marR="0" lvl="0" indent="-228600">
              <a:lnSpc>
                <a:spcPct val="90000"/>
              </a:lnSpc>
              <a:spcBef>
                <a:spcPts val="0"/>
              </a:spcBef>
              <a:spcAft>
                <a:spcPts val="600"/>
              </a:spcAft>
              <a:buClr>
                <a:schemeClr val="dk1"/>
              </a:buClr>
              <a:buSzPts val="1800"/>
              <a:buFont typeface="Arial" panose="020B0604020202020204" pitchFamily="34" charset="0"/>
              <a:buChar char="•"/>
            </a:pPr>
            <a:r>
              <a:rPr lang="en-US" sz="1800" kern="1200" dirty="0">
                <a:solidFill>
                  <a:schemeClr val="tx1"/>
                </a:solidFill>
                <a:latin typeface="+mn-lt"/>
                <a:ea typeface="+mn-ea"/>
                <a:cs typeface="+mn-cs"/>
                <a:sym typeface="Calibri"/>
              </a:rPr>
              <a:t>Ensemble models (including Random Forest, </a:t>
            </a:r>
            <a:r>
              <a:rPr lang="en-US" sz="1800" kern="1200" dirty="0" err="1">
                <a:solidFill>
                  <a:schemeClr val="tx1"/>
                </a:solidFill>
                <a:latin typeface="+mn-lt"/>
                <a:ea typeface="+mn-ea"/>
                <a:cs typeface="+mn-cs"/>
                <a:sym typeface="Calibri"/>
              </a:rPr>
              <a:t>XGBoost</a:t>
            </a:r>
            <a:r>
              <a:rPr lang="en-US" sz="1800" kern="1200" dirty="0">
                <a:solidFill>
                  <a:schemeClr val="tx1"/>
                </a:solidFill>
                <a:latin typeface="+mn-lt"/>
                <a:ea typeface="+mn-ea"/>
                <a:cs typeface="+mn-cs"/>
                <a:sym typeface="Calibri"/>
              </a:rPr>
              <a:t>, and others) are more popular modeling techniques </a:t>
            </a:r>
            <a:endParaRPr lang="en-US" sz="1800" kern="1200" dirty="0">
              <a:solidFill>
                <a:schemeClr val="tx1"/>
              </a:solidFill>
              <a:latin typeface="+mn-lt"/>
              <a:ea typeface="+mn-ea"/>
              <a:cs typeface="+mn-cs"/>
            </a:endParaRPr>
          </a:p>
          <a:p>
            <a:pPr marL="0" marR="0" lvl="0" indent="-228600">
              <a:lnSpc>
                <a:spcPct val="90000"/>
              </a:lnSpc>
              <a:spcBef>
                <a:spcPts val="0"/>
              </a:spcBef>
              <a:spcAft>
                <a:spcPts val="600"/>
              </a:spcAft>
              <a:buFont typeface="Arial" panose="020B0604020202020204" pitchFamily="34" charset="0"/>
              <a:buChar char="•"/>
            </a:pPr>
            <a:endParaRPr lang="en-US" sz="1600" kern="1200" dirty="0">
              <a:solidFill>
                <a:schemeClr val="tx1"/>
              </a:solidFill>
              <a:latin typeface="+mn-lt"/>
              <a:ea typeface="+mn-ea"/>
              <a:cs typeface="+mn-cs"/>
              <a:sym typeface="Calibri"/>
            </a:endParaRPr>
          </a:p>
          <a:p>
            <a:pPr marR="0" lvl="0">
              <a:lnSpc>
                <a:spcPct val="90000"/>
              </a:lnSpc>
              <a:spcBef>
                <a:spcPts val="0"/>
              </a:spcBef>
              <a:spcAft>
                <a:spcPts val="600"/>
              </a:spcAft>
            </a:pPr>
            <a:r>
              <a:rPr lang="en-US" sz="1800" kern="1200" dirty="0">
                <a:solidFill>
                  <a:schemeClr val="tx1"/>
                </a:solidFill>
                <a:latin typeface="+mn-lt"/>
                <a:ea typeface="+mn-ea"/>
                <a:cs typeface="+mn-cs"/>
                <a:sym typeface="Calibri"/>
              </a:rPr>
              <a:t>The use of neural network-based models (including deep neural networks) is on the rise.</a:t>
            </a:r>
          </a:p>
        </p:txBody>
      </p:sp>
      <p:sp>
        <p:nvSpPr>
          <p:cNvPr id="3" name="TextBox 2">
            <a:extLst>
              <a:ext uri="{FF2B5EF4-FFF2-40B4-BE49-F238E27FC236}">
                <a16:creationId xmlns:a16="http://schemas.microsoft.com/office/drawing/2014/main" id="{A9C0A36B-4865-6626-836A-6D9BCE083C5C}"/>
              </a:ext>
            </a:extLst>
          </p:cNvPr>
          <p:cNvSpPr txBox="1"/>
          <p:nvPr/>
        </p:nvSpPr>
        <p:spPr>
          <a:xfrm>
            <a:off x="6218359" y="2667484"/>
            <a:ext cx="5099539" cy="3416320"/>
          </a:xfrm>
          <a:prstGeom prst="rect">
            <a:avLst/>
          </a:prstGeom>
          <a:noFill/>
        </p:spPr>
        <p:txBody>
          <a:bodyPr wrap="square" rtlCol="0">
            <a:spAutoFit/>
          </a:bodyPr>
          <a:lstStyle/>
          <a:p>
            <a:r>
              <a:rPr lang="en-US" sz="1800" dirty="0"/>
              <a:t>Prediction Granularity:</a:t>
            </a:r>
          </a:p>
          <a:p>
            <a:pPr marL="285750" indent="-285750">
              <a:buFont typeface="Arial" panose="020B0604020202020204" pitchFamily="34" charset="0"/>
              <a:buChar char="•"/>
            </a:pPr>
            <a:r>
              <a:rPr lang="en-US" sz="1800" dirty="0"/>
              <a:t>JIT-SDP models are to detect defects primarily on the level of software changeset.</a:t>
            </a:r>
          </a:p>
          <a:p>
            <a:pPr marL="285750" indent="-285750">
              <a:buFont typeface="Arial" panose="020B0604020202020204" pitchFamily="34" charset="0"/>
              <a:buChar char="•"/>
            </a:pPr>
            <a:r>
              <a:rPr lang="en-US" sz="1800" dirty="0"/>
              <a:t>There are several studies that predict defects on finer granularity, such as, </a:t>
            </a:r>
            <a:r>
              <a:rPr lang="en-US" sz="1800" b="1" dirty="0"/>
              <a:t>scoring files </a:t>
            </a:r>
            <a:r>
              <a:rPr lang="en-US" sz="1800" dirty="0"/>
              <a:t>[55, 75], </a:t>
            </a:r>
            <a:r>
              <a:rPr lang="en-US" sz="1800" b="1" dirty="0"/>
              <a:t>classes in the files </a:t>
            </a:r>
            <a:r>
              <a:rPr lang="en-US" sz="1800" dirty="0"/>
              <a:t>[1], or </a:t>
            </a:r>
            <a:r>
              <a:rPr lang="en-US" sz="1800" b="1" dirty="0"/>
              <a:t>lines added </a:t>
            </a:r>
            <a:r>
              <a:rPr lang="en-US" sz="1800" dirty="0"/>
              <a:t>in a changeset [57, 79].</a:t>
            </a:r>
          </a:p>
          <a:p>
            <a:endParaRPr lang="en-US" sz="1800" dirty="0"/>
          </a:p>
          <a:p>
            <a:r>
              <a:rPr lang="en-US" sz="1800" dirty="0"/>
              <a:t>These works show that defect prediction on finer granularity can potentially further reduce quality</a:t>
            </a:r>
          </a:p>
          <a:p>
            <a:r>
              <a:rPr lang="en-US" sz="1800" dirty="0"/>
              <a:t>assurance effort than that on changeset-level granularity.</a:t>
            </a:r>
          </a:p>
        </p:txBody>
      </p:sp>
      <p:graphicFrame>
        <p:nvGraphicFramePr>
          <p:cNvPr id="4" name="Table 3">
            <a:extLst>
              <a:ext uri="{FF2B5EF4-FFF2-40B4-BE49-F238E27FC236}">
                <a16:creationId xmlns:a16="http://schemas.microsoft.com/office/drawing/2014/main" id="{C038F0DC-70C6-280E-9EE6-74DB12F6FF26}"/>
              </a:ext>
            </a:extLst>
          </p:cNvPr>
          <p:cNvGraphicFramePr>
            <a:graphicFrameLocks noGrp="1"/>
          </p:cNvGraphicFramePr>
          <p:nvPr>
            <p:extLst>
              <p:ext uri="{D42A27DB-BD31-4B8C-83A1-F6EECF244321}">
                <p14:modId xmlns:p14="http://schemas.microsoft.com/office/powerpoint/2010/main" val="554811862"/>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Defect Proneness Prediction Modeling</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Effort-Aware Defect Prediction Modeling</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6"/>
        <p:cNvGrpSpPr/>
        <p:nvPr/>
      </p:nvGrpSpPr>
      <p:grpSpPr>
        <a:xfrm>
          <a:off x="0" y="0"/>
          <a:ext cx="0" cy="0"/>
          <a:chOff x="0" y="0"/>
          <a:chExt cx="0" cy="0"/>
        </a:xfrm>
      </p:grpSpPr>
      <p:sp>
        <p:nvSpPr>
          <p:cNvPr id="287" name="Google Shape;287;p2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88" name="Google Shape;288;p24"/>
          <p:cNvSpPr txBox="1">
            <a:spLocks noGrp="1"/>
          </p:cNvSpPr>
          <p:nvPr>
            <p:ph type="title"/>
          </p:nvPr>
        </p:nvSpPr>
        <p:spPr>
          <a:xfrm>
            <a:off x="-7815" y="517971"/>
            <a:ext cx="8732716" cy="76790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Calibri"/>
              <a:buNone/>
            </a:pPr>
            <a:r>
              <a:rPr lang="en-US" sz="4000" dirty="0">
                <a:solidFill>
                  <a:schemeClr val="dk1"/>
                </a:solidFill>
                <a:latin typeface="Calibri"/>
                <a:ea typeface="Calibri"/>
                <a:cs typeface="Calibri"/>
                <a:sym typeface="Calibri"/>
              </a:rPr>
              <a:t>Modeling: Effort-aware </a:t>
            </a:r>
            <a:r>
              <a:rPr lang="en-US" sz="4000" dirty="0"/>
              <a:t>D</a:t>
            </a:r>
            <a:r>
              <a:rPr lang="en-US" sz="4000" dirty="0">
                <a:solidFill>
                  <a:schemeClr val="dk1"/>
                </a:solidFill>
                <a:latin typeface="Calibri"/>
                <a:ea typeface="Calibri"/>
                <a:cs typeface="Calibri"/>
                <a:sym typeface="Calibri"/>
              </a:rPr>
              <a:t>efect Prediction</a:t>
            </a:r>
            <a:endParaRPr dirty="0"/>
          </a:p>
        </p:txBody>
      </p:sp>
      <p:sp>
        <p:nvSpPr>
          <p:cNvPr id="289" name="Google Shape;289;p24"/>
          <p:cNvSpPr txBox="1"/>
          <p:nvPr/>
        </p:nvSpPr>
        <p:spPr>
          <a:xfrm>
            <a:off x="175847" y="1178652"/>
            <a:ext cx="11676184" cy="767904"/>
          </a:xfrm>
          <a:prstGeom prst="rect">
            <a:avLst/>
          </a:prstGeom>
          <a:noFill/>
          <a:ln>
            <a:noFill/>
          </a:ln>
        </p:spPr>
        <p:txBody>
          <a:bodyPr spcFirstLastPara="1" wrap="square" lIns="91425" tIns="45700" rIns="91425" bIns="45700" anchor="ctr" anchorCtr="0">
            <a:normAutofit/>
          </a:bodyPr>
          <a:lstStyle/>
          <a:p>
            <a:pPr marL="0" marR="0" lvl="0" indent="0" rtl="0">
              <a:lnSpc>
                <a:spcPct val="90000"/>
              </a:lnSpc>
              <a:spcBef>
                <a:spcPts val="0"/>
              </a:spcBef>
              <a:spcAft>
                <a:spcPts val="0"/>
              </a:spcAft>
              <a:buClr>
                <a:schemeClr val="dk1"/>
              </a:buClr>
              <a:buSzPts val="2000"/>
            </a:pPr>
            <a:r>
              <a:rPr lang="en-US" sz="2000" b="0" i="0" u="none" strike="noStrike" dirty="0">
                <a:solidFill>
                  <a:schemeClr val="dk1"/>
                </a:solidFill>
                <a:latin typeface="Calibri"/>
                <a:ea typeface="Calibri"/>
                <a:cs typeface="Calibri"/>
                <a:sym typeface="Calibri"/>
              </a:rPr>
              <a:t>Effort-Aware Prediction: The effort required for developers to review the predicted defect inducing changes i.e., the QA effort, is an important design consideration.</a:t>
            </a:r>
            <a:endParaRPr sz="2000" dirty="0">
              <a:solidFill>
                <a:schemeClr val="dk1"/>
              </a:solidFill>
              <a:latin typeface="Calibri"/>
              <a:ea typeface="Calibri"/>
              <a:cs typeface="Calibri"/>
              <a:sym typeface="Calibri"/>
            </a:endParaRPr>
          </a:p>
        </p:txBody>
      </p:sp>
      <p:pic>
        <p:nvPicPr>
          <p:cNvPr id="290" name="Google Shape;290;p24"/>
          <p:cNvPicPr preferRelativeResize="0">
            <a:picLocks noGrp="1"/>
          </p:cNvPicPr>
          <p:nvPr>
            <p:ph type="body" idx="1"/>
          </p:nvPr>
        </p:nvPicPr>
        <p:blipFill rotWithShape="1">
          <a:blip r:embed="rId3">
            <a:alphaModFix/>
          </a:blip>
          <a:srcRect/>
          <a:stretch/>
        </p:blipFill>
        <p:spPr>
          <a:xfrm>
            <a:off x="3533817" y="2201756"/>
            <a:ext cx="8166268" cy="3899393"/>
          </a:xfrm>
          <a:prstGeom prst="rect">
            <a:avLst/>
          </a:prstGeom>
          <a:noFill/>
          <a:ln>
            <a:noFill/>
          </a:ln>
        </p:spPr>
      </p:pic>
      <p:sp>
        <p:nvSpPr>
          <p:cNvPr id="291" name="Google Shape;29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53</a:t>
            </a:fld>
            <a:endParaRPr/>
          </a:p>
        </p:txBody>
      </p:sp>
      <p:sp>
        <p:nvSpPr>
          <p:cNvPr id="2" name="TextBox 1">
            <a:extLst>
              <a:ext uri="{FF2B5EF4-FFF2-40B4-BE49-F238E27FC236}">
                <a16:creationId xmlns:a16="http://schemas.microsoft.com/office/drawing/2014/main" id="{52976585-809F-0AFC-22C3-4E8F6BA27FCA}"/>
              </a:ext>
            </a:extLst>
          </p:cNvPr>
          <p:cNvSpPr txBox="1"/>
          <p:nvPr/>
        </p:nvSpPr>
        <p:spPr>
          <a:xfrm>
            <a:off x="175847" y="2232257"/>
            <a:ext cx="3357970" cy="4247317"/>
          </a:xfrm>
          <a:prstGeom prst="rect">
            <a:avLst/>
          </a:prstGeom>
          <a:noFill/>
        </p:spPr>
        <p:txBody>
          <a:bodyPr wrap="square" rtlCol="0">
            <a:spAutoFit/>
          </a:bodyPr>
          <a:lstStyle/>
          <a:p>
            <a:pPr algn="l"/>
            <a:r>
              <a:rPr lang="en-US" sz="1800" b="0" i="0" u="none" strike="noStrike" baseline="0" dirty="0">
                <a:latin typeface="+mn-lt"/>
              </a:rPr>
              <a:t>All the studies in Table 6 define the QA effort for a change as the total lines changed, </a:t>
            </a:r>
          </a:p>
          <a:p>
            <a:pPr algn="l"/>
            <a:r>
              <a:rPr lang="en-US" sz="1800" b="0" i="0" u="none" strike="noStrike" baseline="0" dirty="0">
                <a:latin typeface="+mn-lt"/>
              </a:rPr>
              <a:t>i.e., Churn = LA + LD. </a:t>
            </a:r>
          </a:p>
          <a:p>
            <a:pPr algn="l"/>
            <a:endParaRPr lang="en-US" sz="1800" dirty="0">
              <a:latin typeface="+mn-lt"/>
            </a:endParaRPr>
          </a:p>
          <a:p>
            <a:pPr algn="l"/>
            <a:r>
              <a:rPr lang="en-US" sz="1800" b="0" i="0" u="none" strike="noStrike" baseline="0" dirty="0">
                <a:latin typeface="+mn-lt"/>
              </a:rPr>
              <a:t>The models therein generally define an effort-awareness score to rank or to order the software changes for QA. </a:t>
            </a:r>
          </a:p>
          <a:p>
            <a:pPr algn="l"/>
            <a:endParaRPr lang="en-US" sz="1800" dirty="0">
              <a:latin typeface="+mn-lt"/>
            </a:endParaRPr>
          </a:p>
          <a:p>
            <a:pPr algn="l"/>
            <a:r>
              <a:rPr lang="en-US" sz="1800" b="0" i="0" u="none" strike="noStrike" baseline="0" dirty="0">
                <a:latin typeface="+mn-lt"/>
              </a:rPr>
              <a:t>The score is either the change defect proneness, or the change defect density, or the QA effort, or some combination of the above.</a:t>
            </a:r>
            <a:endParaRPr lang="en-US" dirty="0">
              <a:latin typeface="+mn-lt"/>
            </a:endParaRPr>
          </a:p>
        </p:txBody>
      </p:sp>
      <p:graphicFrame>
        <p:nvGraphicFramePr>
          <p:cNvPr id="3" name="Table 2">
            <a:extLst>
              <a:ext uri="{FF2B5EF4-FFF2-40B4-BE49-F238E27FC236}">
                <a16:creationId xmlns:a16="http://schemas.microsoft.com/office/drawing/2014/main" id="{DF04D309-D272-2AB0-127B-F04D6FFB796E}"/>
              </a:ext>
            </a:extLst>
          </p:cNvPr>
          <p:cNvGraphicFramePr>
            <a:graphicFrameLocks noGrp="1"/>
          </p:cNvGraphicFramePr>
          <p:nvPr>
            <p:extLst>
              <p:ext uri="{D42A27DB-BD31-4B8C-83A1-F6EECF244321}">
                <p14:modId xmlns:p14="http://schemas.microsoft.com/office/powerpoint/2010/main" val="2166390978"/>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Effort-Aware Defect Prediction Modeling</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Overview -&gt; Within/Cross Project</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1"/>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21"/>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21"/>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1"/>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Modeling</a:t>
            </a:r>
            <a:endParaRPr/>
          </a:p>
        </p:txBody>
      </p:sp>
      <p:sp>
        <p:nvSpPr>
          <p:cNvPr id="262" name="Google Shape;262;p21"/>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54</a:t>
            </a:fld>
            <a:endParaRPr sz="1100">
              <a:solidFill>
                <a:srgbClr val="7F7F7F"/>
              </a:solidFill>
            </a:endParaRPr>
          </a:p>
        </p:txBody>
      </p:sp>
      <p:pic>
        <p:nvPicPr>
          <p:cNvPr id="3" name="Picture 10">
            <a:extLst>
              <a:ext uri="{FF2B5EF4-FFF2-40B4-BE49-F238E27FC236}">
                <a16:creationId xmlns:a16="http://schemas.microsoft.com/office/drawing/2014/main" id="{884F74F2-5B94-7BC3-E4F8-49F77537D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60" y="1574310"/>
            <a:ext cx="11124199" cy="63786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070E0561-B9BE-671C-A096-54CB61D187DA}"/>
              </a:ext>
            </a:extLst>
          </p:cNvPr>
          <p:cNvGraphicFramePr>
            <a:graphicFrameLocks noGrp="1"/>
          </p:cNvGraphicFramePr>
          <p:nvPr>
            <p:extLst>
              <p:ext uri="{D42A27DB-BD31-4B8C-83A1-F6EECF244321}">
                <p14:modId xmlns:p14="http://schemas.microsoft.com/office/powerpoint/2010/main" val="410419678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Overview: Within/Cross Project</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Within/Cross Project</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9327720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25"/>
          <p:cNvSpPr txBox="1">
            <a:spLocks noGrp="1"/>
          </p:cNvSpPr>
          <p:nvPr>
            <p:ph type="title"/>
          </p:nvPr>
        </p:nvSpPr>
        <p:spPr>
          <a:xfrm>
            <a:off x="1155" y="383540"/>
            <a:ext cx="11289145" cy="60164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dirty="0">
                <a:latin typeface="Calibri"/>
                <a:ea typeface="Calibri"/>
                <a:cs typeface="Calibri"/>
                <a:sym typeface="Calibri"/>
              </a:rPr>
              <a:t>Modeling: Within and Cross Project Defect Prediction</a:t>
            </a:r>
            <a:endParaRPr dirty="0">
              <a:latin typeface="Calibri"/>
              <a:ea typeface="Calibri"/>
              <a:cs typeface="Calibri"/>
              <a:sym typeface="Calibri"/>
            </a:endParaRPr>
          </a:p>
        </p:txBody>
      </p:sp>
      <p:sp>
        <p:nvSpPr>
          <p:cNvPr id="297" name="Google Shape;297;p25"/>
          <p:cNvSpPr txBox="1">
            <a:spLocks noGrp="1"/>
          </p:cNvSpPr>
          <p:nvPr>
            <p:ph type="body" idx="1"/>
          </p:nvPr>
        </p:nvSpPr>
        <p:spPr>
          <a:xfrm>
            <a:off x="838200" y="1253331"/>
            <a:ext cx="10515600" cy="1650125"/>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800"/>
              <a:buChar char="•"/>
            </a:pPr>
            <a:r>
              <a:rPr lang="en-US" sz="1800" b="0" i="0" u="none" strike="noStrike" dirty="0">
                <a:solidFill>
                  <a:schemeClr val="dk1"/>
                </a:solidFill>
                <a:latin typeface="Arial"/>
                <a:ea typeface="Arial"/>
                <a:cs typeface="Arial"/>
                <a:sym typeface="Arial"/>
              </a:rPr>
              <a:t>Within-Project JIT-SDP (WP-JIT-SDP): train a prediction model from historical software change and defect data of one project, and to use the model to carry out defect prediction or effort-aware prediction for the same project</a:t>
            </a:r>
            <a:endParaRPr dirty="0"/>
          </a:p>
          <a:p>
            <a:pPr marL="0" lvl="0" indent="0" algn="l" rtl="0">
              <a:lnSpc>
                <a:spcPct val="90000"/>
              </a:lnSpc>
              <a:spcBef>
                <a:spcPts val="1000"/>
              </a:spcBef>
              <a:spcAft>
                <a:spcPts val="0"/>
              </a:spcAft>
              <a:buClr>
                <a:schemeClr val="dk1"/>
              </a:buClr>
              <a:buSzPts val="1800"/>
              <a:buNone/>
            </a:pPr>
            <a:r>
              <a:rPr lang="en-US" sz="1800" b="0" i="0" u="none" strike="noStrike" dirty="0">
                <a:solidFill>
                  <a:schemeClr val="dk1"/>
                </a:solidFill>
                <a:latin typeface="Arial"/>
                <a:ea typeface="Arial"/>
                <a:cs typeface="Arial"/>
                <a:sym typeface="Arial"/>
              </a:rPr>
              <a:t>the historical change and defect data of a single software project may not be available or may not be sufficient to train a JIT-SDP model, e.g., in the initial development phase of the project</a:t>
            </a:r>
            <a:endParaRPr dirty="0"/>
          </a:p>
          <a:p>
            <a:pPr marL="0" lvl="0" indent="0" algn="l" rtl="0">
              <a:lnSpc>
                <a:spcPct val="90000"/>
              </a:lnSpc>
              <a:spcBef>
                <a:spcPts val="1000"/>
              </a:spcBef>
              <a:spcAft>
                <a:spcPts val="0"/>
              </a:spcAft>
              <a:buClr>
                <a:schemeClr val="dk1"/>
              </a:buClr>
              <a:buSzPts val="1800"/>
              <a:buNone/>
            </a:pPr>
            <a:endParaRPr sz="1800" b="1" i="0" u="none" strike="noStrike" dirty="0">
              <a:latin typeface="Arial"/>
              <a:ea typeface="Arial"/>
              <a:cs typeface="Arial"/>
              <a:sym typeface="Arial"/>
            </a:endParaRPr>
          </a:p>
        </p:txBody>
      </p:sp>
      <p:sp>
        <p:nvSpPr>
          <p:cNvPr id="298" name="Google Shape;29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
        <p:nvSpPr>
          <p:cNvPr id="299" name="Google Shape;299;p25"/>
          <p:cNvSpPr txBox="1"/>
          <p:nvPr/>
        </p:nvSpPr>
        <p:spPr>
          <a:xfrm>
            <a:off x="838200" y="3337132"/>
            <a:ext cx="10515600" cy="3201780"/>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Clr>
                <a:schemeClr val="dk1"/>
              </a:buClr>
              <a:buSzPts val="1800"/>
              <a:buFont typeface="Arial"/>
              <a:buNone/>
            </a:pPr>
            <a:r>
              <a:rPr lang="en-US" sz="1800" b="1" dirty="0">
                <a:solidFill>
                  <a:schemeClr val="dk1"/>
                </a:solidFill>
                <a:latin typeface="Arial"/>
                <a:ea typeface="Arial"/>
                <a:cs typeface="Arial"/>
                <a:sym typeface="Arial"/>
              </a:rPr>
              <a:t>Solution</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dirty="0">
                <a:solidFill>
                  <a:schemeClr val="dk1"/>
                </a:solidFill>
                <a:latin typeface="Arial"/>
                <a:ea typeface="Arial"/>
                <a:cs typeface="Arial"/>
                <a:sym typeface="Arial"/>
              </a:rPr>
              <a:t>Cross-Project JIT-SDP (CP-JIT-SDP): build a prediction model from the change and defect data of one or more projects, and to use the model to predict defect prone changes for a project</a:t>
            </a:r>
            <a:endParaRPr dirty="0"/>
          </a:p>
          <a:p>
            <a:pPr marL="0" marR="0" lvl="0" indent="0" algn="l" rtl="0">
              <a:lnSpc>
                <a:spcPct val="90000"/>
              </a:lnSpc>
              <a:spcBef>
                <a:spcPts val="1000"/>
              </a:spcBef>
              <a:spcAft>
                <a:spcPts val="0"/>
              </a:spcAft>
              <a:buClr>
                <a:schemeClr val="dk1"/>
              </a:buClr>
              <a:buSzPts val="1800"/>
              <a:buFont typeface="Arial"/>
              <a:buNone/>
            </a:pPr>
            <a:endParaRPr sz="1800" dirty="0">
              <a:solidFill>
                <a:schemeClr val="dk1"/>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1800"/>
              <a:buFont typeface="Arial"/>
              <a:buNone/>
            </a:pPr>
            <a:r>
              <a:rPr lang="en-US" sz="1800" dirty="0">
                <a:solidFill>
                  <a:schemeClr val="dk1"/>
                </a:solidFill>
                <a:latin typeface="Arial"/>
                <a:ea typeface="Arial"/>
                <a:cs typeface="Arial"/>
                <a:sym typeface="Arial"/>
              </a:rPr>
              <a:t>What if two software projects may have significantly different characteristics?</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dirty="0">
                <a:solidFill>
                  <a:schemeClr val="dk1"/>
                </a:solidFill>
                <a:latin typeface="Arial"/>
                <a:ea typeface="Arial"/>
                <a:cs typeface="Arial"/>
                <a:sym typeface="Arial"/>
              </a:rPr>
              <a:t>data selection: select models trained using other projects that are similar to the testing project</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dirty="0">
                <a:solidFill>
                  <a:schemeClr val="dk1"/>
                </a:solidFill>
                <a:latin typeface="Arial"/>
                <a:ea typeface="Arial"/>
                <a:cs typeface="Arial"/>
                <a:sym typeface="Arial"/>
              </a:rPr>
              <a:t>data merging: combine the data of several other projects to produce a larger pool of training data</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dirty="0">
                <a:solidFill>
                  <a:schemeClr val="dk1"/>
                </a:solidFill>
                <a:latin typeface="Arial"/>
                <a:ea typeface="Arial"/>
                <a:cs typeface="Arial"/>
                <a:sym typeface="Arial"/>
              </a:rPr>
              <a:t>model </a:t>
            </a:r>
            <a:r>
              <a:rPr lang="en-US" sz="1800" dirty="0" err="1">
                <a:solidFill>
                  <a:schemeClr val="dk1"/>
                </a:solidFill>
                <a:latin typeface="Arial"/>
                <a:ea typeface="Arial"/>
                <a:cs typeface="Arial"/>
                <a:sym typeface="Arial"/>
              </a:rPr>
              <a:t>ensembling</a:t>
            </a:r>
            <a:r>
              <a:rPr lang="en-US" sz="1800" dirty="0">
                <a:solidFill>
                  <a:schemeClr val="dk1"/>
                </a:solidFill>
                <a:latin typeface="Arial"/>
                <a:ea typeface="Arial"/>
                <a:cs typeface="Arial"/>
                <a:sym typeface="Arial"/>
              </a:rPr>
              <a:t>: “combine the models of several other projects to produce an ensemble model</a:t>
            </a:r>
            <a:endParaRPr sz="2800" b="1" dirty="0">
              <a:solidFill>
                <a:schemeClr val="dk1"/>
              </a:solidFill>
              <a:latin typeface="Calibri"/>
              <a:ea typeface="Calibri"/>
              <a:cs typeface="Calibri"/>
              <a:sym typeface="Calibri"/>
            </a:endParaRPr>
          </a:p>
        </p:txBody>
      </p:sp>
      <p:sp>
        <p:nvSpPr>
          <p:cNvPr id="300" name="Google Shape;300;p25"/>
          <p:cNvSpPr/>
          <p:nvPr/>
        </p:nvSpPr>
        <p:spPr>
          <a:xfrm>
            <a:off x="5883564" y="2903456"/>
            <a:ext cx="212436" cy="433676"/>
          </a:xfrm>
          <a:prstGeom prst="downArrow">
            <a:avLst>
              <a:gd name="adj1" fmla="val 50000"/>
              <a:gd name="adj2" fmla="val 50000"/>
            </a:avLst>
          </a:prstGeom>
          <a:solidFill>
            <a:schemeClr val="accent5">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7E31FDB7-2D44-D577-56A5-D5EDB3456D28}"/>
              </a:ext>
            </a:extLst>
          </p:cNvPr>
          <p:cNvGraphicFramePr>
            <a:graphicFrameLocks noGrp="1"/>
          </p:cNvGraphicFramePr>
          <p:nvPr>
            <p:extLst>
              <p:ext uri="{D42A27DB-BD31-4B8C-83A1-F6EECF244321}">
                <p14:modId xmlns:p14="http://schemas.microsoft.com/office/powerpoint/2010/main" val="330443941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Within/Cross Project</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Overview-&gt;Software Development Process and Data</a:t>
                      </a: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7" name="Google Shape;257;p21"/>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8" name="Google Shape;258;p21"/>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9" name="Google Shape;259;p21"/>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60" name="Google Shape;260;p21"/>
          <p:cNvSpPr txBox="1">
            <a:spLocks noGrp="1"/>
          </p:cNvSpPr>
          <p:nvPr>
            <p:ph type="title"/>
          </p:nvPr>
        </p:nvSpPr>
        <p:spPr>
          <a:xfrm>
            <a:off x="699713" y="248038"/>
            <a:ext cx="7063721"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Modeling</a:t>
            </a:r>
            <a:endParaRPr/>
          </a:p>
        </p:txBody>
      </p:sp>
      <p:sp>
        <p:nvSpPr>
          <p:cNvPr id="262" name="Google Shape;262;p21"/>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56</a:t>
            </a:fld>
            <a:endParaRPr sz="1100">
              <a:solidFill>
                <a:srgbClr val="7F7F7F"/>
              </a:solidFill>
            </a:endParaRPr>
          </a:p>
        </p:txBody>
      </p:sp>
      <p:pic>
        <p:nvPicPr>
          <p:cNvPr id="3" name="Picture 10">
            <a:extLst>
              <a:ext uri="{FF2B5EF4-FFF2-40B4-BE49-F238E27FC236}">
                <a16:creationId xmlns:a16="http://schemas.microsoft.com/office/drawing/2014/main" id="{884F74F2-5B94-7BC3-E4F8-49F77537D0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060" y="1574310"/>
            <a:ext cx="11124199" cy="637862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a:extLst>
              <a:ext uri="{FF2B5EF4-FFF2-40B4-BE49-F238E27FC236}">
                <a16:creationId xmlns:a16="http://schemas.microsoft.com/office/drawing/2014/main" id="{F3E24EB8-271A-F9F9-5F7F-D31038C3FAB7}"/>
              </a:ext>
            </a:extLst>
          </p:cNvPr>
          <p:cNvGraphicFramePr>
            <a:graphicFrameLocks noGrp="1"/>
          </p:cNvGraphicFramePr>
          <p:nvPr>
            <p:extLst>
              <p:ext uri="{D42A27DB-BD31-4B8C-83A1-F6EECF244321}">
                <p14:modId xmlns:p14="http://schemas.microsoft.com/office/powerpoint/2010/main" val="2647692538"/>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dirty="0">
                          <a:latin typeface="+mn-lt"/>
                        </a:rPr>
                        <a:t>Modeling Overview: Software Development Process and Data</a:t>
                      </a:r>
                      <a:endParaRPr lang="en-US" dirty="0"/>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Concept Drift</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579040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26"/>
          <p:cNvSpPr txBox="1">
            <a:spLocks noGrp="1"/>
          </p:cNvSpPr>
          <p:nvPr>
            <p:ph type="title"/>
          </p:nvPr>
        </p:nvSpPr>
        <p:spPr>
          <a:xfrm>
            <a:off x="0" y="660400"/>
            <a:ext cx="12192000" cy="68341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Modeling: Design for Concept Drift</a:t>
            </a:r>
            <a:endParaRPr dirty="0">
              <a:latin typeface="Calibri"/>
              <a:ea typeface="Calibri"/>
              <a:cs typeface="Calibri"/>
              <a:sym typeface="Calibri"/>
            </a:endParaRPr>
          </a:p>
        </p:txBody>
      </p:sp>
      <p:sp>
        <p:nvSpPr>
          <p:cNvPr id="306" name="Google Shape;306;p26"/>
          <p:cNvSpPr txBox="1">
            <a:spLocks noGrp="1"/>
          </p:cNvSpPr>
          <p:nvPr>
            <p:ph type="body" idx="1"/>
          </p:nvPr>
        </p:nvSpPr>
        <p:spPr>
          <a:xfrm>
            <a:off x="184727" y="1626647"/>
            <a:ext cx="11169073" cy="3416407"/>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Font typeface="Noto Sans Symbols"/>
              <a:buChar char="▪"/>
            </a:pPr>
            <a:r>
              <a:rPr lang="en-US" sz="2200" b="1" dirty="0">
                <a:solidFill>
                  <a:schemeClr val="dk1"/>
                </a:solidFill>
                <a:latin typeface="+mn-lt"/>
                <a:ea typeface="Calibri"/>
                <a:cs typeface="Calibri"/>
                <a:sym typeface="Calibri"/>
              </a:rPr>
              <a:t>Concept drift</a:t>
            </a:r>
            <a:r>
              <a:rPr lang="en-US" sz="2200" dirty="0">
                <a:solidFill>
                  <a:schemeClr val="dk1"/>
                </a:solidFill>
                <a:latin typeface="+mn-lt"/>
                <a:ea typeface="Calibri"/>
                <a:cs typeface="Calibri"/>
                <a:sym typeface="Calibri"/>
              </a:rPr>
              <a:t>: the regularities in the data gradually change or shift</a:t>
            </a:r>
            <a:endParaRPr sz="2200" dirty="0">
              <a:latin typeface="+mn-lt"/>
            </a:endParaRPr>
          </a:p>
          <a:p>
            <a:pPr marL="0" lvl="0" indent="0" algn="l" rtl="0">
              <a:lnSpc>
                <a:spcPct val="90000"/>
              </a:lnSpc>
              <a:spcBef>
                <a:spcPts val="1000"/>
              </a:spcBef>
              <a:spcAft>
                <a:spcPts val="0"/>
              </a:spcAft>
              <a:buClr>
                <a:schemeClr val="dk1"/>
              </a:buClr>
              <a:buSzPct val="100000"/>
              <a:buNone/>
            </a:pPr>
            <a:r>
              <a:rPr lang="en-US" sz="2000" i="1" dirty="0">
                <a:solidFill>
                  <a:schemeClr val="dk1"/>
                </a:solidFill>
                <a:latin typeface="+mn-lt"/>
                <a:ea typeface="Calibri"/>
                <a:cs typeface="Calibri"/>
                <a:sym typeface="Calibri"/>
              </a:rPr>
              <a:t>In a probabilistic model, we can define concept drift more formally as “changes in the underlying joint probability distribution of the problem [13]</a:t>
            </a:r>
            <a:endParaRPr dirty="0">
              <a:latin typeface="+mn-lt"/>
            </a:endParaRPr>
          </a:p>
          <a:p>
            <a:pPr marL="0" lvl="0" indent="0" algn="l" rtl="0">
              <a:lnSpc>
                <a:spcPct val="90000"/>
              </a:lnSpc>
              <a:spcBef>
                <a:spcPts val="1000"/>
              </a:spcBef>
              <a:spcAft>
                <a:spcPts val="0"/>
              </a:spcAft>
              <a:buClr>
                <a:schemeClr val="dk1"/>
              </a:buClr>
              <a:buSzPct val="100000"/>
              <a:buNone/>
            </a:pPr>
            <a:r>
              <a:rPr lang="en-US" sz="2000" dirty="0">
                <a:solidFill>
                  <a:schemeClr val="dk1"/>
                </a:solidFill>
                <a:latin typeface="+mn-lt"/>
                <a:ea typeface="Calibri"/>
                <a:cs typeface="Calibri"/>
                <a:sym typeface="Calibri"/>
              </a:rPr>
              <a:t>McIntosh and Kamei [47] show that the characteristics of software change data fluctuate during the life cycle of software so significantly that the performance and interpretation of JIT-SDP models trained on old software change data can degrade greatly</a:t>
            </a:r>
            <a:endParaRPr dirty="0">
              <a:latin typeface="+mn-lt"/>
            </a:endParaRPr>
          </a:p>
          <a:p>
            <a:pPr marL="0" lvl="0" indent="0" algn="l" rtl="0">
              <a:lnSpc>
                <a:spcPct val="90000"/>
              </a:lnSpc>
              <a:spcBef>
                <a:spcPts val="1000"/>
              </a:spcBef>
              <a:spcAft>
                <a:spcPts val="0"/>
              </a:spcAft>
              <a:buClr>
                <a:schemeClr val="dk1"/>
              </a:buClr>
              <a:buSzPct val="100000"/>
              <a:buNone/>
            </a:pPr>
            <a:endParaRPr sz="2000" dirty="0">
              <a:latin typeface="+mn-lt"/>
            </a:endParaRPr>
          </a:p>
          <a:p>
            <a:pPr marL="0" lvl="0" indent="0" algn="l" rtl="0">
              <a:lnSpc>
                <a:spcPct val="90000"/>
              </a:lnSpc>
              <a:spcBef>
                <a:spcPts val="1000"/>
              </a:spcBef>
              <a:spcAft>
                <a:spcPts val="0"/>
              </a:spcAft>
              <a:buClr>
                <a:schemeClr val="dk1"/>
              </a:buClr>
              <a:buSzPct val="100000"/>
              <a:buNone/>
            </a:pPr>
            <a:r>
              <a:rPr lang="en-US" sz="2000" dirty="0">
                <a:solidFill>
                  <a:schemeClr val="dk1"/>
                </a:solidFill>
                <a:latin typeface="+mn-lt"/>
                <a:ea typeface="Calibri"/>
                <a:cs typeface="Calibri"/>
                <a:sym typeface="Calibri"/>
              </a:rPr>
              <a:t>Solution models:</a:t>
            </a:r>
            <a:endParaRPr dirty="0">
              <a:latin typeface="+mn-lt"/>
            </a:endParaRPr>
          </a:p>
          <a:p>
            <a:pPr marL="228600" lvl="0" indent="-228600" algn="l" rtl="0">
              <a:lnSpc>
                <a:spcPct val="90000"/>
              </a:lnSpc>
              <a:spcBef>
                <a:spcPts val="1000"/>
              </a:spcBef>
              <a:spcAft>
                <a:spcPts val="0"/>
              </a:spcAft>
              <a:buClr>
                <a:schemeClr val="dk1"/>
              </a:buClr>
              <a:buSzPct val="100000"/>
              <a:buChar char="•"/>
            </a:pPr>
            <a:r>
              <a:rPr lang="en-US" sz="1800" b="0" i="0" u="none" strike="noStrike" dirty="0">
                <a:solidFill>
                  <a:schemeClr val="dk1"/>
                </a:solidFill>
                <a:latin typeface="+mn-lt"/>
                <a:ea typeface="Arial"/>
                <a:cs typeface="Arial"/>
                <a:sym typeface="Arial"/>
              </a:rPr>
              <a:t>McIntosh and Kamei [47] address the problem by providing a guideline on how to </a:t>
            </a:r>
            <a:r>
              <a:rPr lang="en-US" sz="1800" b="1" i="0" u="none" strike="noStrike" dirty="0">
                <a:solidFill>
                  <a:schemeClr val="dk1"/>
                </a:solidFill>
                <a:latin typeface="+mn-lt"/>
                <a:ea typeface="Arial"/>
                <a:cs typeface="Arial"/>
                <a:sym typeface="Arial"/>
              </a:rPr>
              <a:t>select recent software change data to train a JIT-SDP model</a:t>
            </a:r>
            <a:endParaRPr b="1" dirty="0">
              <a:latin typeface="+mn-lt"/>
            </a:endParaRPr>
          </a:p>
          <a:p>
            <a:pPr marL="228600" lvl="0" indent="-228600" algn="l" rtl="0">
              <a:lnSpc>
                <a:spcPct val="90000"/>
              </a:lnSpc>
              <a:spcBef>
                <a:spcPts val="1000"/>
              </a:spcBef>
              <a:spcAft>
                <a:spcPts val="0"/>
              </a:spcAft>
              <a:buClr>
                <a:schemeClr val="dk1"/>
              </a:buClr>
              <a:buSzPct val="100000"/>
              <a:buChar char="•"/>
            </a:pPr>
            <a:r>
              <a:rPr lang="en-US" sz="1800" b="0" i="0" u="none" strike="noStrike" dirty="0">
                <a:solidFill>
                  <a:schemeClr val="dk1"/>
                </a:solidFill>
                <a:latin typeface="+mn-lt"/>
                <a:ea typeface="Arial"/>
                <a:cs typeface="Arial"/>
                <a:sym typeface="Arial"/>
              </a:rPr>
              <a:t>Cabral et al. [7] and Tabassum et al. [68] tackle the problem is via an incremental learning or an </a:t>
            </a:r>
            <a:r>
              <a:rPr lang="en-US" sz="1800" b="1" i="0" u="none" strike="noStrike" dirty="0">
                <a:solidFill>
                  <a:schemeClr val="dk1"/>
                </a:solidFill>
                <a:latin typeface="+mn-lt"/>
                <a:ea typeface="Arial"/>
                <a:cs typeface="Arial"/>
                <a:sym typeface="Arial"/>
              </a:rPr>
              <a:t>online learning</a:t>
            </a:r>
            <a:endParaRPr sz="2000" b="1" dirty="0">
              <a:latin typeface="+mn-lt"/>
            </a:endParaRPr>
          </a:p>
        </p:txBody>
      </p:sp>
      <p:sp>
        <p:nvSpPr>
          <p:cNvPr id="307" name="Google Shape;30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graphicFrame>
        <p:nvGraphicFramePr>
          <p:cNvPr id="2" name="Table 1">
            <a:extLst>
              <a:ext uri="{FF2B5EF4-FFF2-40B4-BE49-F238E27FC236}">
                <a16:creationId xmlns:a16="http://schemas.microsoft.com/office/drawing/2014/main" id="{CBA41E60-F738-E542-D35B-A16D5DE515D6}"/>
              </a:ext>
            </a:extLst>
          </p:cNvPr>
          <p:cNvGraphicFramePr>
            <a:graphicFrameLocks noGrp="1"/>
          </p:cNvGraphicFramePr>
          <p:nvPr>
            <p:extLst>
              <p:ext uri="{D42A27DB-BD31-4B8C-83A1-F6EECF244321}">
                <p14:modId xmlns:p14="http://schemas.microsoft.com/office/powerpoint/2010/main" val="292450080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Concept Drift</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Verification Latency</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7"/>
          <p:cNvSpPr txBox="1">
            <a:spLocks noGrp="1"/>
          </p:cNvSpPr>
          <p:nvPr>
            <p:ph type="title"/>
          </p:nvPr>
        </p:nvSpPr>
        <p:spPr>
          <a:xfrm>
            <a:off x="0" y="612364"/>
            <a:ext cx="12192000" cy="73145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Modeling: Design for Verification Latency</a:t>
            </a:r>
            <a:endParaRPr dirty="0">
              <a:latin typeface="Calibri"/>
              <a:ea typeface="Calibri"/>
              <a:cs typeface="Calibri"/>
              <a:sym typeface="Calibri"/>
            </a:endParaRPr>
          </a:p>
        </p:txBody>
      </p:sp>
      <p:sp>
        <p:nvSpPr>
          <p:cNvPr id="313" name="Google Shape;31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58</a:t>
            </a:fld>
            <a:endParaRPr/>
          </a:p>
        </p:txBody>
      </p:sp>
      <p:sp>
        <p:nvSpPr>
          <p:cNvPr id="314" name="Google Shape;314;p27"/>
          <p:cNvSpPr txBox="1"/>
          <p:nvPr/>
        </p:nvSpPr>
        <p:spPr>
          <a:xfrm>
            <a:off x="83125" y="1472485"/>
            <a:ext cx="11639952" cy="731454"/>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a:bodyPr>
          <a:lstStyle/>
          <a:p>
            <a:pPr marL="342900" marR="0" lvl="0" indent="-342900" algn="l" rtl="0">
              <a:lnSpc>
                <a:spcPct val="90000"/>
              </a:lnSpc>
              <a:spcBef>
                <a:spcPts val="0"/>
              </a:spcBef>
              <a:spcAft>
                <a:spcPts val="0"/>
              </a:spcAft>
              <a:buClr>
                <a:schemeClr val="dk1"/>
              </a:buClr>
              <a:buSzPts val="2000"/>
              <a:buFont typeface="Wingdings" panose="05000000000000000000" pitchFamily="2" charset="2"/>
              <a:buChar char="§"/>
            </a:pPr>
            <a:r>
              <a:rPr lang="en-US" sz="2000" b="1" dirty="0">
                <a:solidFill>
                  <a:schemeClr val="dk1"/>
                </a:solidFill>
                <a:latin typeface="+mn-lt"/>
                <a:ea typeface="Calibri"/>
                <a:cs typeface="Calibri"/>
                <a:sym typeface="Calibri"/>
              </a:rPr>
              <a:t>Verification Latency</a:t>
            </a:r>
            <a:r>
              <a:rPr lang="en-US" sz="2000" dirty="0">
                <a:solidFill>
                  <a:schemeClr val="dk1"/>
                </a:solidFill>
                <a:latin typeface="+mn-lt"/>
                <a:ea typeface="Calibri"/>
                <a:cs typeface="Calibri"/>
                <a:sym typeface="Calibri"/>
              </a:rPr>
              <a:t>: A defect-inducing change always appears before its defect-fixing change.</a:t>
            </a:r>
          </a:p>
          <a:p>
            <a:pPr marR="0" lvl="0" algn="l" rtl="0">
              <a:lnSpc>
                <a:spcPct val="90000"/>
              </a:lnSpc>
              <a:spcBef>
                <a:spcPts val="0"/>
              </a:spcBef>
              <a:spcAft>
                <a:spcPts val="0"/>
              </a:spcAft>
              <a:buClr>
                <a:schemeClr val="dk1"/>
              </a:buClr>
              <a:buSzPts val="2000"/>
            </a:pPr>
            <a:r>
              <a:rPr lang="en-US" sz="2000" dirty="0">
                <a:solidFill>
                  <a:schemeClr val="dk1"/>
                </a:solidFill>
                <a:latin typeface="+mn-lt"/>
                <a:ea typeface="Calibri"/>
                <a:cs typeface="Calibri"/>
                <a:sym typeface="Calibri"/>
              </a:rPr>
              <a:t> </a:t>
            </a:r>
            <a:r>
              <a:rPr lang="en-US" sz="2000" b="0" i="0" u="none" strike="noStrike" dirty="0">
                <a:solidFill>
                  <a:schemeClr val="dk1"/>
                </a:solidFill>
                <a:latin typeface="+mn-lt"/>
                <a:ea typeface="Arial"/>
                <a:cs typeface="Arial"/>
                <a:sym typeface="Arial"/>
              </a:rPr>
              <a:t>A lag time between when a defect-inducing change is committed to the SCM and identified.</a:t>
            </a:r>
            <a:endParaRPr dirty="0">
              <a:latin typeface="+mn-lt"/>
            </a:endParaRPr>
          </a:p>
          <a:p>
            <a:pPr marL="0" marR="0" lvl="0" indent="0" algn="l" rtl="0">
              <a:lnSpc>
                <a:spcPct val="90000"/>
              </a:lnSpc>
              <a:spcBef>
                <a:spcPts val="1000"/>
              </a:spcBef>
              <a:spcAft>
                <a:spcPts val="0"/>
              </a:spcAft>
              <a:buClr>
                <a:schemeClr val="dk1"/>
              </a:buClr>
              <a:buSzPts val="2000"/>
              <a:buFont typeface="Arial"/>
              <a:buNone/>
            </a:pPr>
            <a:endParaRPr sz="2000" dirty="0">
              <a:solidFill>
                <a:schemeClr val="dk1"/>
              </a:solidFill>
              <a:latin typeface="+mn-lt"/>
              <a:ea typeface="Arial"/>
              <a:cs typeface="Arial"/>
              <a:sym typeface="Arial"/>
            </a:endParaRPr>
          </a:p>
          <a:p>
            <a:pPr marL="0" marR="0" lvl="0" indent="0" algn="l" rtl="0">
              <a:lnSpc>
                <a:spcPct val="90000"/>
              </a:lnSpc>
              <a:spcBef>
                <a:spcPts val="1000"/>
              </a:spcBef>
              <a:spcAft>
                <a:spcPts val="0"/>
              </a:spcAft>
              <a:buClr>
                <a:schemeClr val="dk1"/>
              </a:buClr>
              <a:buSzPts val="2000"/>
              <a:buFont typeface="Arial"/>
              <a:buNone/>
            </a:pPr>
            <a:endParaRPr sz="2000" dirty="0">
              <a:solidFill>
                <a:schemeClr val="dk1"/>
              </a:solidFill>
              <a:latin typeface="+mn-lt"/>
              <a:ea typeface="Calibri"/>
              <a:cs typeface="Calibri"/>
              <a:sym typeface="Calibri"/>
            </a:endParaRPr>
          </a:p>
        </p:txBody>
      </p:sp>
      <p:pic>
        <p:nvPicPr>
          <p:cNvPr id="3" name="Picture 2">
            <a:extLst>
              <a:ext uri="{FF2B5EF4-FFF2-40B4-BE49-F238E27FC236}">
                <a16:creationId xmlns:a16="http://schemas.microsoft.com/office/drawing/2014/main" id="{99FA6503-2E50-4FCB-D4FC-2DAFBA763D3C}"/>
              </a:ext>
            </a:extLst>
          </p:cNvPr>
          <p:cNvPicPr>
            <a:picLocks noChangeAspect="1"/>
          </p:cNvPicPr>
          <p:nvPr/>
        </p:nvPicPr>
        <p:blipFill>
          <a:blip r:embed="rId3"/>
          <a:stretch>
            <a:fillRect/>
          </a:stretch>
        </p:blipFill>
        <p:spPr>
          <a:xfrm>
            <a:off x="2790095" y="2609519"/>
            <a:ext cx="5394671" cy="1447874"/>
          </a:xfrm>
          <a:prstGeom prst="rect">
            <a:avLst/>
          </a:prstGeom>
        </p:spPr>
      </p:pic>
      <p:sp>
        <p:nvSpPr>
          <p:cNvPr id="4" name="TextBox 3">
            <a:extLst>
              <a:ext uri="{FF2B5EF4-FFF2-40B4-BE49-F238E27FC236}">
                <a16:creationId xmlns:a16="http://schemas.microsoft.com/office/drawing/2014/main" id="{6A023755-D40F-20B5-9E92-9ABE507CDA94}"/>
              </a:ext>
            </a:extLst>
          </p:cNvPr>
          <p:cNvSpPr txBox="1"/>
          <p:nvPr/>
        </p:nvSpPr>
        <p:spPr>
          <a:xfrm>
            <a:off x="5117655" y="4013598"/>
            <a:ext cx="1470714" cy="261610"/>
          </a:xfrm>
          <a:prstGeom prst="rect">
            <a:avLst/>
          </a:prstGeom>
          <a:noFill/>
        </p:spPr>
        <p:txBody>
          <a:bodyPr wrap="square" rtlCol="0">
            <a:spAutoFit/>
          </a:bodyPr>
          <a:lstStyle/>
          <a:p>
            <a:r>
              <a:rPr lang="en-US" sz="1100" dirty="0"/>
              <a:t>Tan et al. [62]</a:t>
            </a:r>
          </a:p>
        </p:txBody>
      </p:sp>
      <p:sp>
        <p:nvSpPr>
          <p:cNvPr id="5" name="TextBox 4">
            <a:extLst>
              <a:ext uri="{FF2B5EF4-FFF2-40B4-BE49-F238E27FC236}">
                <a16:creationId xmlns:a16="http://schemas.microsoft.com/office/drawing/2014/main" id="{4EB6CD17-235A-18CC-B156-0A899C9E147D}"/>
              </a:ext>
            </a:extLst>
          </p:cNvPr>
          <p:cNvSpPr txBox="1"/>
          <p:nvPr/>
        </p:nvSpPr>
        <p:spPr>
          <a:xfrm>
            <a:off x="83126" y="2285427"/>
            <a:ext cx="11768904" cy="535531"/>
          </a:xfrm>
          <a:prstGeom prst="rect">
            <a:avLst/>
          </a:prstGeom>
          <a:noFill/>
        </p:spPr>
        <p:txBody>
          <a:bodyPr wrap="square" rtlCol="0">
            <a:spAutoFit/>
          </a:bodyPr>
          <a:lstStyle/>
          <a:p>
            <a:pPr marL="0" marR="0" lvl="0" indent="0" algn="l" rtl="0">
              <a:lnSpc>
                <a:spcPct val="90000"/>
              </a:lnSpc>
              <a:spcBef>
                <a:spcPts val="1000"/>
              </a:spcBef>
              <a:spcAft>
                <a:spcPts val="0"/>
              </a:spcAft>
              <a:buClr>
                <a:schemeClr val="dk1"/>
              </a:buClr>
              <a:buSzPts val="2000"/>
              <a:buFont typeface="Arial"/>
              <a:buNone/>
            </a:pPr>
            <a:r>
              <a:rPr lang="en-US" sz="1600" i="1" dirty="0">
                <a:solidFill>
                  <a:schemeClr val="dk1"/>
                </a:solidFill>
                <a:latin typeface="+mn-lt"/>
                <a:ea typeface="Calibri"/>
                <a:cs typeface="Calibri"/>
                <a:sym typeface="Calibri"/>
              </a:rPr>
              <a:t>Cabral et al. [7] show that the verification latency ranges from 1 to 410 days among the 10 open source projects that they examine; and they assert that verification latency is more likely to affect newer changes than older ones.</a:t>
            </a:r>
            <a:endParaRPr lang="en-US" sz="1600" dirty="0">
              <a:latin typeface="+mn-lt"/>
            </a:endParaRPr>
          </a:p>
        </p:txBody>
      </p:sp>
      <p:sp>
        <p:nvSpPr>
          <p:cNvPr id="6" name="TextBox 5">
            <a:extLst>
              <a:ext uri="{FF2B5EF4-FFF2-40B4-BE49-F238E27FC236}">
                <a16:creationId xmlns:a16="http://schemas.microsoft.com/office/drawing/2014/main" id="{054540D2-E404-8086-FB61-7C472189731E}"/>
              </a:ext>
            </a:extLst>
          </p:cNvPr>
          <p:cNvSpPr txBox="1"/>
          <p:nvPr/>
        </p:nvSpPr>
        <p:spPr>
          <a:xfrm>
            <a:off x="83125" y="4275208"/>
            <a:ext cx="12003367" cy="2876685"/>
          </a:xfrm>
          <a:prstGeom prst="rect">
            <a:avLst/>
          </a:prstGeom>
          <a:noFill/>
        </p:spPr>
        <p:txBody>
          <a:bodyPr wrap="square" rtlCol="0">
            <a:spAutoFit/>
          </a:bodyPr>
          <a:lstStyle/>
          <a:p>
            <a:pPr marL="0" marR="0" lvl="0" indent="0" algn="l" rtl="0">
              <a:lnSpc>
                <a:spcPct val="90000"/>
              </a:lnSpc>
              <a:spcBef>
                <a:spcPts val="1000"/>
              </a:spcBef>
              <a:spcAft>
                <a:spcPts val="0"/>
              </a:spcAft>
              <a:buClr>
                <a:schemeClr val="dk1"/>
              </a:buClr>
              <a:buSzPts val="2000"/>
              <a:buFont typeface="Arial"/>
              <a:buNone/>
            </a:pPr>
            <a:r>
              <a:rPr lang="en-US" sz="1800" b="1" dirty="0">
                <a:solidFill>
                  <a:schemeClr val="dk1"/>
                </a:solidFill>
                <a:latin typeface="+mn-lt"/>
                <a:ea typeface="Calibri"/>
                <a:cs typeface="Calibri"/>
                <a:sym typeface="Calibri"/>
              </a:rPr>
              <a:t>Cross-validation</a:t>
            </a:r>
            <a:r>
              <a:rPr lang="en-US" sz="1800" dirty="0">
                <a:solidFill>
                  <a:schemeClr val="dk1"/>
                </a:solidFill>
                <a:latin typeface="+mn-lt"/>
                <a:ea typeface="Calibri"/>
                <a:cs typeface="Calibri"/>
                <a:sym typeface="Calibri"/>
              </a:rPr>
              <a:t>, e.g., a k-fold validation indicates a better predictive performance when all data is available proved Tan et al. [69].</a:t>
            </a:r>
          </a:p>
          <a:p>
            <a:pPr marL="0" marR="0" lvl="0" indent="0" algn="l" rtl="0">
              <a:lnSpc>
                <a:spcPct val="90000"/>
              </a:lnSpc>
              <a:spcBef>
                <a:spcPts val="1000"/>
              </a:spcBef>
              <a:spcAft>
                <a:spcPts val="0"/>
              </a:spcAft>
              <a:buClr>
                <a:schemeClr val="dk1"/>
              </a:buClr>
              <a:buSzPts val="2000"/>
              <a:buFont typeface="Arial"/>
              <a:buNone/>
            </a:pPr>
            <a:endParaRPr lang="en-US" sz="1800" dirty="0">
              <a:solidFill>
                <a:schemeClr val="dk1"/>
              </a:solidFill>
              <a:latin typeface="+mn-lt"/>
              <a:ea typeface="Calibri"/>
              <a:cs typeface="Calibri"/>
              <a:sym typeface="Calibri"/>
            </a:endParaRPr>
          </a:p>
          <a:p>
            <a:pPr marL="0" marR="0" lvl="0" indent="0" algn="l" rtl="0">
              <a:lnSpc>
                <a:spcPct val="90000"/>
              </a:lnSpc>
              <a:spcBef>
                <a:spcPts val="1000"/>
              </a:spcBef>
              <a:spcAft>
                <a:spcPts val="0"/>
              </a:spcAft>
              <a:buClr>
                <a:schemeClr val="dk1"/>
              </a:buClr>
              <a:buSzPts val="2000"/>
              <a:buFont typeface="Arial"/>
              <a:buNone/>
            </a:pPr>
            <a:r>
              <a:rPr lang="en-US" sz="1800" dirty="0">
                <a:solidFill>
                  <a:schemeClr val="dk1"/>
                </a:solidFill>
                <a:latin typeface="+mn-lt"/>
                <a:ea typeface="Calibri"/>
                <a:cs typeface="Calibri"/>
                <a:sym typeface="Calibri"/>
              </a:rPr>
              <a:t>However, there are problems about cross-validation: </a:t>
            </a:r>
          </a:p>
          <a:p>
            <a:pPr marL="285750" marR="0" lvl="0" indent="-285750" algn="l" rtl="0">
              <a:lnSpc>
                <a:spcPct val="90000"/>
              </a:lnSpc>
              <a:spcBef>
                <a:spcPts val="1000"/>
              </a:spcBef>
              <a:spcAft>
                <a:spcPts val="0"/>
              </a:spcAft>
              <a:buClr>
                <a:schemeClr val="dk1"/>
              </a:buClr>
              <a:buSzPts val="2000"/>
              <a:buFont typeface="Arial" panose="020B0604020202020204" pitchFamily="34" charset="0"/>
              <a:buChar char="•"/>
            </a:pPr>
            <a:r>
              <a:rPr lang="en-US" sz="1800" dirty="0">
                <a:solidFill>
                  <a:schemeClr val="dk1"/>
                </a:solidFill>
                <a:latin typeface="+mn-lt"/>
                <a:ea typeface="Calibri"/>
                <a:cs typeface="Calibri"/>
                <a:sym typeface="Calibri"/>
              </a:rPr>
              <a:t>cross-validation will </a:t>
            </a:r>
            <a:r>
              <a:rPr lang="en-US" sz="1800" b="1" dirty="0">
                <a:solidFill>
                  <a:schemeClr val="dk1"/>
                </a:solidFill>
                <a:latin typeface="+mn-lt"/>
                <a:ea typeface="Calibri"/>
                <a:cs typeface="Calibri"/>
                <a:sym typeface="Calibri"/>
              </a:rPr>
              <a:t>use future data for prediction</a:t>
            </a:r>
            <a:r>
              <a:rPr lang="en-US" sz="1800" dirty="0">
                <a:solidFill>
                  <a:schemeClr val="dk1"/>
                </a:solidFill>
                <a:latin typeface="+mn-lt"/>
                <a:ea typeface="Calibri"/>
                <a:cs typeface="Calibri"/>
                <a:sym typeface="Calibri"/>
              </a:rPr>
              <a:t>. Like it will use C2–C10 to predict whether C1 is buggy or not.</a:t>
            </a:r>
          </a:p>
          <a:p>
            <a:pPr marL="285750" marR="0" lvl="0" indent="-285750" algn="l" rtl="0">
              <a:lnSpc>
                <a:spcPct val="90000"/>
              </a:lnSpc>
              <a:spcBef>
                <a:spcPts val="1000"/>
              </a:spcBef>
              <a:spcAft>
                <a:spcPts val="0"/>
              </a:spcAft>
              <a:buClr>
                <a:schemeClr val="dk1"/>
              </a:buClr>
              <a:buSzPts val="2000"/>
              <a:buFont typeface="Arial" panose="020B0604020202020204" pitchFamily="34" charset="0"/>
              <a:buChar char="•"/>
            </a:pPr>
            <a:r>
              <a:rPr lang="en-US" sz="1800" dirty="0">
                <a:solidFill>
                  <a:schemeClr val="dk1"/>
                </a:solidFill>
                <a:latin typeface="+mn-lt"/>
                <a:ea typeface="Calibri"/>
                <a:cs typeface="Calibri"/>
                <a:sym typeface="Calibri"/>
              </a:rPr>
              <a:t>cross-validation </a:t>
            </a:r>
            <a:r>
              <a:rPr lang="en-US" sz="1800" b="1" dirty="0">
                <a:solidFill>
                  <a:schemeClr val="dk1"/>
                </a:solidFill>
                <a:latin typeface="+mn-lt"/>
                <a:ea typeface="Calibri"/>
                <a:cs typeface="Calibri"/>
                <a:sym typeface="Calibri"/>
              </a:rPr>
              <a:t>mislabels changes</a:t>
            </a:r>
            <a:r>
              <a:rPr lang="en-US" sz="1800" dirty="0">
                <a:solidFill>
                  <a:schemeClr val="dk1"/>
                </a:solidFill>
                <a:latin typeface="+mn-lt"/>
                <a:ea typeface="Calibri"/>
                <a:cs typeface="Calibri"/>
                <a:sym typeface="Calibri"/>
              </a:rPr>
              <a:t>.  Like in practice, when we predict whether C6 is buggy, we would only have information at time </a:t>
            </a:r>
            <a:r>
              <a:rPr lang="en-US" sz="1800" dirty="0" err="1">
                <a:solidFill>
                  <a:schemeClr val="dk1"/>
                </a:solidFill>
                <a:latin typeface="+mn-lt"/>
                <a:ea typeface="Calibri"/>
                <a:cs typeface="Calibri"/>
                <a:sym typeface="Calibri"/>
              </a:rPr>
              <a:t>t_predict</a:t>
            </a:r>
            <a:r>
              <a:rPr lang="en-US" sz="1800" dirty="0">
                <a:solidFill>
                  <a:schemeClr val="dk1"/>
                </a:solidFill>
                <a:latin typeface="+mn-lt"/>
                <a:ea typeface="Calibri"/>
                <a:cs typeface="Calibri"/>
                <a:sym typeface="Calibri"/>
              </a:rPr>
              <a:t>. Therefore, C5 should be clean at time </a:t>
            </a:r>
            <a:r>
              <a:rPr lang="en-US" sz="1800" dirty="0" err="1">
                <a:solidFill>
                  <a:schemeClr val="dk1"/>
                </a:solidFill>
                <a:latin typeface="+mn-lt"/>
                <a:ea typeface="Calibri"/>
                <a:cs typeface="Calibri"/>
                <a:sym typeface="Calibri"/>
              </a:rPr>
              <a:t>t_predict</a:t>
            </a:r>
            <a:r>
              <a:rPr lang="en-US" sz="1800" dirty="0">
                <a:solidFill>
                  <a:schemeClr val="dk1"/>
                </a:solidFill>
                <a:latin typeface="+mn-lt"/>
                <a:ea typeface="Calibri"/>
                <a:cs typeface="Calibri"/>
                <a:sym typeface="Calibri"/>
              </a:rPr>
              <a:t> because C7 was nonexistent at that time. </a:t>
            </a:r>
            <a:endParaRPr lang="en-US" sz="1800" dirty="0">
              <a:latin typeface="+mn-lt"/>
            </a:endParaRPr>
          </a:p>
          <a:p>
            <a:endParaRPr lang="en-US" sz="1800" dirty="0">
              <a:latin typeface="+mn-lt"/>
            </a:endParaRPr>
          </a:p>
        </p:txBody>
      </p:sp>
      <p:graphicFrame>
        <p:nvGraphicFramePr>
          <p:cNvPr id="7" name="Table 6">
            <a:extLst>
              <a:ext uri="{FF2B5EF4-FFF2-40B4-BE49-F238E27FC236}">
                <a16:creationId xmlns:a16="http://schemas.microsoft.com/office/drawing/2014/main" id="{82B70452-2C20-951A-95C1-B0D258146273}"/>
              </a:ext>
            </a:extLst>
          </p:cNvPr>
          <p:cNvGraphicFramePr>
            <a:graphicFrameLocks noGrp="1"/>
          </p:cNvGraphicFramePr>
          <p:nvPr>
            <p:extLst>
              <p:ext uri="{D42A27DB-BD31-4B8C-83A1-F6EECF244321}">
                <p14:modId xmlns:p14="http://schemas.microsoft.com/office/powerpoint/2010/main" val="8266197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Verification Latency</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Defect Types</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28"/>
          <p:cNvSpPr txBox="1">
            <a:spLocks noGrp="1"/>
          </p:cNvSpPr>
          <p:nvPr>
            <p:ph type="title"/>
          </p:nvPr>
        </p:nvSpPr>
        <p:spPr>
          <a:xfrm>
            <a:off x="0" y="546100"/>
            <a:ext cx="12192000" cy="79771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Modeling: Design for Defect Types</a:t>
            </a:r>
            <a:endParaRPr dirty="0"/>
          </a:p>
        </p:txBody>
      </p:sp>
      <p:sp>
        <p:nvSpPr>
          <p:cNvPr id="320" name="Google Shape;320;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59</a:t>
            </a:fld>
            <a:endParaRPr/>
          </a:p>
        </p:txBody>
      </p:sp>
      <p:sp>
        <p:nvSpPr>
          <p:cNvPr id="321" name="Google Shape;321;p28"/>
          <p:cNvSpPr txBox="1"/>
          <p:nvPr/>
        </p:nvSpPr>
        <p:spPr>
          <a:xfrm>
            <a:off x="320851" y="1428153"/>
            <a:ext cx="11169073" cy="4198923"/>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lnSpcReduction="10000"/>
          </a:bodyPr>
          <a:lstStyle/>
          <a:p>
            <a:pPr marL="228600" marR="0" lvl="0" indent="-228600" algn="l" rtl="0">
              <a:lnSpc>
                <a:spcPct val="90000"/>
              </a:lnSpc>
              <a:spcBef>
                <a:spcPts val="0"/>
              </a:spcBef>
              <a:spcAft>
                <a:spcPts val="0"/>
              </a:spcAft>
              <a:buClr>
                <a:schemeClr val="dk1"/>
              </a:buClr>
              <a:buSzPts val="2800"/>
              <a:buFont typeface="Noto Sans Symbols"/>
              <a:buChar char="▪"/>
            </a:pPr>
            <a:r>
              <a:rPr lang="en-US" sz="2800" dirty="0">
                <a:solidFill>
                  <a:schemeClr val="dk1"/>
                </a:solidFill>
                <a:latin typeface="Calibri"/>
                <a:ea typeface="Calibri"/>
                <a:cs typeface="Calibri"/>
                <a:sym typeface="Calibri"/>
              </a:rPr>
              <a:t>Types of Defect</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b="0" i="0" u="none" strike="noStrike" dirty="0">
                <a:solidFill>
                  <a:schemeClr val="dk1"/>
                </a:solidFill>
                <a:latin typeface="Arial"/>
                <a:ea typeface="Arial"/>
                <a:cs typeface="Arial"/>
                <a:sym typeface="Arial"/>
              </a:rPr>
              <a:t>Intrinsic defects stem from the code found in the project’s SCM</a:t>
            </a:r>
            <a:endParaRPr dirty="0"/>
          </a:p>
          <a:p>
            <a:pPr marL="228600" marR="0" lvl="0" indent="-228600" algn="l" rtl="0">
              <a:lnSpc>
                <a:spcPct val="90000"/>
              </a:lnSpc>
              <a:spcBef>
                <a:spcPts val="1000"/>
              </a:spcBef>
              <a:spcAft>
                <a:spcPts val="0"/>
              </a:spcAft>
              <a:buClr>
                <a:schemeClr val="dk1"/>
              </a:buClr>
              <a:buSzPts val="1800"/>
              <a:buFont typeface="Arial"/>
              <a:buChar char="•"/>
            </a:pPr>
            <a:r>
              <a:rPr lang="en-US" sz="1800" dirty="0">
                <a:solidFill>
                  <a:schemeClr val="dk1"/>
                </a:solidFill>
                <a:latin typeface="Arial"/>
                <a:ea typeface="Arial"/>
                <a:cs typeface="Arial"/>
                <a:sym typeface="Arial"/>
              </a:rPr>
              <a:t>E</a:t>
            </a:r>
            <a:r>
              <a:rPr lang="en-US" sz="1800" b="0" i="0" u="none" strike="noStrike" dirty="0">
                <a:solidFill>
                  <a:schemeClr val="dk1"/>
                </a:solidFill>
                <a:latin typeface="Arial"/>
                <a:ea typeface="Arial"/>
                <a:cs typeface="Arial"/>
                <a:sym typeface="Arial"/>
              </a:rPr>
              <a:t>xtrinsic ones the results of external factors, such as, errors in an external API [63]</a:t>
            </a:r>
            <a:endParaRPr dirty="0"/>
          </a:p>
          <a:p>
            <a:pPr marL="0" marR="0" lvl="0" indent="0" algn="l" rtl="0">
              <a:lnSpc>
                <a:spcPct val="90000"/>
              </a:lnSpc>
              <a:spcBef>
                <a:spcPts val="1000"/>
              </a:spcBef>
              <a:spcAft>
                <a:spcPts val="0"/>
              </a:spcAft>
              <a:buClr>
                <a:schemeClr val="dk1"/>
              </a:buClr>
              <a:buSzPts val="1800"/>
              <a:buFont typeface="Arial"/>
              <a:buNone/>
            </a:pPr>
            <a:r>
              <a:rPr lang="en-US" sz="1800" b="0" i="1" u="none" strike="noStrike" dirty="0">
                <a:solidFill>
                  <a:schemeClr val="dk1"/>
                </a:solidFill>
                <a:latin typeface="Arial"/>
                <a:ea typeface="Arial"/>
                <a:cs typeface="Arial"/>
                <a:sym typeface="Arial"/>
              </a:rPr>
              <a:t>The extrinsic defect do not have defect-inducing changes in the project’s history although often reported in the project’s ITS as defects, leading to misidentified defect-inducing changes by SZZ</a:t>
            </a:r>
            <a:r>
              <a:rPr lang="en-US" sz="1800" b="0" i="0" u="none" strike="noStrike" dirty="0">
                <a:solidFill>
                  <a:schemeClr val="dk1"/>
                </a:solidFill>
                <a:latin typeface="Arial"/>
                <a:ea typeface="Arial"/>
                <a:cs typeface="Arial"/>
                <a:sym typeface="Arial"/>
              </a:rPr>
              <a:t>. </a:t>
            </a:r>
            <a:endParaRPr dirty="0"/>
          </a:p>
          <a:p>
            <a:pPr marL="0" marR="0" lvl="0" indent="0" algn="l" rtl="0">
              <a:lnSpc>
                <a:spcPct val="90000"/>
              </a:lnSpc>
              <a:spcBef>
                <a:spcPts val="1000"/>
              </a:spcBef>
              <a:spcAft>
                <a:spcPts val="0"/>
              </a:spcAft>
              <a:buClr>
                <a:schemeClr val="dk1"/>
              </a:buClr>
              <a:buSzPts val="1800"/>
              <a:buFont typeface="Arial"/>
              <a:buNone/>
            </a:pPr>
            <a:r>
              <a:rPr lang="en-US" sz="1800" b="1" u="none" strike="noStrike" dirty="0">
                <a:solidFill>
                  <a:schemeClr val="dk1"/>
                </a:solidFill>
                <a:latin typeface="Arial"/>
                <a:ea typeface="Arial"/>
                <a:cs typeface="Arial"/>
                <a:sym typeface="Arial"/>
              </a:rPr>
              <a:t>Correcting SZZ errors on performance defects can indeed improve model performance</a:t>
            </a:r>
            <a:endParaRPr dirty="0"/>
          </a:p>
          <a:p>
            <a:pPr marL="0" marR="0" lvl="0" indent="0" algn="l" rtl="0">
              <a:lnSpc>
                <a:spcPct val="90000"/>
              </a:lnSpc>
              <a:spcBef>
                <a:spcPts val="1000"/>
              </a:spcBef>
              <a:spcAft>
                <a:spcPts val="0"/>
              </a:spcAft>
              <a:buClr>
                <a:schemeClr val="dk1"/>
              </a:buClr>
              <a:buSzPts val="1800"/>
              <a:buFont typeface="Arial"/>
              <a:buNone/>
            </a:pPr>
            <a:endParaRPr sz="1800" i="1" dirty="0">
              <a:solidFill>
                <a:schemeClr val="dk1"/>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1800"/>
              <a:buFont typeface="Arial"/>
              <a:buNone/>
            </a:pPr>
            <a:r>
              <a:rPr lang="en-US" sz="1800" i="1" u="none" strike="noStrike" dirty="0">
                <a:solidFill>
                  <a:schemeClr val="dk1"/>
                </a:solidFill>
                <a:latin typeface="Arial"/>
                <a:ea typeface="Arial"/>
                <a:cs typeface="Arial"/>
                <a:sym typeface="Arial"/>
              </a:rPr>
              <a:t>C</a:t>
            </a:r>
            <a:r>
              <a:rPr lang="en-US" sz="1800" i="1" dirty="0">
                <a:solidFill>
                  <a:schemeClr val="dk1"/>
                </a:solidFill>
                <a:latin typeface="Arial"/>
                <a:ea typeface="Arial"/>
                <a:cs typeface="Arial"/>
                <a:sym typeface="Arial"/>
              </a:rPr>
              <a:t>a</a:t>
            </a:r>
            <a:r>
              <a:rPr lang="en-US" sz="1800" i="1" u="none" strike="noStrike" dirty="0">
                <a:solidFill>
                  <a:schemeClr val="dk1"/>
                </a:solidFill>
                <a:latin typeface="Arial"/>
                <a:ea typeface="Arial"/>
                <a:cs typeface="Arial"/>
                <a:sym typeface="Arial"/>
              </a:rPr>
              <a:t>n we predict </a:t>
            </a:r>
            <a:r>
              <a:rPr lang="en-US" sz="1800" b="1" i="1" u="none" strike="noStrike" dirty="0">
                <a:solidFill>
                  <a:schemeClr val="dk1"/>
                </a:solidFill>
                <a:latin typeface="Arial"/>
                <a:ea typeface="Arial"/>
                <a:cs typeface="Arial"/>
                <a:sym typeface="Arial"/>
              </a:rPr>
              <a:t>certain type </a:t>
            </a:r>
            <a:r>
              <a:rPr lang="en-US" sz="1800" i="1" u="none" strike="noStrike" dirty="0">
                <a:solidFill>
                  <a:schemeClr val="dk1"/>
                </a:solidFill>
                <a:latin typeface="Arial"/>
                <a:ea typeface="Arial"/>
                <a:cs typeface="Arial"/>
                <a:sym typeface="Arial"/>
              </a:rPr>
              <a:t>of defect of our interest?</a:t>
            </a:r>
            <a:endParaRPr dirty="0"/>
          </a:p>
          <a:p>
            <a:pPr marL="0" marR="0" lvl="0" indent="0" algn="l" rtl="0">
              <a:lnSpc>
                <a:spcPct val="90000"/>
              </a:lnSpc>
              <a:spcBef>
                <a:spcPts val="1000"/>
              </a:spcBef>
              <a:spcAft>
                <a:spcPts val="0"/>
              </a:spcAft>
              <a:buClr>
                <a:schemeClr val="dk1"/>
              </a:buClr>
              <a:buSzPts val="1800"/>
              <a:buFont typeface="Arial"/>
              <a:buNone/>
            </a:pPr>
            <a:r>
              <a:rPr lang="en-US" sz="1800" b="0" i="0" u="none" strike="noStrike" dirty="0">
                <a:solidFill>
                  <a:schemeClr val="dk1"/>
                </a:solidFill>
                <a:latin typeface="Arial"/>
                <a:ea typeface="Arial"/>
                <a:cs typeface="Arial"/>
                <a:sym typeface="Arial"/>
              </a:rPr>
              <a:t>Security audit of software code is a labor intensive endeavor. </a:t>
            </a:r>
          </a:p>
          <a:p>
            <a:pPr marL="0" marR="0" lvl="0" indent="0" algn="l" rtl="0">
              <a:lnSpc>
                <a:spcPct val="90000"/>
              </a:lnSpc>
              <a:spcBef>
                <a:spcPts val="1000"/>
              </a:spcBef>
              <a:spcAft>
                <a:spcPts val="0"/>
              </a:spcAft>
              <a:buClr>
                <a:schemeClr val="dk1"/>
              </a:buClr>
              <a:buSzPts val="1800"/>
              <a:buFont typeface="Arial"/>
              <a:buNone/>
            </a:pPr>
            <a:r>
              <a:rPr lang="en-US" sz="1800" b="0" i="0" u="none" strike="noStrike" dirty="0">
                <a:solidFill>
                  <a:schemeClr val="dk1"/>
                </a:solidFill>
                <a:latin typeface="Arial"/>
                <a:ea typeface="Arial"/>
                <a:cs typeface="Arial"/>
                <a:sym typeface="Arial"/>
              </a:rPr>
              <a:t>With a JIT-SDP model and the metrics designed to predict software vulnerability defect, Yang et al. [81] demonstrate that they can inspect more defects with less effort and their model can assist as an early step of continuous security inspections as it provides “just-in-time” feedback to the developers.</a:t>
            </a:r>
            <a:endParaRPr sz="1800" b="0" i="1" u="none" strike="noStrike" dirty="0">
              <a:solidFill>
                <a:schemeClr val="dk1"/>
              </a:solidFill>
              <a:latin typeface="Arial"/>
              <a:ea typeface="Arial"/>
              <a:cs typeface="Arial"/>
              <a:sym typeface="Arial"/>
            </a:endParaRPr>
          </a:p>
          <a:p>
            <a:pPr marL="0" marR="0" lvl="0" indent="0" algn="l" rtl="0">
              <a:lnSpc>
                <a:spcPct val="90000"/>
              </a:lnSpc>
              <a:spcBef>
                <a:spcPts val="1000"/>
              </a:spcBef>
              <a:spcAft>
                <a:spcPts val="0"/>
              </a:spcAft>
              <a:buClr>
                <a:schemeClr val="dk1"/>
              </a:buClr>
              <a:buSzPts val="2800"/>
              <a:buFont typeface="Arial"/>
              <a:buNone/>
            </a:pPr>
            <a:endParaRPr sz="2800"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800"/>
              <a:buFont typeface="Arial"/>
              <a:buNone/>
            </a:pPr>
            <a:endParaRPr sz="2800"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856C34D7-2452-74E7-175B-7341B8547235}"/>
              </a:ext>
            </a:extLst>
          </p:cNvPr>
          <p:cNvGraphicFramePr>
            <a:graphicFrameLocks noGrp="1"/>
          </p:cNvGraphicFramePr>
          <p:nvPr>
            <p:extLst>
              <p:ext uri="{D42A27DB-BD31-4B8C-83A1-F6EECF244321}">
                <p14:modId xmlns:p14="http://schemas.microsoft.com/office/powerpoint/2010/main" val="2134231454"/>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Defect Types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Development Process and Data Characters</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9"/>
          <p:cNvSpPr txBox="1"/>
          <p:nvPr/>
        </p:nvSpPr>
        <p:spPr>
          <a:xfrm>
            <a:off x="184727" y="1174504"/>
            <a:ext cx="11256996" cy="5460757"/>
          </a:xfrm>
          <a:prstGeom prst="rect">
            <a:avLst/>
          </a:prstGeom>
          <a:solidFill>
            <a:schemeClr val="lt1"/>
          </a:solidFill>
          <a:ln w="12700" cap="flat" cmpd="sng">
            <a:solidFill>
              <a:schemeClr val="accent1"/>
            </a:solidFill>
            <a:prstDash val="solid"/>
            <a:miter lim="800000"/>
            <a:headEnd type="none" w="sm" len="sm"/>
            <a:tailEnd type="none" w="sm" len="sm"/>
          </a:ln>
        </p:spPr>
        <p:txBody>
          <a:bodyPr spcFirstLastPara="1" wrap="square" lIns="91425" tIns="45700" rIns="91425" bIns="45700" anchor="t" anchorCtr="0">
            <a:normAutofit fontScale="92500" lnSpcReduction="10000"/>
          </a:bodyPr>
          <a:lstStyle/>
          <a:p>
            <a:pPr marL="228600" marR="0" lvl="0" indent="-228600" algn="l" rtl="0">
              <a:lnSpc>
                <a:spcPct val="90000"/>
              </a:lnSpc>
              <a:spcBef>
                <a:spcPts val="0"/>
              </a:spcBef>
              <a:spcAft>
                <a:spcPts val="0"/>
              </a:spcAft>
              <a:buClr>
                <a:schemeClr val="dk1"/>
              </a:buClr>
              <a:buSzPct val="100000"/>
              <a:buFont typeface="Noto Sans Symbols"/>
              <a:buChar char="▪"/>
            </a:pPr>
            <a:r>
              <a:rPr lang="en-US" sz="2800" dirty="0">
                <a:solidFill>
                  <a:schemeClr val="dk1"/>
                </a:solidFill>
                <a:latin typeface="Calibri"/>
                <a:ea typeface="Calibri"/>
                <a:cs typeface="Calibri"/>
                <a:sym typeface="Calibri"/>
              </a:rPr>
              <a:t>Other Data Characteristics: </a:t>
            </a:r>
            <a:endParaRPr dirty="0"/>
          </a:p>
          <a:p>
            <a:pPr marL="228600" marR="0" lvl="0" indent="-228600" algn="l" rtl="0">
              <a:lnSpc>
                <a:spcPct val="90000"/>
              </a:lnSpc>
              <a:spcBef>
                <a:spcPts val="1000"/>
              </a:spcBef>
              <a:spcAft>
                <a:spcPts val="0"/>
              </a:spcAft>
              <a:buClr>
                <a:schemeClr val="dk1"/>
              </a:buClr>
              <a:buSzPct val="100000"/>
              <a:buFont typeface="Arial"/>
              <a:buChar char="•"/>
            </a:pPr>
            <a:r>
              <a:rPr lang="en-US" sz="1800" dirty="0">
                <a:solidFill>
                  <a:schemeClr val="dk1"/>
                </a:solidFill>
                <a:latin typeface="Arial"/>
                <a:ea typeface="Arial"/>
                <a:cs typeface="Arial"/>
                <a:sym typeface="Arial"/>
              </a:rPr>
              <a:t>Different developers have </a:t>
            </a:r>
            <a:r>
              <a:rPr lang="en-US" sz="1800" b="1" dirty="0">
                <a:solidFill>
                  <a:schemeClr val="dk1"/>
                </a:solidFill>
                <a:latin typeface="Arial"/>
                <a:ea typeface="Arial"/>
                <a:cs typeface="Arial"/>
                <a:sym typeface="Arial"/>
              </a:rPr>
              <a:t>different coding styles</a:t>
            </a:r>
            <a:r>
              <a:rPr lang="en-US" sz="1800" dirty="0">
                <a:solidFill>
                  <a:schemeClr val="dk1"/>
                </a:solidFill>
                <a:latin typeface="Arial"/>
                <a:ea typeface="Arial"/>
                <a:cs typeface="Arial"/>
                <a:sym typeface="Arial"/>
              </a:rPr>
              <a:t>, commit frequencies, experience levels and exhibit different defect patterns in the software change data…</a:t>
            </a:r>
            <a:endParaRPr dirty="0"/>
          </a:p>
          <a:p>
            <a:pPr marL="0" marR="0" lvl="0" indent="0" algn="l" rtl="0">
              <a:lnSpc>
                <a:spcPct val="90000"/>
              </a:lnSpc>
              <a:spcBef>
                <a:spcPts val="1000"/>
              </a:spcBef>
              <a:spcAft>
                <a:spcPts val="0"/>
              </a:spcAft>
              <a:buClr>
                <a:schemeClr val="dk1"/>
              </a:buClr>
              <a:buSzPct val="100000"/>
              <a:buFont typeface="Arial"/>
              <a:buNone/>
            </a:pPr>
            <a:r>
              <a:rPr lang="en-US" sz="1800" b="0" i="0" u="none" strike="noStrike" dirty="0">
                <a:solidFill>
                  <a:schemeClr val="dk1"/>
                </a:solidFill>
                <a:latin typeface="Arial"/>
                <a:ea typeface="Arial"/>
                <a:cs typeface="Arial"/>
                <a:sym typeface="Arial"/>
              </a:rPr>
              <a:t>Jiang et al. [29] propose developer-specific JIT-SDP models (or personalized models) and show that the personalized models can predict more defects than non-personalized one</a:t>
            </a:r>
            <a:endParaRPr dirty="0"/>
          </a:p>
          <a:p>
            <a:pPr marL="0" marR="0" lvl="0" indent="0" algn="l" rtl="0">
              <a:lnSpc>
                <a:spcPct val="90000"/>
              </a:lnSpc>
              <a:spcBef>
                <a:spcPts val="1000"/>
              </a:spcBef>
              <a:spcAft>
                <a:spcPts val="0"/>
              </a:spcAft>
              <a:buClr>
                <a:schemeClr val="dk1"/>
              </a:buClr>
              <a:buSzPct val="100000"/>
              <a:buFont typeface="Arial"/>
              <a:buNone/>
            </a:pPr>
            <a:endParaRPr sz="1800" dirty="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ct val="100000"/>
              <a:buFont typeface="Arial"/>
              <a:buChar char="•"/>
            </a:pPr>
            <a:r>
              <a:rPr lang="en-US" sz="1800" b="0" i="0" u="none" strike="noStrike" dirty="0">
                <a:solidFill>
                  <a:schemeClr val="dk1"/>
                </a:solidFill>
                <a:latin typeface="Arial"/>
                <a:ea typeface="Arial"/>
                <a:cs typeface="Arial"/>
                <a:sym typeface="Arial"/>
              </a:rPr>
              <a:t>Is it better if a model trained using </a:t>
            </a:r>
            <a:r>
              <a:rPr lang="en-US" sz="1800" b="1" i="0" u="none" strike="noStrike" dirty="0">
                <a:solidFill>
                  <a:schemeClr val="dk1"/>
                </a:solidFill>
                <a:latin typeface="Arial"/>
                <a:ea typeface="Arial"/>
                <a:cs typeface="Arial"/>
                <a:sym typeface="Arial"/>
              </a:rPr>
              <a:t>a subset of the data similar to the software change</a:t>
            </a:r>
            <a:r>
              <a:rPr lang="en-US" sz="1800" b="0" i="0" u="none" strike="noStrike" dirty="0">
                <a:solidFill>
                  <a:schemeClr val="dk1"/>
                </a:solidFill>
                <a:latin typeface="Arial"/>
                <a:ea typeface="Arial"/>
                <a:cs typeface="Arial"/>
                <a:sym typeface="Arial"/>
              </a:rPr>
              <a:t>?</a:t>
            </a:r>
            <a:endParaRPr dirty="0"/>
          </a:p>
          <a:p>
            <a:pPr marL="0" marR="0" lvl="0" indent="0" algn="l" rtl="0">
              <a:lnSpc>
                <a:spcPct val="90000"/>
              </a:lnSpc>
              <a:spcBef>
                <a:spcPts val="1000"/>
              </a:spcBef>
              <a:spcAft>
                <a:spcPts val="0"/>
              </a:spcAft>
              <a:buClr>
                <a:schemeClr val="dk1"/>
              </a:buClr>
              <a:buSzPct val="100000"/>
              <a:buFont typeface="Arial"/>
              <a:buNone/>
            </a:pPr>
            <a:r>
              <a:rPr lang="en-US" sz="1800" b="0" i="0" u="none" strike="noStrike" dirty="0">
                <a:solidFill>
                  <a:schemeClr val="dk1"/>
                </a:solidFill>
                <a:latin typeface="Arial"/>
                <a:ea typeface="Arial"/>
                <a:cs typeface="Arial"/>
                <a:sym typeface="Arial"/>
              </a:rPr>
              <a:t>Yang et al. [84]’s empirical results show that local models underperform the global model for defect prediction and outperform them for effort-aware prediction.</a:t>
            </a:r>
            <a:endParaRPr dirty="0"/>
          </a:p>
          <a:p>
            <a:pPr marL="0" marR="0" lvl="0" indent="0" algn="l" rtl="0">
              <a:lnSpc>
                <a:spcPct val="90000"/>
              </a:lnSpc>
              <a:spcBef>
                <a:spcPts val="1000"/>
              </a:spcBef>
              <a:spcAft>
                <a:spcPts val="0"/>
              </a:spcAft>
              <a:buClr>
                <a:schemeClr val="dk1"/>
              </a:buClr>
              <a:buSzPct val="100000"/>
              <a:buFont typeface="Arial"/>
              <a:buNone/>
            </a:pPr>
            <a:endParaRPr sz="1800" dirty="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ct val="100000"/>
              <a:buFont typeface="Arial"/>
              <a:buChar char="•"/>
            </a:pPr>
            <a:r>
              <a:rPr lang="en-US" sz="1800" b="1" dirty="0">
                <a:solidFill>
                  <a:schemeClr val="dk1"/>
                </a:solidFill>
                <a:latin typeface="Arial"/>
                <a:ea typeface="Arial"/>
                <a:cs typeface="Arial"/>
                <a:sym typeface="Arial"/>
              </a:rPr>
              <a:t>Other imbalanced types of data</a:t>
            </a:r>
            <a:r>
              <a:rPr lang="en-US" sz="1800" dirty="0">
                <a:solidFill>
                  <a:schemeClr val="dk1"/>
                </a:solidFill>
                <a:latin typeface="Arial"/>
                <a:ea typeface="Arial"/>
                <a:cs typeface="Arial"/>
                <a:sym typeface="Arial"/>
              </a:rPr>
              <a:t>: File Count, Edit Count, Multiline Comments, Inward Dependency Sum</a:t>
            </a:r>
            <a:endParaRPr dirty="0"/>
          </a:p>
          <a:p>
            <a:pPr marL="0" marR="0" lvl="0" indent="0" algn="l" rtl="0">
              <a:lnSpc>
                <a:spcPct val="90000"/>
              </a:lnSpc>
              <a:spcBef>
                <a:spcPts val="1000"/>
              </a:spcBef>
              <a:spcAft>
                <a:spcPts val="0"/>
              </a:spcAft>
              <a:buClr>
                <a:schemeClr val="dk1"/>
              </a:buClr>
              <a:buSzPct val="100000"/>
              <a:buFont typeface="Arial"/>
              <a:buNone/>
            </a:pPr>
            <a:r>
              <a:rPr lang="en-US" sz="1800" b="0" i="0" u="none" strike="noStrike" dirty="0" err="1">
                <a:solidFill>
                  <a:schemeClr val="dk1"/>
                </a:solidFill>
                <a:latin typeface="Arial"/>
                <a:ea typeface="Arial"/>
                <a:cs typeface="Arial"/>
                <a:sym typeface="Arial"/>
              </a:rPr>
              <a:t>Gesi</a:t>
            </a:r>
            <a:r>
              <a:rPr lang="en-US" sz="1800" b="0" i="0" u="none" strike="noStrike" dirty="0">
                <a:solidFill>
                  <a:schemeClr val="dk1"/>
                </a:solidFill>
                <a:latin typeface="Arial"/>
                <a:ea typeface="Arial"/>
                <a:cs typeface="Arial"/>
                <a:sym typeface="Arial"/>
              </a:rPr>
              <a:t> et al. [19] propose a deep neural network model called </a:t>
            </a:r>
            <a:r>
              <a:rPr lang="en-US" sz="1800" b="0" i="0" u="none" strike="noStrike" dirty="0" err="1">
                <a:solidFill>
                  <a:schemeClr val="dk1"/>
                </a:solidFill>
                <a:latin typeface="Arial"/>
                <a:ea typeface="Arial"/>
                <a:cs typeface="Arial"/>
                <a:sym typeface="Arial"/>
              </a:rPr>
              <a:t>SifterJIT</a:t>
            </a:r>
            <a:r>
              <a:rPr lang="en-US" sz="1800" b="0" i="0" u="none" strike="noStrike" dirty="0">
                <a:solidFill>
                  <a:schemeClr val="dk1"/>
                </a:solidFill>
                <a:latin typeface="Arial"/>
                <a:ea typeface="Arial"/>
                <a:cs typeface="Arial"/>
                <a:sym typeface="Arial"/>
              </a:rPr>
              <a:t> combining Siamese network and </a:t>
            </a:r>
            <a:r>
              <a:rPr lang="en-US" sz="1800" b="0" i="0" u="none" strike="noStrike" dirty="0" err="1">
                <a:solidFill>
                  <a:schemeClr val="dk1"/>
                </a:solidFill>
                <a:latin typeface="Arial"/>
                <a:ea typeface="Arial"/>
                <a:cs typeface="Arial"/>
                <a:sym typeface="Arial"/>
              </a:rPr>
              <a:t>DeepJIT</a:t>
            </a:r>
            <a:r>
              <a:rPr lang="en-US" sz="1800" b="0" i="0" u="none" strike="noStrike" dirty="0">
                <a:solidFill>
                  <a:schemeClr val="dk1"/>
                </a:solidFill>
                <a:latin typeface="Arial"/>
                <a:ea typeface="Arial"/>
                <a:cs typeface="Arial"/>
                <a:sym typeface="Arial"/>
              </a:rPr>
              <a:t> [24] and the model outperforms </a:t>
            </a:r>
            <a:r>
              <a:rPr lang="en-US" sz="1800" b="0" i="0" u="none" strike="noStrike" dirty="0" err="1">
                <a:solidFill>
                  <a:schemeClr val="dk1"/>
                </a:solidFill>
                <a:latin typeface="Arial"/>
                <a:ea typeface="Arial"/>
                <a:cs typeface="Arial"/>
                <a:sym typeface="Arial"/>
              </a:rPr>
              <a:t>DeepJIT</a:t>
            </a:r>
            <a:r>
              <a:rPr lang="en-US" sz="1800" b="0" i="0" u="none" strike="noStrike" dirty="0">
                <a:solidFill>
                  <a:schemeClr val="dk1"/>
                </a:solidFill>
                <a:latin typeface="Arial"/>
                <a:ea typeface="Arial"/>
                <a:cs typeface="Arial"/>
                <a:sym typeface="Arial"/>
              </a:rPr>
              <a:t> [24] and CC2Vec [24] due to the proposed model’s few-shot learning capability.</a:t>
            </a:r>
            <a:endParaRPr dirty="0"/>
          </a:p>
          <a:p>
            <a:pPr marL="0" marR="0" lvl="0" indent="0" algn="l" rtl="0">
              <a:lnSpc>
                <a:spcPct val="90000"/>
              </a:lnSpc>
              <a:spcBef>
                <a:spcPts val="1000"/>
              </a:spcBef>
              <a:spcAft>
                <a:spcPts val="0"/>
              </a:spcAft>
              <a:buClr>
                <a:schemeClr val="dk1"/>
              </a:buClr>
              <a:buSzPct val="100000"/>
              <a:buFont typeface="Arial"/>
              <a:buNone/>
            </a:pPr>
            <a:endParaRPr sz="1800" dirty="0">
              <a:solidFill>
                <a:schemeClr val="dk1"/>
              </a:solidFill>
              <a:latin typeface="Arial"/>
              <a:ea typeface="Arial"/>
              <a:cs typeface="Arial"/>
              <a:sym typeface="Arial"/>
            </a:endParaRPr>
          </a:p>
          <a:p>
            <a:pPr marL="228600" marR="0" lvl="0" indent="-228600" algn="l" rtl="0">
              <a:lnSpc>
                <a:spcPct val="90000"/>
              </a:lnSpc>
              <a:spcBef>
                <a:spcPts val="1000"/>
              </a:spcBef>
              <a:spcAft>
                <a:spcPts val="0"/>
              </a:spcAft>
              <a:buClr>
                <a:schemeClr val="dk1"/>
              </a:buClr>
              <a:buSzPct val="100000"/>
              <a:buFont typeface="Arial"/>
              <a:buChar char="•"/>
            </a:pPr>
            <a:r>
              <a:rPr lang="en-US" sz="1800" b="1" dirty="0">
                <a:solidFill>
                  <a:schemeClr val="dk1"/>
                </a:solidFill>
                <a:latin typeface="Arial"/>
                <a:ea typeface="Arial"/>
                <a:cs typeface="Arial"/>
                <a:sym typeface="Arial"/>
              </a:rPr>
              <a:t>Duplicate changes </a:t>
            </a:r>
            <a:r>
              <a:rPr lang="en-US" sz="1800" dirty="0">
                <a:solidFill>
                  <a:schemeClr val="dk1"/>
                </a:solidFill>
                <a:latin typeface="Arial"/>
                <a:ea typeface="Arial"/>
                <a:cs typeface="Arial"/>
                <a:sym typeface="Arial"/>
              </a:rPr>
              <a:t>caused by multi-branches</a:t>
            </a:r>
            <a:endParaRPr dirty="0"/>
          </a:p>
          <a:p>
            <a:pPr marL="0" marR="0" lvl="0" indent="0" algn="l" rtl="0">
              <a:lnSpc>
                <a:spcPct val="90000"/>
              </a:lnSpc>
              <a:spcBef>
                <a:spcPts val="1000"/>
              </a:spcBef>
              <a:spcAft>
                <a:spcPts val="0"/>
              </a:spcAft>
              <a:buClr>
                <a:schemeClr val="dk1"/>
              </a:buClr>
              <a:buSzPct val="100000"/>
              <a:buFont typeface="Arial"/>
              <a:buNone/>
            </a:pPr>
            <a:r>
              <a:rPr lang="en-US" sz="1800" b="0" i="0" u="none" strike="noStrike" dirty="0">
                <a:solidFill>
                  <a:schemeClr val="dk1"/>
                </a:solidFill>
                <a:latin typeface="Arial"/>
                <a:ea typeface="Arial"/>
                <a:cs typeface="Arial"/>
                <a:sym typeface="Arial"/>
              </a:rPr>
              <a:t>Duan et al. [14] observe that developers may apply duplicate fixes to multiple branches. They suggest that more accurate evaluation of JIT-SDP can be conducted by removing duplicate changes.</a:t>
            </a:r>
            <a:endParaRPr sz="2800" dirty="0">
              <a:solidFill>
                <a:schemeClr val="dk1"/>
              </a:solidFill>
              <a:latin typeface="Calibri"/>
              <a:ea typeface="Calibri"/>
              <a:cs typeface="Calibri"/>
              <a:sym typeface="Calibri"/>
            </a:endParaRPr>
          </a:p>
        </p:txBody>
      </p:sp>
      <p:sp>
        <p:nvSpPr>
          <p:cNvPr id="326" name="Google Shape;326;p29"/>
          <p:cNvSpPr txBox="1">
            <a:spLocks noGrp="1"/>
          </p:cNvSpPr>
          <p:nvPr>
            <p:ph type="title"/>
          </p:nvPr>
        </p:nvSpPr>
        <p:spPr>
          <a:xfrm>
            <a:off x="0" y="18255"/>
            <a:ext cx="121920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Modeling: Design for Development Process and Data</a:t>
            </a:r>
            <a:endParaRPr dirty="0"/>
          </a:p>
        </p:txBody>
      </p:sp>
      <p:sp>
        <p:nvSpPr>
          <p:cNvPr id="327" name="Google Shape;32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60</a:t>
            </a:fld>
            <a:endParaRPr/>
          </a:p>
        </p:txBody>
      </p:sp>
      <p:graphicFrame>
        <p:nvGraphicFramePr>
          <p:cNvPr id="2" name="Table 1">
            <a:extLst>
              <a:ext uri="{FF2B5EF4-FFF2-40B4-BE49-F238E27FC236}">
                <a16:creationId xmlns:a16="http://schemas.microsoft.com/office/drawing/2014/main" id="{80C8BD9D-A2C4-1CAB-E63D-4FFA28118B6B}"/>
              </a:ext>
            </a:extLst>
          </p:cNvPr>
          <p:cNvGraphicFramePr>
            <a:graphicFrameLocks noGrp="1"/>
          </p:cNvGraphicFramePr>
          <p:nvPr>
            <p:extLst>
              <p:ext uri="{D42A27DB-BD31-4B8C-83A1-F6EECF244321}">
                <p14:modId xmlns:p14="http://schemas.microsoft.com/office/powerpoint/2010/main" val="182411701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Development Process and Data Characters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Debate(Local and Global model)</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332"/>
        <p:cNvGrpSpPr/>
        <p:nvPr/>
      </p:nvGrpSpPr>
      <p:grpSpPr>
        <a:xfrm>
          <a:off x="0" y="0"/>
          <a:ext cx="0" cy="0"/>
          <a:chOff x="0" y="0"/>
          <a:chExt cx="0" cy="0"/>
        </a:xfrm>
      </p:grpSpPr>
      <p:sp useBgFill="1">
        <p:nvSpPr>
          <p:cNvPr id="340" name="Rectangle 339">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Google Shape;333;p30"/>
          <p:cNvSpPr txBox="1">
            <a:spLocks noGrp="1"/>
          </p:cNvSpPr>
          <p:nvPr>
            <p:ph type="title"/>
          </p:nvPr>
        </p:nvSpPr>
        <p:spPr>
          <a:xfrm>
            <a:off x="808638" y="386930"/>
            <a:ext cx="11160624" cy="1188950"/>
          </a:xfrm>
          <a:prstGeom prst="rect">
            <a:avLst/>
          </a:prstGeom>
        </p:spPr>
        <p:txBody>
          <a:bodyPr spcFirstLastPara="1" vert="horz" lIns="91440" tIns="45720" rIns="91440" bIns="45720" rtlCol="0" anchor="b" anchorCtr="0">
            <a:normAutofit/>
          </a:bodyPr>
          <a:lstStyle/>
          <a:p>
            <a:pPr marL="0" lvl="0" indent="0">
              <a:spcBef>
                <a:spcPct val="0"/>
              </a:spcBef>
              <a:spcAft>
                <a:spcPts val="0"/>
              </a:spcAft>
              <a:buClr>
                <a:schemeClr val="dk1"/>
              </a:buClr>
              <a:buSzPts val="4400"/>
            </a:pPr>
            <a:r>
              <a:rPr lang="en-US" sz="3800" kern="1200" dirty="0">
                <a:solidFill>
                  <a:schemeClr val="tx1"/>
                </a:solidFill>
                <a:latin typeface="+mj-lt"/>
                <a:ea typeface="+mj-ea"/>
                <a:cs typeface="+mj-cs"/>
                <a:sym typeface="Calibri"/>
              </a:rPr>
              <a:t>Modeling: Debate on Complex and Simple Models</a:t>
            </a:r>
            <a:endParaRPr lang="en-US" sz="3800" kern="1200" dirty="0">
              <a:solidFill>
                <a:schemeClr val="tx1"/>
              </a:solidFill>
              <a:latin typeface="+mj-lt"/>
              <a:ea typeface="+mj-ea"/>
              <a:cs typeface="+mj-cs"/>
            </a:endParaRPr>
          </a:p>
        </p:txBody>
      </p:sp>
      <p:grpSp>
        <p:nvGrpSpPr>
          <p:cNvPr id="342" name="Group 341">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343" name="Rectangle 342">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46" name="Rectangle 345">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Google Shape;335;p30"/>
          <p:cNvSpPr txBox="1"/>
          <p:nvPr/>
        </p:nvSpPr>
        <p:spPr>
          <a:xfrm>
            <a:off x="838200" y="2320126"/>
            <a:ext cx="10545162" cy="4254926"/>
          </a:xfrm>
          <a:prstGeom prst="rect">
            <a:avLst/>
          </a:prstGeom>
        </p:spPr>
        <p:txBody>
          <a:bodyPr spcFirstLastPara="1" vert="horz" lIns="91440" tIns="45720" rIns="91440" bIns="45720" rtlCol="0" anchor="ctr" anchorCtr="0">
            <a:normAutofit/>
          </a:bodyPr>
          <a:lstStyle/>
          <a:p>
            <a:pPr marR="0" lvl="0">
              <a:lnSpc>
                <a:spcPct val="90000"/>
              </a:lnSpc>
              <a:spcBef>
                <a:spcPts val="0"/>
              </a:spcBef>
              <a:spcAft>
                <a:spcPts val="600"/>
              </a:spcAft>
            </a:pPr>
            <a:r>
              <a:rPr lang="en-US" sz="2000" b="0" i="0" u="none" strike="noStrike" kern="1200" dirty="0">
                <a:solidFill>
                  <a:schemeClr val="tx1"/>
                </a:solidFill>
                <a:latin typeface="+mn-lt"/>
                <a:ea typeface="+mn-ea"/>
                <a:cs typeface="+mn-cs"/>
                <a:sym typeface="Arial"/>
              </a:rPr>
              <a:t>Should we use a simple or a complex model?</a:t>
            </a:r>
            <a:endParaRPr lang="en-US" sz="2000" kern="1200" dirty="0">
              <a:solidFill>
                <a:schemeClr val="tx1"/>
              </a:solidFill>
              <a:latin typeface="+mn-lt"/>
              <a:ea typeface="+mn-ea"/>
              <a:cs typeface="+mn-cs"/>
            </a:endParaRPr>
          </a:p>
          <a:p>
            <a:pPr marL="0" marR="0" lvl="0" indent="-228600">
              <a:lnSpc>
                <a:spcPct val="90000"/>
              </a:lnSpc>
              <a:spcBef>
                <a:spcPts val="0"/>
              </a:spcBef>
              <a:spcAft>
                <a:spcPts val="600"/>
              </a:spcAft>
              <a:buFont typeface="Arial" panose="020B0604020202020204" pitchFamily="34" charset="0"/>
              <a:buChar char="•"/>
            </a:pPr>
            <a:endParaRPr lang="en-US" sz="2000" kern="1200" dirty="0">
              <a:solidFill>
                <a:schemeClr val="tx1"/>
              </a:solidFill>
              <a:latin typeface="+mn-lt"/>
              <a:ea typeface="+mn-ea"/>
              <a:cs typeface="+mn-cs"/>
              <a:sym typeface="Arial"/>
            </a:endParaRPr>
          </a:p>
          <a:p>
            <a:pPr marR="0" lvl="0">
              <a:lnSpc>
                <a:spcPct val="90000"/>
              </a:lnSpc>
              <a:spcBef>
                <a:spcPts val="0"/>
              </a:spcBef>
              <a:spcAft>
                <a:spcPts val="600"/>
              </a:spcAft>
            </a:pPr>
            <a:r>
              <a:rPr lang="en-US" sz="2000" b="0" i="0" u="none" strike="noStrike" kern="1200" dirty="0">
                <a:solidFill>
                  <a:schemeClr val="tx1"/>
                </a:solidFill>
                <a:latin typeface="+mn-lt"/>
                <a:ea typeface="+mn-ea"/>
                <a:cs typeface="+mn-cs"/>
                <a:sym typeface="Arial"/>
              </a:rPr>
              <a:t>The debate goes on.</a:t>
            </a:r>
            <a:endParaRPr lang="en-US" sz="2000" kern="1200" dirty="0">
              <a:solidFill>
                <a:schemeClr val="tx1"/>
              </a:solidFill>
              <a:latin typeface="+mn-lt"/>
              <a:ea typeface="+mn-ea"/>
              <a:cs typeface="+mn-cs"/>
            </a:endParaRPr>
          </a:p>
          <a:p>
            <a:pPr marL="0" marR="0" lvl="0" indent="-228600">
              <a:lnSpc>
                <a:spcPct val="90000"/>
              </a:lnSpc>
              <a:spcBef>
                <a:spcPts val="0"/>
              </a:spcBef>
              <a:spcAft>
                <a:spcPts val="600"/>
              </a:spcAft>
              <a:buFont typeface="Arial" panose="020B0604020202020204" pitchFamily="34" charset="0"/>
              <a:buChar char="•"/>
            </a:pPr>
            <a:endParaRPr lang="en-US" sz="2000" kern="1200" dirty="0">
              <a:solidFill>
                <a:schemeClr val="tx1"/>
              </a:solidFill>
              <a:latin typeface="+mn-lt"/>
              <a:ea typeface="+mn-ea"/>
              <a:cs typeface="+mn-cs"/>
              <a:sym typeface="Arial"/>
            </a:endParaRPr>
          </a:p>
          <a:p>
            <a:pPr marL="285750" marR="0" lvl="0" indent="-228600">
              <a:lnSpc>
                <a:spcPct val="90000"/>
              </a:lnSpc>
              <a:spcBef>
                <a:spcPts val="0"/>
              </a:spcBef>
              <a:spcAft>
                <a:spcPts val="600"/>
              </a:spcAft>
              <a:buClr>
                <a:schemeClr val="dk1"/>
              </a:buClr>
              <a:buSzPts val="1800"/>
              <a:buFont typeface="Arial" panose="020B0604020202020204" pitchFamily="34" charset="0"/>
              <a:buChar char="•"/>
            </a:pPr>
            <a:r>
              <a:rPr lang="en-US" sz="2000" b="0" i="0" u="none" strike="noStrike" kern="1200" dirty="0">
                <a:solidFill>
                  <a:schemeClr val="tx1"/>
                </a:solidFill>
                <a:latin typeface="+mn-lt"/>
                <a:ea typeface="+mn-ea"/>
                <a:cs typeface="+mn-cs"/>
                <a:sym typeface="Arial"/>
              </a:rPr>
              <a:t>Complex JIT-SDP models [19, 24, 25, 78, 92, 93] show improved predictive performance over prior models</a:t>
            </a:r>
            <a:endParaRPr lang="en-US" sz="2000" kern="1200" dirty="0">
              <a:solidFill>
                <a:schemeClr val="tx1"/>
              </a:solidFill>
              <a:latin typeface="+mn-lt"/>
              <a:ea typeface="+mn-ea"/>
              <a:cs typeface="+mn-cs"/>
            </a:endParaRPr>
          </a:p>
          <a:p>
            <a:pPr marL="285750" marR="0" lvl="0" indent="-228600">
              <a:lnSpc>
                <a:spcPct val="90000"/>
              </a:lnSpc>
              <a:spcBef>
                <a:spcPts val="0"/>
              </a:spcBef>
              <a:spcAft>
                <a:spcPts val="600"/>
              </a:spcAft>
              <a:buClr>
                <a:schemeClr val="dk1"/>
              </a:buClr>
              <a:buSzPts val="1800"/>
              <a:buFont typeface="Arial" panose="020B0604020202020204" pitchFamily="34" charset="0"/>
              <a:buChar char="•"/>
            </a:pPr>
            <a:r>
              <a:rPr lang="en-US" sz="2000" b="0" i="0" u="none" strike="noStrike" kern="1200" dirty="0" err="1">
                <a:solidFill>
                  <a:schemeClr val="tx1"/>
                </a:solidFill>
                <a:latin typeface="+mn-lt"/>
                <a:ea typeface="+mn-ea"/>
                <a:cs typeface="+mn-cs"/>
                <a:sym typeface="Arial"/>
              </a:rPr>
              <a:t>Pornprasit</a:t>
            </a:r>
            <a:r>
              <a:rPr lang="en-US" sz="2000" b="0" i="0" u="none" strike="noStrike" kern="1200" dirty="0">
                <a:solidFill>
                  <a:schemeClr val="tx1"/>
                </a:solidFill>
                <a:latin typeface="+mn-lt"/>
                <a:ea typeface="+mn-ea"/>
                <a:cs typeface="+mn-cs"/>
                <a:sym typeface="Arial"/>
              </a:rPr>
              <a:t> et al. [57] design a Random Forest model (called </a:t>
            </a:r>
            <a:r>
              <a:rPr lang="en-US" sz="2000" b="0" i="0" u="none" strike="noStrike" kern="1200" dirty="0" err="1">
                <a:solidFill>
                  <a:schemeClr val="tx1"/>
                </a:solidFill>
                <a:latin typeface="+mn-lt"/>
                <a:ea typeface="+mn-ea"/>
                <a:cs typeface="+mn-cs"/>
                <a:sym typeface="Inconsolata"/>
              </a:rPr>
              <a:t>JITLine</a:t>
            </a:r>
            <a:r>
              <a:rPr lang="en-US" sz="2000" b="0" i="0" u="none" strike="noStrike" kern="1200" dirty="0">
                <a:solidFill>
                  <a:schemeClr val="tx1"/>
                </a:solidFill>
                <a:latin typeface="+mn-lt"/>
                <a:ea typeface="+mn-ea"/>
                <a:cs typeface="+mn-cs"/>
                <a:sym typeface="Arial"/>
              </a:rPr>
              <a:t>) and Zeng et al.[89] a Logistic Regression model (</a:t>
            </a:r>
            <a:r>
              <a:rPr lang="en-US" sz="2000" b="0" i="0" u="none" strike="noStrike" kern="1200" dirty="0" err="1">
                <a:solidFill>
                  <a:schemeClr val="tx1"/>
                </a:solidFill>
                <a:latin typeface="+mn-lt"/>
                <a:ea typeface="+mn-ea"/>
                <a:cs typeface="+mn-cs"/>
                <a:sym typeface="Inconsolata"/>
              </a:rPr>
              <a:t>LAPredict</a:t>
            </a:r>
            <a:r>
              <a:rPr lang="en-US" sz="2000" b="0" i="0" u="none" strike="noStrike" kern="1200" dirty="0">
                <a:solidFill>
                  <a:schemeClr val="tx1"/>
                </a:solidFill>
                <a:latin typeface="+mn-lt"/>
                <a:ea typeface="+mn-ea"/>
                <a:cs typeface="+mn-cs"/>
                <a:sym typeface="Arial"/>
              </a:rPr>
              <a:t>), their models not only yield better predictive performance than but also multiple orders of magnitude faster than the state-of-the-art deep neural network models.</a:t>
            </a:r>
            <a:endParaRPr lang="en-US" sz="2000" kern="1200"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2000" kern="1200" dirty="0">
              <a:solidFill>
                <a:schemeClr val="tx1"/>
              </a:solidFill>
              <a:latin typeface="+mn-lt"/>
              <a:ea typeface="+mn-ea"/>
              <a:cs typeface="+mn-cs"/>
              <a:sym typeface="Arial"/>
            </a:endParaRPr>
          </a:p>
          <a:p>
            <a:pPr marL="0" marR="0" lvl="0" indent="-228600">
              <a:lnSpc>
                <a:spcPct val="90000"/>
              </a:lnSpc>
              <a:spcBef>
                <a:spcPts val="0"/>
              </a:spcBef>
              <a:spcAft>
                <a:spcPts val="600"/>
              </a:spcAft>
              <a:buFont typeface="Arial" panose="020B0604020202020204" pitchFamily="34" charset="0"/>
              <a:buChar char="•"/>
            </a:pPr>
            <a:endParaRPr lang="en-US" sz="2000" kern="1200" dirty="0">
              <a:solidFill>
                <a:schemeClr val="tx1"/>
              </a:solidFill>
              <a:latin typeface="+mn-lt"/>
              <a:ea typeface="+mn-ea"/>
              <a:cs typeface="+mn-cs"/>
              <a:sym typeface="Calibri"/>
            </a:endParaRPr>
          </a:p>
        </p:txBody>
      </p:sp>
      <p:sp>
        <p:nvSpPr>
          <p:cNvPr id="334" name="Google Shape;334;p30"/>
          <p:cNvSpPr txBox="1">
            <a:spLocks noGrp="1"/>
          </p:cNvSpPr>
          <p:nvPr>
            <p:ph type="sldNum" idx="12"/>
          </p:nvPr>
        </p:nvSpPr>
        <p:spPr>
          <a:xfrm>
            <a:off x="8610600" y="6492240"/>
            <a:ext cx="2743200" cy="365125"/>
          </a:xfrm>
          <a:prstGeom prst="rect">
            <a:avLst/>
          </a:prstGeom>
        </p:spPr>
        <p:txBody>
          <a:bodyPr spcFirstLastPara="1" vert="horz" lIns="91440" tIns="45720" rIns="91440" bIns="45720" rtlCol="0" anchor="ctr" anchorCtr="0">
            <a:normAutofit/>
          </a:bodyPr>
          <a:lstStyle/>
          <a:p>
            <a:pPr lvl="0" indent="0">
              <a:spcBef>
                <a:spcPts val="0"/>
              </a:spcBef>
              <a:spcAft>
                <a:spcPts val="600"/>
              </a:spcAft>
              <a:buNone/>
            </a:pPr>
            <a:fld id="{00000000-1234-1234-1234-123412341234}" type="slidenum">
              <a:rPr lang="en-US" kern="1200">
                <a:solidFill>
                  <a:schemeClr val="tx1">
                    <a:tint val="75000"/>
                  </a:schemeClr>
                </a:solidFill>
                <a:latin typeface="+mn-lt"/>
                <a:ea typeface="+mn-ea"/>
                <a:cs typeface="+mn-cs"/>
              </a:rPr>
              <a:pPr lvl="0" indent="0">
                <a:spcBef>
                  <a:spcPts val="0"/>
                </a:spcBef>
                <a:spcAft>
                  <a:spcPts val="600"/>
                </a:spcAft>
                <a:buNone/>
              </a:pPr>
              <a:t>61</a:t>
            </a:fld>
            <a:endParaRPr lang="en-US" kern="1200">
              <a:solidFill>
                <a:schemeClr val="tx1">
                  <a:tint val="75000"/>
                </a:schemeClr>
              </a:solidFill>
              <a:latin typeface="+mn-lt"/>
              <a:ea typeface="+mn-ea"/>
              <a:cs typeface="+mn-cs"/>
            </a:endParaRPr>
          </a:p>
        </p:txBody>
      </p:sp>
      <p:graphicFrame>
        <p:nvGraphicFramePr>
          <p:cNvPr id="3" name="Table 2">
            <a:extLst>
              <a:ext uri="{FF2B5EF4-FFF2-40B4-BE49-F238E27FC236}">
                <a16:creationId xmlns:a16="http://schemas.microsoft.com/office/drawing/2014/main" id="{D2FE2274-A562-5C89-AE7A-5AC86BA7D499}"/>
              </a:ext>
            </a:extLst>
          </p:cNvPr>
          <p:cNvGraphicFramePr>
            <a:graphicFrameLocks noGrp="1"/>
          </p:cNvGraphicFramePr>
          <p:nvPr>
            <p:extLst>
              <p:ext uri="{D42A27DB-BD31-4B8C-83A1-F6EECF244321}">
                <p14:modId xmlns:p14="http://schemas.microsoft.com/office/powerpoint/2010/main" val="300721451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Modeling: Debate(Local and Global model)</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Evaluation</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62</a:t>
            </a:fld>
            <a:endParaRPr/>
          </a:p>
        </p:txBody>
      </p:sp>
      <p:graphicFrame>
        <p:nvGraphicFramePr>
          <p:cNvPr id="2" name="Table 1">
            <a:extLst>
              <a:ext uri="{FF2B5EF4-FFF2-40B4-BE49-F238E27FC236}">
                <a16:creationId xmlns:a16="http://schemas.microsoft.com/office/drawing/2014/main" id="{D7C2F98A-F66E-71A7-B7B2-D99F2A7D9CCC}"/>
              </a:ext>
            </a:extLst>
          </p:cNvPr>
          <p:cNvGraphicFramePr>
            <a:graphicFrameLocks noGrp="1"/>
          </p:cNvGraphicFramePr>
          <p:nvPr>
            <p:extLst>
              <p:ext uri="{D42A27DB-BD31-4B8C-83A1-F6EECF244321}">
                <p14:modId xmlns:p14="http://schemas.microsoft.com/office/powerpoint/2010/main" val="2946427682"/>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Evaluation </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Defect Proneness Prediction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8599202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1"/>
          <p:cNvSpPr txBox="1">
            <a:spLocks noGrp="1"/>
          </p:cNvSpPr>
          <p:nvPr>
            <p:ph type="title"/>
          </p:nvPr>
        </p:nvSpPr>
        <p:spPr>
          <a:xfrm>
            <a:off x="25088" y="510390"/>
            <a:ext cx="10515600" cy="62622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Evaluation: Defect Proneness Prediction</a:t>
            </a:r>
            <a:endParaRPr dirty="0"/>
          </a:p>
        </p:txBody>
      </p:sp>
      <p:sp>
        <p:nvSpPr>
          <p:cNvPr id="341" name="Google Shape;341;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63</a:t>
            </a:fld>
            <a:endParaRPr/>
          </a:p>
        </p:txBody>
      </p:sp>
      <p:sp>
        <p:nvSpPr>
          <p:cNvPr id="342" name="Google Shape;342;p31"/>
          <p:cNvSpPr txBox="1">
            <a:spLocks noGrp="1"/>
          </p:cNvSpPr>
          <p:nvPr>
            <p:ph type="body" idx="1"/>
          </p:nvPr>
        </p:nvSpPr>
        <p:spPr>
          <a:xfrm>
            <a:off x="838200" y="1151374"/>
            <a:ext cx="4444688"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800"/>
              <a:buNone/>
            </a:pPr>
            <a:r>
              <a:rPr lang="en-US" sz="1800" b="0" i="0" u="none" strike="noStrike" dirty="0">
                <a:latin typeface="Arial"/>
                <a:ea typeface="Arial"/>
                <a:cs typeface="Arial"/>
                <a:sym typeface="Arial"/>
              </a:rPr>
              <a:t>The dependent variable in JIT-SDP is usually defect proneness, the evaluation criteria is usually for binary classification:</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Accuracy</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Recall</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Precision</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F-measure (</a:t>
            </a:r>
            <a:r>
              <a:rPr lang="en-US" sz="1800" b="0" i="0" u="none" strike="noStrike" dirty="0">
                <a:latin typeface="Arial"/>
                <a:ea typeface="Arial"/>
                <a:cs typeface="Arial"/>
                <a:sym typeface="Arial"/>
              </a:rPr>
              <a:t>F1 or F2 score</a:t>
            </a:r>
            <a:r>
              <a:rPr lang="en-US" sz="1800" dirty="0">
                <a:latin typeface="Arial"/>
                <a:ea typeface="Arial"/>
                <a:cs typeface="Arial"/>
                <a:sym typeface="Arial"/>
              </a:rPr>
              <a:t>)</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Confusion matrix</a:t>
            </a:r>
            <a:endParaRPr dirty="0"/>
          </a:p>
          <a:p>
            <a:pPr marL="228600" lvl="0" indent="-228600" algn="l" rtl="0">
              <a:lnSpc>
                <a:spcPct val="90000"/>
              </a:lnSpc>
              <a:spcBef>
                <a:spcPts val="1000"/>
              </a:spcBef>
              <a:spcAft>
                <a:spcPts val="0"/>
              </a:spcAft>
              <a:buClr>
                <a:schemeClr val="dk1"/>
              </a:buClr>
              <a:buSzPts val="1800"/>
              <a:buFont typeface="Noto Sans Symbols"/>
              <a:buChar char="▪"/>
            </a:pPr>
            <a:r>
              <a:rPr lang="en-US" sz="1800" dirty="0">
                <a:latin typeface="Arial"/>
                <a:ea typeface="Arial"/>
                <a:cs typeface="Arial"/>
                <a:sym typeface="Arial"/>
              </a:rPr>
              <a:t>AUC-ROC: Area Under the Receiver Operating Characteristics</a:t>
            </a:r>
            <a:endParaRPr dirty="0"/>
          </a:p>
        </p:txBody>
      </p:sp>
      <p:pic>
        <p:nvPicPr>
          <p:cNvPr id="343" name="Google Shape;343;p31"/>
          <p:cNvPicPr preferRelativeResize="0"/>
          <p:nvPr/>
        </p:nvPicPr>
        <p:blipFill rotWithShape="1">
          <a:blip r:embed="rId3">
            <a:alphaModFix/>
          </a:blip>
          <a:srcRect/>
          <a:stretch/>
        </p:blipFill>
        <p:spPr>
          <a:xfrm>
            <a:off x="5373256" y="1063005"/>
            <a:ext cx="2551545" cy="645219"/>
          </a:xfrm>
          <a:prstGeom prst="rect">
            <a:avLst/>
          </a:prstGeom>
          <a:noFill/>
          <a:ln>
            <a:noFill/>
          </a:ln>
        </p:spPr>
      </p:pic>
      <p:pic>
        <p:nvPicPr>
          <p:cNvPr id="344" name="Google Shape;344;p31"/>
          <p:cNvPicPr preferRelativeResize="0"/>
          <p:nvPr/>
        </p:nvPicPr>
        <p:blipFill rotWithShape="1">
          <a:blip r:embed="rId4">
            <a:alphaModFix/>
          </a:blip>
          <a:srcRect/>
          <a:stretch/>
        </p:blipFill>
        <p:spPr>
          <a:xfrm>
            <a:off x="9972141" y="954080"/>
            <a:ext cx="2187862" cy="843512"/>
          </a:xfrm>
          <a:prstGeom prst="rect">
            <a:avLst/>
          </a:prstGeom>
          <a:noFill/>
          <a:ln>
            <a:noFill/>
          </a:ln>
        </p:spPr>
      </p:pic>
      <p:pic>
        <p:nvPicPr>
          <p:cNvPr id="345" name="Google Shape;345;p31"/>
          <p:cNvPicPr preferRelativeResize="0"/>
          <p:nvPr/>
        </p:nvPicPr>
        <p:blipFill rotWithShape="1">
          <a:blip r:embed="rId5">
            <a:alphaModFix/>
          </a:blip>
          <a:srcRect/>
          <a:stretch/>
        </p:blipFill>
        <p:spPr>
          <a:xfrm>
            <a:off x="8118784" y="983091"/>
            <a:ext cx="1762989" cy="785491"/>
          </a:xfrm>
          <a:prstGeom prst="rect">
            <a:avLst/>
          </a:prstGeom>
          <a:noFill/>
          <a:ln>
            <a:noFill/>
          </a:ln>
        </p:spPr>
      </p:pic>
      <p:pic>
        <p:nvPicPr>
          <p:cNvPr id="346" name="Google Shape;346;p31"/>
          <p:cNvPicPr preferRelativeResize="0"/>
          <p:nvPr/>
        </p:nvPicPr>
        <p:blipFill rotWithShape="1">
          <a:blip r:embed="rId6">
            <a:alphaModFix/>
          </a:blip>
          <a:srcRect/>
          <a:stretch/>
        </p:blipFill>
        <p:spPr>
          <a:xfrm>
            <a:off x="8511887" y="1761655"/>
            <a:ext cx="2841913" cy="700312"/>
          </a:xfrm>
          <a:prstGeom prst="rect">
            <a:avLst/>
          </a:prstGeom>
          <a:noFill/>
          <a:ln>
            <a:noFill/>
          </a:ln>
        </p:spPr>
      </p:pic>
      <p:pic>
        <p:nvPicPr>
          <p:cNvPr id="347" name="Google Shape;347;p31"/>
          <p:cNvPicPr preferRelativeResize="0"/>
          <p:nvPr/>
        </p:nvPicPr>
        <p:blipFill rotWithShape="1">
          <a:blip r:embed="rId7">
            <a:alphaModFix/>
          </a:blip>
          <a:srcRect/>
          <a:stretch/>
        </p:blipFill>
        <p:spPr>
          <a:xfrm>
            <a:off x="6177174" y="2461967"/>
            <a:ext cx="3057020" cy="2167535"/>
          </a:xfrm>
          <a:prstGeom prst="rect">
            <a:avLst/>
          </a:prstGeom>
          <a:noFill/>
          <a:ln>
            <a:noFill/>
          </a:ln>
        </p:spPr>
      </p:pic>
      <p:pic>
        <p:nvPicPr>
          <p:cNvPr id="348" name="Google Shape;348;p31"/>
          <p:cNvPicPr preferRelativeResize="0"/>
          <p:nvPr/>
        </p:nvPicPr>
        <p:blipFill rotWithShape="1">
          <a:blip r:embed="rId8">
            <a:alphaModFix/>
          </a:blip>
          <a:srcRect/>
          <a:stretch/>
        </p:blipFill>
        <p:spPr>
          <a:xfrm>
            <a:off x="1493735" y="4389727"/>
            <a:ext cx="2162983" cy="1966623"/>
          </a:xfrm>
          <a:prstGeom prst="rect">
            <a:avLst/>
          </a:prstGeom>
          <a:noFill/>
          <a:ln>
            <a:noFill/>
          </a:ln>
        </p:spPr>
      </p:pic>
      <p:pic>
        <p:nvPicPr>
          <p:cNvPr id="349" name="Google Shape;349;p31"/>
          <p:cNvPicPr preferRelativeResize="0"/>
          <p:nvPr/>
        </p:nvPicPr>
        <p:blipFill rotWithShape="1">
          <a:blip r:embed="rId9">
            <a:alphaModFix/>
          </a:blip>
          <a:srcRect/>
          <a:stretch/>
        </p:blipFill>
        <p:spPr>
          <a:xfrm>
            <a:off x="6622476" y="5039813"/>
            <a:ext cx="2992615" cy="1044431"/>
          </a:xfrm>
          <a:prstGeom prst="rect">
            <a:avLst/>
          </a:prstGeom>
          <a:noFill/>
          <a:ln>
            <a:noFill/>
          </a:ln>
        </p:spPr>
      </p:pic>
      <p:sp>
        <p:nvSpPr>
          <p:cNvPr id="350" name="Google Shape;350;p31"/>
          <p:cNvSpPr txBox="1"/>
          <p:nvPr/>
        </p:nvSpPr>
        <p:spPr>
          <a:xfrm>
            <a:off x="193640" y="6261926"/>
            <a:ext cx="435032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Calibri"/>
                <a:ea typeface="Calibri"/>
                <a:cs typeface="Calibri"/>
                <a:sym typeface="Calibri"/>
              </a:rPr>
              <a:t>Source1: </a:t>
            </a:r>
            <a:r>
              <a:rPr lang="en-US" sz="900" u="sng">
                <a:solidFill>
                  <a:schemeClr val="dk1"/>
                </a:solidFill>
                <a:latin typeface="Calibri"/>
                <a:ea typeface="Calibri"/>
                <a:cs typeface="Calibri"/>
                <a:sym typeface="Calibri"/>
                <a:hlinkClick r:id="rId10">
                  <a:extLst>
                    <a:ext uri="{A12FA001-AC4F-418D-AE19-62706E023703}">
                      <ahyp:hlinkClr xmlns:ahyp="http://schemas.microsoft.com/office/drawing/2018/hyperlinkcolor" val="tx"/>
                    </a:ext>
                  </a:extLst>
                </a:hlinkClick>
              </a:rPr>
              <a:t>accuracy recall precision f1 score – Bing</a:t>
            </a: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US" sz="900">
                <a:solidFill>
                  <a:schemeClr val="dk1"/>
                </a:solidFill>
                <a:latin typeface="Calibri"/>
                <a:ea typeface="Calibri"/>
                <a:cs typeface="Calibri"/>
                <a:sym typeface="Calibri"/>
              </a:rPr>
              <a:t>Source2: </a:t>
            </a:r>
            <a:r>
              <a:rPr lang="en-US" sz="900" u="sng">
                <a:solidFill>
                  <a:schemeClr val="dk1"/>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Understanding AUC - ROC Curve | by Sarang Narkhede | Towards Data Science</a:t>
            </a: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US" sz="900">
                <a:solidFill>
                  <a:schemeClr val="dk1"/>
                </a:solidFill>
                <a:latin typeface="Calibri"/>
                <a:ea typeface="Calibri"/>
                <a:cs typeface="Calibri"/>
                <a:sym typeface="Calibri"/>
              </a:rPr>
              <a:t>Source 3: </a:t>
            </a:r>
            <a:r>
              <a:rPr lang="en-US" sz="900" u="sng">
                <a:solidFill>
                  <a:schemeClr val="dk1"/>
                </a:solidFill>
                <a:latin typeface="Calibri"/>
                <a:ea typeface="Calibri"/>
                <a:cs typeface="Calibri"/>
                <a:sym typeface="Calibri"/>
                <a:hlinkClick r:id="rId11">
                  <a:extLst>
                    <a:ext uri="{A12FA001-AC4F-418D-AE19-62706E023703}">
                      <ahyp:hlinkClr xmlns:ahyp="http://schemas.microsoft.com/office/drawing/2018/hyperlinkcolor" val="tx"/>
                    </a:ext>
                  </a:extLst>
                </a:hlinkClick>
              </a:rPr>
              <a:t>Understanding AUC - ROC Curve | by Sarang Narkhede | Towards Data Science</a:t>
            </a:r>
            <a:endParaRPr sz="900">
              <a:solidFill>
                <a:schemeClr val="dk1"/>
              </a:solidFill>
              <a:latin typeface="Calibri"/>
              <a:ea typeface="Calibri"/>
              <a:cs typeface="Calibri"/>
              <a:sym typeface="Calibri"/>
            </a:endParaRPr>
          </a:p>
          <a:p>
            <a:pPr marL="0" marR="0" lvl="0" indent="0" algn="l" rtl="0">
              <a:spcBef>
                <a:spcPts val="0"/>
              </a:spcBef>
              <a:spcAft>
                <a:spcPts val="0"/>
              </a:spcAft>
              <a:buNone/>
            </a:pPr>
            <a:r>
              <a:rPr lang="en-US" sz="900">
                <a:solidFill>
                  <a:schemeClr val="dk1"/>
                </a:solidFill>
                <a:latin typeface="Calibri"/>
                <a:ea typeface="Calibri"/>
                <a:cs typeface="Calibri"/>
                <a:sym typeface="Calibri"/>
              </a:rPr>
              <a:t>Source 4: </a:t>
            </a:r>
            <a:r>
              <a:rPr lang="en-US" sz="900" u="sng">
                <a:solidFill>
                  <a:schemeClr val="dk1"/>
                </a:solidFill>
                <a:latin typeface="Calibri"/>
                <a:ea typeface="Calibri"/>
                <a:cs typeface="Calibri"/>
                <a:sym typeface="Calibri"/>
                <a:hlinkClick r:id="rId12">
                  <a:extLst>
                    <a:ext uri="{A12FA001-AC4F-418D-AE19-62706E023703}">
                      <ahyp:hlinkClr xmlns:ahyp="http://schemas.microsoft.com/office/drawing/2018/hyperlinkcolor" val="tx"/>
                    </a:ext>
                  </a:extLst>
                </a:hlinkClick>
              </a:rPr>
              <a:t>Receiver operating characteristic - Wikipedia</a:t>
            </a:r>
            <a:endParaRPr sz="90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30487F44-00DE-5C27-094C-22DA000CA45E}"/>
              </a:ext>
            </a:extLst>
          </p:cNvPr>
          <p:cNvGraphicFramePr>
            <a:graphicFrameLocks noGrp="1"/>
          </p:cNvGraphicFramePr>
          <p:nvPr>
            <p:extLst>
              <p:ext uri="{D42A27DB-BD31-4B8C-83A1-F6EECF244321}">
                <p14:modId xmlns:p14="http://schemas.microsoft.com/office/powerpoint/2010/main" val="2442359047"/>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Defect Proneness Prediction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Effort-Aware Defect Prediction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32"/>
          <p:cNvSpPr txBox="1">
            <a:spLocks noGrp="1"/>
          </p:cNvSpPr>
          <p:nvPr>
            <p:ph type="title"/>
          </p:nvPr>
        </p:nvSpPr>
        <p:spPr>
          <a:xfrm>
            <a:off x="0" y="612634"/>
            <a:ext cx="10515600" cy="51816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Evaluation: Effort-Aware Defect Prediction</a:t>
            </a:r>
            <a:endParaRPr dirty="0"/>
          </a:p>
        </p:txBody>
      </p:sp>
      <p:sp>
        <p:nvSpPr>
          <p:cNvPr id="356" name="Google Shape;356;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64</a:t>
            </a:fld>
            <a:endParaRPr/>
          </a:p>
        </p:txBody>
      </p:sp>
      <p:pic>
        <p:nvPicPr>
          <p:cNvPr id="357" name="Google Shape;357;p32"/>
          <p:cNvPicPr preferRelativeResize="0"/>
          <p:nvPr/>
        </p:nvPicPr>
        <p:blipFill rotWithShape="1">
          <a:blip r:embed="rId3">
            <a:alphaModFix/>
          </a:blip>
          <a:srcRect/>
          <a:stretch/>
        </p:blipFill>
        <p:spPr>
          <a:xfrm>
            <a:off x="3454400" y="1217118"/>
            <a:ext cx="8140935" cy="365125"/>
          </a:xfrm>
          <a:prstGeom prst="rect">
            <a:avLst/>
          </a:prstGeom>
          <a:noFill/>
          <a:ln>
            <a:noFill/>
          </a:ln>
        </p:spPr>
      </p:pic>
      <p:pic>
        <p:nvPicPr>
          <p:cNvPr id="358" name="Google Shape;358;p32"/>
          <p:cNvPicPr preferRelativeResize="0"/>
          <p:nvPr/>
        </p:nvPicPr>
        <p:blipFill rotWithShape="1">
          <a:blip r:embed="rId4">
            <a:alphaModFix/>
          </a:blip>
          <a:srcRect/>
          <a:stretch/>
        </p:blipFill>
        <p:spPr>
          <a:xfrm>
            <a:off x="3317061" y="2240395"/>
            <a:ext cx="8874939" cy="1318173"/>
          </a:xfrm>
          <a:prstGeom prst="rect">
            <a:avLst/>
          </a:prstGeom>
          <a:noFill/>
          <a:ln>
            <a:noFill/>
          </a:ln>
        </p:spPr>
      </p:pic>
      <p:pic>
        <p:nvPicPr>
          <p:cNvPr id="359" name="Google Shape;359;p32"/>
          <p:cNvPicPr preferRelativeResize="0"/>
          <p:nvPr/>
        </p:nvPicPr>
        <p:blipFill rotWithShape="1">
          <a:blip r:embed="rId5">
            <a:alphaModFix/>
          </a:blip>
          <a:srcRect/>
          <a:stretch/>
        </p:blipFill>
        <p:spPr>
          <a:xfrm>
            <a:off x="96115" y="1582243"/>
            <a:ext cx="9139237" cy="5436726"/>
          </a:xfrm>
          <a:prstGeom prst="rect">
            <a:avLst/>
          </a:prstGeom>
          <a:noFill/>
          <a:ln>
            <a:noFill/>
          </a:ln>
        </p:spPr>
      </p:pic>
      <p:pic>
        <p:nvPicPr>
          <p:cNvPr id="360" name="Google Shape;360;p32"/>
          <p:cNvPicPr preferRelativeResize="0"/>
          <p:nvPr/>
        </p:nvPicPr>
        <p:blipFill rotWithShape="1">
          <a:blip r:embed="rId6">
            <a:alphaModFix/>
          </a:blip>
          <a:srcRect/>
          <a:stretch/>
        </p:blipFill>
        <p:spPr>
          <a:xfrm>
            <a:off x="6163832" y="3923693"/>
            <a:ext cx="5869708" cy="1645297"/>
          </a:xfrm>
          <a:prstGeom prst="rect">
            <a:avLst/>
          </a:prstGeom>
          <a:noFill/>
          <a:ln>
            <a:noFill/>
          </a:ln>
        </p:spPr>
      </p:pic>
      <p:graphicFrame>
        <p:nvGraphicFramePr>
          <p:cNvPr id="2" name="Table 1">
            <a:extLst>
              <a:ext uri="{FF2B5EF4-FFF2-40B4-BE49-F238E27FC236}">
                <a16:creationId xmlns:a16="http://schemas.microsoft.com/office/drawing/2014/main" id="{0E99D908-A01B-9F6E-E4C0-3B14A9438162}"/>
              </a:ext>
            </a:extLst>
          </p:cNvPr>
          <p:cNvGraphicFramePr>
            <a:graphicFrameLocks noGrp="1"/>
          </p:cNvGraphicFramePr>
          <p:nvPr>
            <p:extLst>
              <p:ext uri="{D42A27DB-BD31-4B8C-83A1-F6EECF244321}">
                <p14:modId xmlns:p14="http://schemas.microsoft.com/office/powerpoint/2010/main" val="1653609703"/>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Effort-Aware Defect Prediction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Evaluation Settings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34"/>
          <p:cNvSpPr txBox="1">
            <a:spLocks noGrp="1"/>
          </p:cNvSpPr>
          <p:nvPr>
            <p:ph type="title"/>
          </p:nvPr>
        </p:nvSpPr>
        <p:spPr>
          <a:xfrm>
            <a:off x="0" y="563645"/>
            <a:ext cx="11970327" cy="44132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br>
              <a:rPr lang="en-US" dirty="0">
                <a:latin typeface="Calibri"/>
                <a:ea typeface="Calibri"/>
                <a:cs typeface="Calibri"/>
                <a:sym typeface="Calibri"/>
              </a:rPr>
            </a:br>
            <a:r>
              <a:rPr lang="en-US" dirty="0">
                <a:latin typeface="Calibri"/>
                <a:ea typeface="Calibri"/>
                <a:cs typeface="Calibri"/>
                <a:sym typeface="Calibri"/>
              </a:rPr>
              <a:t>Evaluation: Validation Strategies and Evaluation Settings</a:t>
            </a:r>
            <a:br>
              <a:rPr lang="en-US" dirty="0">
                <a:latin typeface="Calibri"/>
                <a:ea typeface="Calibri"/>
                <a:cs typeface="Calibri"/>
                <a:sym typeface="Calibri"/>
              </a:rPr>
            </a:br>
            <a:endParaRPr lang="en-US" dirty="0">
              <a:latin typeface="Calibri"/>
              <a:ea typeface="Calibri"/>
              <a:cs typeface="Calibri"/>
              <a:sym typeface="Calibri"/>
            </a:endParaRPr>
          </a:p>
        </p:txBody>
      </p:sp>
      <p:sp>
        <p:nvSpPr>
          <p:cNvPr id="374" name="Google Shape;374;p34"/>
          <p:cNvSpPr txBox="1">
            <a:spLocks noGrp="1"/>
          </p:cNvSpPr>
          <p:nvPr>
            <p:ph type="body" idx="1"/>
          </p:nvPr>
        </p:nvSpPr>
        <p:spPr>
          <a:xfrm>
            <a:off x="341745" y="1020113"/>
            <a:ext cx="11196782" cy="329397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Time insensitive: </a:t>
            </a:r>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k-fold cross validation, leave-one-out evaluation, the bootstrap validation</a:t>
            </a:r>
            <a:endParaRPr lang="en-US" dirty="0"/>
          </a:p>
          <a:p>
            <a:pPr marL="228600" lvl="0" indent="-228600" algn="l" rtl="0">
              <a:lnSpc>
                <a:spcPct val="90000"/>
              </a:lnSpc>
              <a:spcBef>
                <a:spcPts val="1000"/>
              </a:spcBef>
              <a:spcAft>
                <a:spcPts val="0"/>
              </a:spcAft>
              <a:buClr>
                <a:schemeClr val="dk1"/>
              </a:buClr>
              <a:buSzPts val="1800"/>
              <a:buChar char="•"/>
            </a:pPr>
            <a:r>
              <a:rPr lang="en-US" sz="1800" b="0" i="0" u="none" strike="noStrike" dirty="0">
                <a:latin typeface="Arial"/>
                <a:ea typeface="Arial"/>
                <a:cs typeface="Arial"/>
                <a:sym typeface="Arial"/>
              </a:rPr>
              <a:t>suitable for the batch learning JIT-SDP models</a:t>
            </a:r>
            <a:endParaRPr lang="en-US" dirty="0"/>
          </a:p>
          <a:p>
            <a:pPr marL="0" lvl="0" indent="0" algn="l" rtl="0">
              <a:lnSpc>
                <a:spcPct val="90000"/>
              </a:lnSpc>
              <a:spcBef>
                <a:spcPts val="1000"/>
              </a:spcBef>
              <a:spcAft>
                <a:spcPts val="0"/>
              </a:spcAft>
              <a:buClr>
                <a:schemeClr val="dk1"/>
              </a:buClr>
              <a:buSzPts val="1800"/>
              <a:buNone/>
            </a:pPr>
            <a:r>
              <a:rPr lang="en-US" sz="1800" dirty="0">
                <a:latin typeface="Arial"/>
                <a:ea typeface="Arial"/>
                <a:cs typeface="Arial"/>
                <a:sym typeface="Arial"/>
              </a:rPr>
              <a:t>Assumption: </a:t>
            </a:r>
            <a:r>
              <a:rPr lang="en-US" sz="1800" b="0" i="0" u="none" strike="noStrike" dirty="0">
                <a:latin typeface="Arial"/>
                <a:ea typeface="Arial"/>
                <a:cs typeface="Arial"/>
                <a:sym typeface="Arial"/>
              </a:rPr>
              <a:t>data instances are independent               Problem: software changes are inter-dependent</a:t>
            </a:r>
            <a:endParaRPr lang="en-US" dirty="0"/>
          </a:p>
          <a:p>
            <a:pPr marL="228600" lvl="0" indent="-228600" algn="l" rtl="0">
              <a:lnSpc>
                <a:spcPct val="90000"/>
              </a:lnSpc>
              <a:spcBef>
                <a:spcPts val="1000"/>
              </a:spcBef>
              <a:spcAft>
                <a:spcPts val="0"/>
              </a:spcAft>
              <a:buClr>
                <a:schemeClr val="dk1"/>
              </a:buClr>
              <a:buSzPts val="2800"/>
              <a:buChar char="•"/>
            </a:pPr>
            <a:r>
              <a:rPr lang="en-US" dirty="0"/>
              <a:t>Time sensitive</a:t>
            </a:r>
          </a:p>
          <a:p>
            <a:pPr marL="0" lvl="0" indent="0" algn="l" rtl="0">
              <a:lnSpc>
                <a:spcPct val="90000"/>
              </a:lnSpc>
              <a:spcBef>
                <a:spcPts val="1000"/>
              </a:spcBef>
              <a:spcAft>
                <a:spcPts val="0"/>
              </a:spcAft>
              <a:buClr>
                <a:schemeClr val="dk1"/>
              </a:buClr>
              <a:buSzPts val="1800"/>
              <a:buNone/>
            </a:pPr>
            <a:r>
              <a:rPr lang="en-US" sz="1800" b="1" i="0" u="none" strike="noStrike" dirty="0">
                <a:latin typeface="Arial"/>
                <a:ea typeface="Arial"/>
                <a:cs typeface="Arial"/>
                <a:sym typeface="Arial"/>
              </a:rPr>
              <a:t>Note</a:t>
            </a:r>
            <a:r>
              <a:rPr lang="en-US" sz="1800" b="0" i="0" u="none" strike="noStrike" dirty="0">
                <a:latin typeface="Arial"/>
                <a:ea typeface="Arial"/>
                <a:cs typeface="Arial"/>
                <a:sym typeface="Arial"/>
              </a:rPr>
              <a:t>: </a:t>
            </a:r>
            <a:r>
              <a:rPr lang="en-US" sz="1800" dirty="0">
                <a:latin typeface="Arial"/>
                <a:ea typeface="Arial"/>
                <a:cs typeface="Arial"/>
                <a:sym typeface="Arial"/>
              </a:rPr>
              <a:t>Verification latency and concept drift exist. </a:t>
            </a:r>
          </a:p>
          <a:p>
            <a:pPr marL="0" lvl="0" indent="0" algn="l" rtl="0">
              <a:lnSpc>
                <a:spcPct val="90000"/>
              </a:lnSpc>
              <a:spcBef>
                <a:spcPts val="1000"/>
              </a:spcBef>
              <a:spcAft>
                <a:spcPts val="0"/>
              </a:spcAft>
              <a:buClr>
                <a:schemeClr val="dk1"/>
              </a:buClr>
              <a:buSzPts val="1800"/>
              <a:buNone/>
            </a:pPr>
            <a:r>
              <a:rPr lang="en-US" sz="1800" dirty="0">
                <a:latin typeface="Arial"/>
                <a:ea typeface="Arial"/>
                <a:cs typeface="Arial"/>
                <a:sym typeface="Arial"/>
              </a:rPr>
              <a:t>S</a:t>
            </a:r>
            <a:r>
              <a:rPr lang="en-US" sz="1800" b="0" i="0" u="none" strike="noStrike" dirty="0">
                <a:latin typeface="Arial"/>
                <a:ea typeface="Arial"/>
                <a:cs typeface="Arial"/>
                <a:sym typeface="Arial"/>
              </a:rPr>
              <a:t>everal studies suggest that software projects exhibit temporal variances in their defect characteristics, and recommend evaluations that differentiate a short-period or a long-period prediction in the context of JIT-SDP</a:t>
            </a:r>
            <a:endParaRPr lang="en-US" dirty="0"/>
          </a:p>
        </p:txBody>
      </p:sp>
      <p:sp>
        <p:nvSpPr>
          <p:cNvPr id="375" name="Google Shape;375;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mtClean="0"/>
              <a:t>65</a:t>
            </a:fld>
            <a:endParaRPr lang="en-US"/>
          </a:p>
        </p:txBody>
      </p:sp>
      <p:sp>
        <p:nvSpPr>
          <p:cNvPr id="376" name="Google Shape;376;p34"/>
          <p:cNvSpPr/>
          <p:nvPr/>
        </p:nvSpPr>
        <p:spPr>
          <a:xfrm>
            <a:off x="5376630" y="2375167"/>
            <a:ext cx="332509" cy="10160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 name="Google Shape;366;p33">
            <a:extLst>
              <a:ext uri="{FF2B5EF4-FFF2-40B4-BE49-F238E27FC236}">
                <a16:creationId xmlns:a16="http://schemas.microsoft.com/office/drawing/2014/main" id="{AE07ED8E-C7DA-5450-2890-2A48D0B4EF19}"/>
              </a:ext>
            </a:extLst>
          </p:cNvPr>
          <p:cNvSpPr txBox="1">
            <a:spLocks/>
          </p:cNvSpPr>
          <p:nvPr/>
        </p:nvSpPr>
        <p:spPr>
          <a:xfrm>
            <a:off x="426117" y="4091355"/>
            <a:ext cx="10019145" cy="3938953"/>
          </a:xfrm>
          <a:prstGeom prst="rect">
            <a:avLst/>
          </a:prstGeom>
          <a:blipFill rotWithShape="1">
            <a:blip r:embed="rId3">
              <a:alphaModFix/>
            </a:blip>
            <a:stretch>
              <a:fillRect l="-520" t="-1540" r="-56"/>
            </a:stretch>
          </a:blip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SzPts val="2800"/>
              <a:buNone/>
            </a:pPr>
            <a:r>
              <a:rPr lang="en-US" dirty="0"/>
              <a:t> </a:t>
            </a:r>
          </a:p>
        </p:txBody>
      </p:sp>
      <p:pic>
        <p:nvPicPr>
          <p:cNvPr id="3" name="Google Shape;368;p33">
            <a:extLst>
              <a:ext uri="{FF2B5EF4-FFF2-40B4-BE49-F238E27FC236}">
                <a16:creationId xmlns:a16="http://schemas.microsoft.com/office/drawing/2014/main" id="{8371A455-0200-7B7E-12AA-6BCE10C81467}"/>
              </a:ext>
            </a:extLst>
          </p:cNvPr>
          <p:cNvPicPr preferRelativeResize="0"/>
          <p:nvPr/>
        </p:nvPicPr>
        <p:blipFill rotWithShape="1">
          <a:blip r:embed="rId4">
            <a:alphaModFix/>
          </a:blip>
          <a:srcRect/>
          <a:stretch/>
        </p:blipFill>
        <p:spPr>
          <a:xfrm>
            <a:off x="674106" y="5237432"/>
            <a:ext cx="9741936" cy="416083"/>
          </a:xfrm>
          <a:prstGeom prst="rect">
            <a:avLst/>
          </a:prstGeom>
          <a:noFill/>
          <a:ln>
            <a:noFill/>
          </a:ln>
        </p:spPr>
      </p:pic>
      <p:graphicFrame>
        <p:nvGraphicFramePr>
          <p:cNvPr id="5" name="Table 4">
            <a:extLst>
              <a:ext uri="{FF2B5EF4-FFF2-40B4-BE49-F238E27FC236}">
                <a16:creationId xmlns:a16="http://schemas.microsoft.com/office/drawing/2014/main" id="{DE48262E-EEA9-477D-169B-CBB43134E0CE}"/>
              </a:ext>
            </a:extLst>
          </p:cNvPr>
          <p:cNvGraphicFramePr>
            <a:graphicFrameLocks noGrp="1"/>
          </p:cNvGraphicFramePr>
          <p:nvPr>
            <p:extLst>
              <p:ext uri="{D42A27DB-BD31-4B8C-83A1-F6EECF244321}">
                <p14:modId xmlns:p14="http://schemas.microsoft.com/office/powerpoint/2010/main" val="404226872"/>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Evaluation: Evaluation Settings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Analysis and Open Questions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66</a:t>
            </a:fld>
            <a:endParaRPr/>
          </a:p>
        </p:txBody>
      </p:sp>
      <p:graphicFrame>
        <p:nvGraphicFramePr>
          <p:cNvPr id="2" name="Table 1">
            <a:extLst>
              <a:ext uri="{FF2B5EF4-FFF2-40B4-BE49-F238E27FC236}">
                <a16:creationId xmlns:a16="http://schemas.microsoft.com/office/drawing/2014/main" id="{8E8FEC98-F579-9D64-4137-3CB41F4EAFEF}"/>
              </a:ext>
            </a:extLst>
          </p:cNvPr>
          <p:cNvGraphicFramePr>
            <a:graphicFrameLocks noGrp="1"/>
          </p:cNvGraphicFramePr>
          <p:nvPr>
            <p:extLst>
              <p:ext uri="{D42A27DB-BD31-4B8C-83A1-F6EECF244321}">
                <p14:modId xmlns:p14="http://schemas.microsoft.com/office/powerpoint/2010/main" val="2575545050"/>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Analysis and Open Questions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and Open Questions from the selected papers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3489205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80"/>
        <p:cNvGrpSpPr/>
        <p:nvPr/>
      </p:nvGrpSpPr>
      <p:grpSpPr>
        <a:xfrm>
          <a:off x="0" y="0"/>
          <a:ext cx="0" cy="0"/>
          <a:chOff x="0" y="0"/>
          <a:chExt cx="0" cy="0"/>
        </a:xfrm>
      </p:grpSpPr>
      <p:sp>
        <p:nvSpPr>
          <p:cNvPr id="381" name="Google Shape;381;p3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2" name="Google Shape;382;p3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3" name="Google Shape;383;p3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4" name="Google Shape;384;p3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85" name="Google Shape;385;p35"/>
          <p:cNvSpPr txBox="1">
            <a:spLocks noGrp="1"/>
          </p:cNvSpPr>
          <p:nvPr>
            <p:ph type="title"/>
          </p:nvPr>
        </p:nvSpPr>
        <p:spPr>
          <a:xfrm>
            <a:off x="699713" y="518160"/>
            <a:ext cx="7063721" cy="88907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dirty="0">
                <a:solidFill>
                  <a:srgbClr val="FFFFFF"/>
                </a:solidFill>
                <a:latin typeface="Calibri"/>
                <a:ea typeface="Calibri"/>
                <a:cs typeface="Calibri"/>
                <a:sym typeface="Calibri"/>
              </a:rPr>
              <a:t>ANALYSIS AND OPEN QUESTIONS</a:t>
            </a:r>
            <a:endParaRPr dirty="0"/>
          </a:p>
        </p:txBody>
      </p:sp>
      <p:pic>
        <p:nvPicPr>
          <p:cNvPr id="386" name="Google Shape;386;p35"/>
          <p:cNvPicPr preferRelativeResize="0"/>
          <p:nvPr/>
        </p:nvPicPr>
        <p:blipFill rotWithShape="1">
          <a:blip r:embed="rId3">
            <a:alphaModFix/>
          </a:blip>
          <a:srcRect/>
          <a:stretch/>
        </p:blipFill>
        <p:spPr>
          <a:xfrm>
            <a:off x="432223" y="2603336"/>
            <a:ext cx="11327549" cy="1982320"/>
          </a:xfrm>
          <a:prstGeom prst="rect">
            <a:avLst/>
          </a:prstGeom>
          <a:noFill/>
          <a:ln>
            <a:noFill/>
          </a:ln>
        </p:spPr>
      </p:pic>
      <p:sp>
        <p:nvSpPr>
          <p:cNvPr id="387" name="Google Shape;387;p3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67</a:t>
            </a:fld>
            <a:endParaRPr sz="1100">
              <a:solidFill>
                <a:srgbClr val="7F7F7F"/>
              </a:solidFill>
            </a:endParaRPr>
          </a:p>
        </p:txBody>
      </p:sp>
      <p:graphicFrame>
        <p:nvGraphicFramePr>
          <p:cNvPr id="2" name="Table 1">
            <a:extLst>
              <a:ext uri="{FF2B5EF4-FFF2-40B4-BE49-F238E27FC236}">
                <a16:creationId xmlns:a16="http://schemas.microsoft.com/office/drawing/2014/main" id="{4D26E237-AE66-1672-71D6-99691881C0F9}"/>
              </a:ext>
            </a:extLst>
          </p:cNvPr>
          <p:cNvGraphicFramePr>
            <a:graphicFrameLocks noGrp="1"/>
          </p:cNvGraphicFramePr>
          <p:nvPr>
            <p:extLst>
              <p:ext uri="{D42A27DB-BD31-4B8C-83A1-F6EECF244321}">
                <p14:modId xmlns:p14="http://schemas.microsoft.com/office/powerpoint/2010/main" val="2027385620"/>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and Open Questions from the selected papers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Open Questions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ANALYSIS AND OPEN QUESTIONS</a:t>
            </a:r>
            <a:endParaRPr/>
          </a:p>
        </p:txBody>
      </p:sp>
      <p:sp>
        <p:nvSpPr>
          <p:cNvPr id="393" name="Google Shape;393;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68</a:t>
            </a:fld>
            <a:endParaRPr/>
          </a:p>
        </p:txBody>
      </p:sp>
      <p:grpSp>
        <p:nvGrpSpPr>
          <p:cNvPr id="394" name="Google Shape;394;p36"/>
          <p:cNvGrpSpPr/>
          <p:nvPr/>
        </p:nvGrpSpPr>
        <p:grpSpPr>
          <a:xfrm>
            <a:off x="838200" y="1826045"/>
            <a:ext cx="10515600" cy="3447497"/>
            <a:chOff x="0" y="420"/>
            <a:chExt cx="10515600" cy="3447497"/>
          </a:xfrm>
        </p:grpSpPr>
        <p:sp>
          <p:nvSpPr>
            <p:cNvPr id="395" name="Google Shape;395;p36"/>
            <p:cNvSpPr/>
            <p:nvPr/>
          </p:nvSpPr>
          <p:spPr>
            <a:xfrm>
              <a:off x="0" y="420"/>
              <a:ext cx="10515600" cy="984999"/>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297962" y="222045"/>
              <a:ext cx="541749" cy="541749"/>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6"/>
            <p:cNvSpPr/>
            <p:nvPr/>
          </p:nvSpPr>
          <p:spPr>
            <a:xfrm>
              <a:off x="1137674" y="420"/>
              <a:ext cx="9377925" cy="9849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6"/>
            <p:cNvSpPr txBox="1"/>
            <p:nvPr/>
          </p:nvSpPr>
          <p:spPr>
            <a:xfrm>
              <a:off x="1137674" y="420"/>
              <a:ext cx="9377925" cy="984999"/>
            </a:xfrm>
            <a:prstGeom prst="rect">
              <a:avLst/>
            </a:prstGeom>
            <a:noFill/>
            <a:ln>
              <a:noFill/>
            </a:ln>
          </p:spPr>
          <p:txBody>
            <a:bodyPr spcFirstLastPara="1" wrap="square" lIns="104225" tIns="104225" rIns="104225" bIns="104225"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a:solidFill>
                    <a:schemeClr val="dk1"/>
                  </a:solidFill>
                  <a:latin typeface="Calibri"/>
                  <a:ea typeface="Calibri"/>
                  <a:cs typeface="Calibri"/>
                  <a:sym typeface="Calibri"/>
                </a:rPr>
                <a:t>How can we continue to improve defect prediction performance?</a:t>
              </a:r>
              <a:endParaRPr sz="2500">
                <a:solidFill>
                  <a:schemeClr val="dk1"/>
                </a:solidFill>
                <a:latin typeface="Calibri"/>
                <a:ea typeface="Calibri"/>
                <a:cs typeface="Calibri"/>
                <a:sym typeface="Calibri"/>
              </a:endParaRPr>
            </a:p>
          </p:txBody>
        </p:sp>
        <p:sp>
          <p:nvSpPr>
            <p:cNvPr id="399" name="Google Shape;399;p36"/>
            <p:cNvSpPr/>
            <p:nvPr/>
          </p:nvSpPr>
          <p:spPr>
            <a:xfrm>
              <a:off x="0" y="1231669"/>
              <a:ext cx="10515600" cy="984999"/>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297962" y="1453294"/>
              <a:ext cx="541749" cy="541749"/>
            </a:xfrm>
            <a:prstGeom prst="rect">
              <a:avLst/>
            </a:prstGeom>
            <a:blipFill rotWithShape="1">
              <a:blip r:embed="rId4">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6"/>
            <p:cNvSpPr/>
            <p:nvPr/>
          </p:nvSpPr>
          <p:spPr>
            <a:xfrm>
              <a:off x="1137674" y="1231669"/>
              <a:ext cx="9377925" cy="9849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6"/>
            <p:cNvSpPr txBox="1"/>
            <p:nvPr/>
          </p:nvSpPr>
          <p:spPr>
            <a:xfrm>
              <a:off x="1137674" y="1231669"/>
              <a:ext cx="9377925" cy="984999"/>
            </a:xfrm>
            <a:prstGeom prst="rect">
              <a:avLst/>
            </a:prstGeom>
            <a:noFill/>
            <a:ln>
              <a:noFill/>
            </a:ln>
          </p:spPr>
          <p:txBody>
            <a:bodyPr spcFirstLastPara="1" wrap="square" lIns="104225" tIns="104225" rIns="104225" bIns="104225"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a:solidFill>
                    <a:schemeClr val="dk1"/>
                  </a:solidFill>
                  <a:latin typeface="Calibri"/>
                  <a:ea typeface="Calibri"/>
                  <a:cs typeface="Calibri"/>
                  <a:sym typeface="Calibri"/>
                </a:rPr>
                <a:t>Need for a standard data set with greater variety of projects.</a:t>
              </a:r>
              <a:endParaRPr sz="2500">
                <a:solidFill>
                  <a:schemeClr val="dk1"/>
                </a:solidFill>
                <a:latin typeface="Calibri"/>
                <a:ea typeface="Calibri"/>
                <a:cs typeface="Calibri"/>
                <a:sym typeface="Calibri"/>
              </a:endParaRPr>
            </a:p>
          </p:txBody>
        </p:sp>
        <p:sp>
          <p:nvSpPr>
            <p:cNvPr id="403" name="Google Shape;403;p36"/>
            <p:cNvSpPr/>
            <p:nvPr/>
          </p:nvSpPr>
          <p:spPr>
            <a:xfrm>
              <a:off x="0" y="2462918"/>
              <a:ext cx="10515600" cy="984999"/>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6"/>
            <p:cNvSpPr/>
            <p:nvPr/>
          </p:nvSpPr>
          <p:spPr>
            <a:xfrm>
              <a:off x="297962" y="2684543"/>
              <a:ext cx="541749" cy="541749"/>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6"/>
            <p:cNvSpPr/>
            <p:nvPr/>
          </p:nvSpPr>
          <p:spPr>
            <a:xfrm>
              <a:off x="1137674" y="2462918"/>
              <a:ext cx="9377925" cy="984999"/>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6"/>
            <p:cNvSpPr txBox="1"/>
            <p:nvPr/>
          </p:nvSpPr>
          <p:spPr>
            <a:xfrm>
              <a:off x="1137674" y="2462918"/>
              <a:ext cx="9377925" cy="984999"/>
            </a:xfrm>
            <a:prstGeom prst="rect">
              <a:avLst/>
            </a:prstGeom>
            <a:noFill/>
            <a:ln>
              <a:noFill/>
            </a:ln>
          </p:spPr>
          <p:txBody>
            <a:bodyPr spcFirstLastPara="1" wrap="square" lIns="104225" tIns="104225" rIns="104225" bIns="104225" anchor="ctr" anchorCtr="0">
              <a:noAutofit/>
            </a:bodyPr>
            <a:lstStyle/>
            <a:p>
              <a:pPr marL="0" marR="0" lvl="0" indent="0" algn="l" rtl="0">
                <a:lnSpc>
                  <a:spcPct val="100000"/>
                </a:lnSpc>
                <a:spcBef>
                  <a:spcPts val="0"/>
                </a:spcBef>
                <a:spcAft>
                  <a:spcPts val="0"/>
                </a:spcAft>
                <a:buClr>
                  <a:schemeClr val="dk1"/>
                </a:buClr>
                <a:buSzPts val="2500"/>
                <a:buFont typeface="Calibri"/>
                <a:buNone/>
              </a:pPr>
              <a:r>
                <a:rPr lang="en-US" sz="2500" b="0" i="0">
                  <a:solidFill>
                    <a:schemeClr val="dk1"/>
                  </a:solidFill>
                  <a:latin typeface="Calibri"/>
                  <a:ea typeface="Calibri"/>
                  <a:cs typeface="Calibri"/>
                  <a:sym typeface="Calibri"/>
                </a:rPr>
                <a:t>There are several context factors that have not been reported or explored in JIT-SDP studies</a:t>
              </a:r>
              <a:endParaRPr sz="2500">
                <a:solidFill>
                  <a:schemeClr val="dk1"/>
                </a:solidFill>
                <a:latin typeface="Calibri"/>
                <a:ea typeface="Calibri"/>
                <a:cs typeface="Calibri"/>
                <a:sym typeface="Calibri"/>
              </a:endParaRPr>
            </a:p>
          </p:txBody>
        </p:sp>
      </p:grpSp>
      <p:graphicFrame>
        <p:nvGraphicFramePr>
          <p:cNvPr id="2" name="Table 1">
            <a:extLst>
              <a:ext uri="{FF2B5EF4-FFF2-40B4-BE49-F238E27FC236}">
                <a16:creationId xmlns:a16="http://schemas.microsoft.com/office/drawing/2014/main" id="{DA7B6D38-17CD-113D-7216-7D0158799ECE}"/>
              </a:ext>
            </a:extLst>
          </p:cNvPr>
          <p:cNvGraphicFramePr>
            <a:graphicFrameLocks noGrp="1"/>
          </p:cNvGraphicFramePr>
          <p:nvPr>
            <p:extLst>
              <p:ext uri="{D42A27DB-BD31-4B8C-83A1-F6EECF244321}">
                <p14:modId xmlns:p14="http://schemas.microsoft.com/office/powerpoint/2010/main" val="2508262080"/>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Open Questions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Short names of the studies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0"/>
        <p:cNvGrpSpPr/>
        <p:nvPr/>
      </p:nvGrpSpPr>
      <p:grpSpPr>
        <a:xfrm>
          <a:off x="0" y="0"/>
          <a:ext cx="0" cy="0"/>
          <a:chOff x="0" y="0"/>
          <a:chExt cx="0" cy="0"/>
        </a:xfrm>
      </p:grpSpPr>
      <p:sp>
        <p:nvSpPr>
          <p:cNvPr id="411" name="Google Shape;411;p3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2" name="Google Shape;412;p37"/>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3" name="Google Shape;413;p37"/>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4" name="Google Shape;414;p37"/>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15" name="Google Shape;415;p37"/>
          <p:cNvSpPr txBox="1">
            <a:spLocks noGrp="1"/>
          </p:cNvSpPr>
          <p:nvPr>
            <p:ph type="title"/>
          </p:nvPr>
        </p:nvSpPr>
        <p:spPr>
          <a:xfrm>
            <a:off x="699713" y="546100"/>
            <a:ext cx="9218010" cy="86113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FFFF"/>
              </a:buClr>
              <a:buSzPts val="4000"/>
              <a:buFont typeface="Calibri"/>
              <a:buNone/>
            </a:pPr>
            <a:r>
              <a:rPr lang="en-US" sz="4000" dirty="0">
                <a:solidFill>
                  <a:srgbClr val="FFFFFF"/>
                </a:solidFill>
                <a:latin typeface="Calibri"/>
                <a:ea typeface="Calibri"/>
                <a:cs typeface="Calibri"/>
                <a:sym typeface="Calibri"/>
              </a:rPr>
              <a:t>Performance of Defect Proneness Prediction</a:t>
            </a:r>
            <a:endParaRPr dirty="0"/>
          </a:p>
        </p:txBody>
      </p:sp>
      <p:pic>
        <p:nvPicPr>
          <p:cNvPr id="416" name="Google Shape;416;p37"/>
          <p:cNvPicPr preferRelativeResize="0"/>
          <p:nvPr/>
        </p:nvPicPr>
        <p:blipFill rotWithShape="1">
          <a:blip r:embed="rId3">
            <a:alphaModFix/>
          </a:blip>
          <a:srcRect/>
          <a:stretch/>
        </p:blipFill>
        <p:spPr>
          <a:xfrm>
            <a:off x="1203516" y="1966293"/>
            <a:ext cx="9784967" cy="4452160"/>
          </a:xfrm>
          <a:prstGeom prst="rect">
            <a:avLst/>
          </a:prstGeom>
          <a:noFill/>
          <a:ln>
            <a:noFill/>
          </a:ln>
        </p:spPr>
      </p:pic>
      <p:sp>
        <p:nvSpPr>
          <p:cNvPr id="417" name="Google Shape;417;p37"/>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69</a:t>
            </a:fld>
            <a:endParaRPr sz="1100">
              <a:solidFill>
                <a:srgbClr val="7F7F7F"/>
              </a:solidFill>
            </a:endParaRPr>
          </a:p>
        </p:txBody>
      </p:sp>
      <p:graphicFrame>
        <p:nvGraphicFramePr>
          <p:cNvPr id="2" name="Table 1">
            <a:extLst>
              <a:ext uri="{FF2B5EF4-FFF2-40B4-BE49-F238E27FC236}">
                <a16:creationId xmlns:a16="http://schemas.microsoft.com/office/drawing/2014/main" id="{20784A6A-9D94-8195-3284-83151FE927CD}"/>
              </a:ext>
            </a:extLst>
          </p:cNvPr>
          <p:cNvGraphicFramePr>
            <a:graphicFrameLocks noGrp="1"/>
          </p:cNvGraphicFramePr>
          <p:nvPr>
            <p:extLst>
              <p:ext uri="{D42A27DB-BD31-4B8C-83A1-F6EECF244321}">
                <p14:modId xmlns:p14="http://schemas.microsoft.com/office/powerpoint/2010/main" val="237055055"/>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9028">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Short names of the studies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Defect Proneness Prediction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1"/>
        <p:cNvGrpSpPr/>
        <p:nvPr/>
      </p:nvGrpSpPr>
      <p:grpSpPr>
        <a:xfrm>
          <a:off x="0" y="0"/>
          <a:ext cx="0" cy="0"/>
          <a:chOff x="0" y="0"/>
          <a:chExt cx="0" cy="0"/>
        </a:xfrm>
      </p:grpSpPr>
      <p:sp>
        <p:nvSpPr>
          <p:cNvPr id="422" name="Google Shape;422;p3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3" name="Google Shape;423;p38"/>
          <p:cNvSpPr/>
          <p:nvPr/>
        </p:nvSpPr>
        <p:spPr>
          <a:xfrm flipH="1">
            <a:off x="2" y="0"/>
            <a:ext cx="12191998" cy="1575955"/>
          </a:xfrm>
          <a:prstGeom prst="rect">
            <a:avLst/>
          </a:prstGeom>
          <a:gradFill>
            <a:gsLst>
              <a:gs pos="0">
                <a:srgbClr val="000000">
                  <a:alpha val="95686"/>
                </a:srgbClr>
              </a:gs>
              <a:gs pos="100000">
                <a:srgbClr val="2F5496"/>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4" name="Google Shape;424;p38"/>
          <p:cNvSpPr/>
          <p:nvPr/>
        </p:nvSpPr>
        <p:spPr>
          <a:xfrm rot="10800000" flipH="1">
            <a:off x="8128857" y="0"/>
            <a:ext cx="4063143" cy="1576412"/>
          </a:xfrm>
          <a:prstGeom prst="rect">
            <a:avLst/>
          </a:prstGeom>
          <a:gradFill>
            <a:gsLst>
              <a:gs pos="0">
                <a:srgbClr val="1F3864">
                  <a:alpha val="67843"/>
                </a:srgbClr>
              </a:gs>
              <a:gs pos="19000">
                <a:srgbClr val="1F3864">
                  <a:alpha val="67843"/>
                </a:srgbClr>
              </a:gs>
              <a:gs pos="100000">
                <a:srgbClr val="4472C4">
                  <a:alpha val="78823"/>
                </a:srgbClr>
              </a:gs>
            </a:gsLst>
            <a:lin ang="191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5" name="Google Shape;425;p38"/>
          <p:cNvSpPr/>
          <p:nvPr/>
        </p:nvSpPr>
        <p:spPr>
          <a:xfrm rot="5400000">
            <a:off x="5307777" y="-5307778"/>
            <a:ext cx="1576446" cy="12192002"/>
          </a:xfrm>
          <a:prstGeom prst="rect">
            <a:avLst/>
          </a:prstGeom>
          <a:gradFill>
            <a:gsLst>
              <a:gs pos="0">
                <a:srgbClr val="4472C4">
                  <a:alpha val="0"/>
                </a:srgbClr>
              </a:gs>
              <a:gs pos="23000">
                <a:srgbClr val="4472C4">
                  <a:alpha val="0"/>
                </a:srgbClr>
              </a:gs>
              <a:gs pos="99000">
                <a:srgbClr val="000000">
                  <a:alpha val="73725"/>
                </a:srgbClr>
              </a:gs>
              <a:gs pos="100000">
                <a:srgbClr val="000000">
                  <a:alpha val="73725"/>
                </a:srgbClr>
              </a:gs>
            </a:gsLst>
            <a:lin ang="20399999"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26" name="Google Shape;426;p38"/>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000"/>
              <a:buFont typeface="Calibri"/>
              <a:buNone/>
            </a:pPr>
            <a:r>
              <a:rPr lang="en-US" sz="4000" dirty="0">
                <a:solidFill>
                  <a:srgbClr val="FFFFFF"/>
                </a:solidFill>
                <a:latin typeface="Calibri"/>
                <a:ea typeface="Calibri"/>
                <a:cs typeface="Calibri"/>
                <a:sym typeface="Calibri"/>
              </a:rPr>
              <a:t>Performance of Defect Proneness Prediction</a:t>
            </a:r>
            <a:endParaRPr dirty="0"/>
          </a:p>
        </p:txBody>
      </p:sp>
      <p:sp>
        <p:nvSpPr>
          <p:cNvPr id="427" name="Google Shape;427;p38"/>
          <p:cNvSpPr txBox="1">
            <a:spLocks noGrp="1"/>
          </p:cNvSpPr>
          <p:nvPr>
            <p:ph type="sldNum" idx="12"/>
          </p:nvPr>
        </p:nvSpPr>
        <p:spPr>
          <a:xfrm>
            <a:off x="7944134" y="6038769"/>
            <a:ext cx="2003087" cy="26661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sz="876">
                <a:solidFill>
                  <a:srgbClr val="888888"/>
                </a:solidFill>
                <a:latin typeface="Calibri"/>
                <a:ea typeface="Calibri"/>
                <a:cs typeface="Calibri"/>
                <a:sym typeface="Calibri"/>
              </a:rPr>
              <a:t>70</a:t>
            </a:fld>
            <a:endParaRPr/>
          </a:p>
        </p:txBody>
      </p:sp>
      <p:pic>
        <p:nvPicPr>
          <p:cNvPr id="428" name="Google Shape;428;p38"/>
          <p:cNvPicPr preferRelativeResize="0"/>
          <p:nvPr/>
        </p:nvPicPr>
        <p:blipFill rotWithShape="1">
          <a:blip r:embed="rId3">
            <a:alphaModFix/>
          </a:blip>
          <a:srcRect/>
          <a:stretch/>
        </p:blipFill>
        <p:spPr>
          <a:xfrm>
            <a:off x="-65002" y="1082430"/>
            <a:ext cx="9010679" cy="3633477"/>
          </a:xfrm>
          <a:prstGeom prst="rect">
            <a:avLst/>
          </a:prstGeom>
          <a:noFill/>
          <a:ln>
            <a:noFill/>
          </a:ln>
        </p:spPr>
      </p:pic>
      <p:sp>
        <p:nvSpPr>
          <p:cNvPr id="429" name="Google Shape;429;p38"/>
          <p:cNvSpPr txBox="1"/>
          <p:nvPr/>
        </p:nvSpPr>
        <p:spPr>
          <a:xfrm>
            <a:off x="9242122" y="1686664"/>
            <a:ext cx="2810331" cy="3554779"/>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Ensemble models perform the best at predicting defectiveness of software changes. </a:t>
            </a:r>
            <a:endParaRPr dirty="0"/>
          </a:p>
          <a:p>
            <a:pPr marL="0" marR="0" lvl="0" indent="0" algn="l" rtl="0">
              <a:spcBef>
                <a:spcPts val="600"/>
              </a:spcBef>
              <a:spcAft>
                <a:spcPts val="0"/>
              </a:spcAft>
              <a:buNone/>
            </a:pPr>
            <a:r>
              <a:rPr lang="en-US" sz="2000" dirty="0">
                <a:solidFill>
                  <a:schemeClr val="dk1"/>
                </a:solidFill>
                <a:latin typeface="Arial"/>
                <a:ea typeface="Arial"/>
                <a:cs typeface="Arial"/>
                <a:sym typeface="Arial"/>
              </a:rPr>
              <a:t>However, improvements in predictive performance seem to have plateaued in recent approaches.</a:t>
            </a:r>
            <a:endParaRPr sz="2000" dirty="0">
              <a:solidFill>
                <a:schemeClr val="dk1"/>
              </a:solidFill>
              <a:latin typeface="Calibri"/>
              <a:ea typeface="Calibri"/>
              <a:cs typeface="Calibri"/>
              <a:sym typeface="Calibri"/>
            </a:endParaRPr>
          </a:p>
        </p:txBody>
      </p:sp>
      <p:sp>
        <p:nvSpPr>
          <p:cNvPr id="430" name="Google Shape;430;p38"/>
          <p:cNvSpPr txBox="1"/>
          <p:nvPr/>
        </p:nvSpPr>
        <p:spPr>
          <a:xfrm>
            <a:off x="210105" y="4765119"/>
            <a:ext cx="8559321" cy="19389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Arial"/>
                <a:ea typeface="Arial"/>
                <a:cs typeface="Arial"/>
                <a:sym typeface="Arial"/>
              </a:rPr>
              <a:t>How can we continue to improve defect prediction performance?</a:t>
            </a:r>
            <a:endParaRPr dirty="0"/>
          </a:p>
          <a:p>
            <a:pPr marL="208598" marR="0" lvl="0" indent="-208598" algn="l" rtl="0">
              <a:spcBef>
                <a:spcPts val="600"/>
              </a:spcBef>
              <a:spcAft>
                <a:spcPts val="0"/>
              </a:spcAft>
              <a:buClr>
                <a:schemeClr val="dk1"/>
              </a:buClr>
              <a:buSzPts val="2000"/>
              <a:buFont typeface="Noto Sans Symbols"/>
              <a:buChar char="⮚"/>
            </a:pPr>
            <a:r>
              <a:rPr lang="en-US" sz="1800" dirty="0">
                <a:solidFill>
                  <a:schemeClr val="dk1"/>
                </a:solidFill>
                <a:latin typeface="Arial"/>
                <a:ea typeface="Arial"/>
                <a:cs typeface="Arial"/>
                <a:sym typeface="Arial"/>
              </a:rPr>
              <a:t>First, models based on deep learning, e.g., convolutional neural networks, show promising results [24, 25]</a:t>
            </a:r>
            <a:endParaRPr sz="1800" dirty="0"/>
          </a:p>
          <a:p>
            <a:pPr marL="208598" marR="0" lvl="0" indent="-208598" algn="l" rtl="0">
              <a:spcBef>
                <a:spcPts val="600"/>
              </a:spcBef>
              <a:spcAft>
                <a:spcPts val="0"/>
              </a:spcAft>
              <a:buClr>
                <a:schemeClr val="dk1"/>
              </a:buClr>
              <a:buSzPts val="2000"/>
              <a:buFont typeface="Noto Sans Symbols"/>
              <a:buChar char="⮚"/>
            </a:pPr>
            <a:r>
              <a:rPr lang="en-US" sz="1800" dirty="0">
                <a:solidFill>
                  <a:schemeClr val="dk1"/>
                </a:solidFill>
                <a:latin typeface="Arial"/>
                <a:ea typeface="Arial"/>
                <a:cs typeface="Arial"/>
                <a:sym typeface="Arial"/>
              </a:rPr>
              <a:t>Second, researchers are investigating different types of software change metrics and additional sources of data of software changes to help improve predictive performance [40, 74, 75]</a:t>
            </a:r>
            <a:endParaRPr sz="1800"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A78D82D7-4871-0C37-020F-CE46061D7179}"/>
              </a:ext>
            </a:extLst>
          </p:cNvPr>
          <p:cNvGraphicFramePr>
            <a:graphicFrameLocks noGrp="1"/>
          </p:cNvGraphicFramePr>
          <p:nvPr>
            <p:extLst>
              <p:ext uri="{D42A27DB-BD31-4B8C-83A1-F6EECF244321}">
                <p14:modId xmlns:p14="http://schemas.microsoft.com/office/powerpoint/2010/main" val="1294628627"/>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Defect Proneness Prediction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Effort-Aware Defect Prediction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9"/>
          <p:cNvSpPr txBox="1">
            <a:spLocks noGrp="1"/>
          </p:cNvSpPr>
          <p:nvPr>
            <p:ph type="title"/>
          </p:nvPr>
        </p:nvSpPr>
        <p:spPr>
          <a:xfrm>
            <a:off x="126278" y="449786"/>
            <a:ext cx="10515600" cy="74323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Performance of Effort-Aware Prediction</a:t>
            </a:r>
            <a:endParaRPr dirty="0"/>
          </a:p>
        </p:txBody>
      </p:sp>
      <p:sp>
        <p:nvSpPr>
          <p:cNvPr id="436" name="Google Shape;436;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71</a:t>
            </a:fld>
            <a:endParaRPr/>
          </a:p>
        </p:txBody>
      </p:sp>
      <p:pic>
        <p:nvPicPr>
          <p:cNvPr id="437" name="Google Shape;437;p39"/>
          <p:cNvPicPr preferRelativeResize="0"/>
          <p:nvPr/>
        </p:nvPicPr>
        <p:blipFill rotWithShape="1">
          <a:blip r:embed="rId3">
            <a:alphaModFix/>
          </a:blip>
          <a:srcRect/>
          <a:stretch/>
        </p:blipFill>
        <p:spPr>
          <a:xfrm>
            <a:off x="126278" y="1284144"/>
            <a:ext cx="7942864" cy="3620366"/>
          </a:xfrm>
          <a:prstGeom prst="rect">
            <a:avLst/>
          </a:prstGeom>
          <a:noFill/>
          <a:ln>
            <a:noFill/>
          </a:ln>
        </p:spPr>
      </p:pic>
      <p:sp>
        <p:nvSpPr>
          <p:cNvPr id="438" name="Google Shape;438;p39"/>
          <p:cNvSpPr txBox="1"/>
          <p:nvPr/>
        </p:nvSpPr>
        <p:spPr>
          <a:xfrm>
            <a:off x="8610601" y="1677864"/>
            <a:ext cx="3581400" cy="3139281"/>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Ensemble models(TLEL and EATT) are also the best effort-aware models for JIT-SDP. </a:t>
            </a:r>
            <a:endParaRPr lang="en-US" dirty="0"/>
          </a:p>
          <a:p>
            <a:pPr marL="0" marR="0" lvl="0" indent="0" algn="l" rtl="0">
              <a:spcBef>
                <a:spcPts val="0"/>
              </a:spcBef>
              <a:spcAft>
                <a:spcPts val="0"/>
              </a:spcAft>
              <a:buNone/>
            </a:pPr>
            <a:endParaRPr sz="1800" b="0" i="0" u="none" strike="noStrike" dirty="0">
              <a:solidFill>
                <a:schemeClr val="dk1"/>
              </a:solidFill>
              <a:latin typeface="Arial"/>
              <a:ea typeface="Arial"/>
              <a:cs typeface="Arial"/>
              <a:sym typeface="Arial"/>
            </a:endParaRPr>
          </a:p>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Searching-based unsupervised</a:t>
            </a:r>
            <a:endParaRPr dirty="0"/>
          </a:p>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Models(CCUM) yield effort-aware predictive performance similar to the ensemble models, however, they perform much worse on defect predictions than ensembles.</a:t>
            </a:r>
            <a:endParaRPr sz="1800" dirty="0">
              <a:solidFill>
                <a:schemeClr val="dk1"/>
              </a:solidFill>
              <a:latin typeface="Calibri"/>
              <a:ea typeface="Calibri"/>
              <a:cs typeface="Calibri"/>
              <a:sym typeface="Calibri"/>
            </a:endParaRPr>
          </a:p>
        </p:txBody>
      </p:sp>
      <p:sp>
        <p:nvSpPr>
          <p:cNvPr id="439" name="Google Shape;439;p39"/>
          <p:cNvSpPr txBox="1"/>
          <p:nvPr/>
        </p:nvSpPr>
        <p:spPr>
          <a:xfrm>
            <a:off x="404092" y="5527782"/>
            <a:ext cx="10621818"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One of the important limitation in prior research in JIT-SDP is the lack of a shared benchmark. </a:t>
            </a:r>
          </a:p>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There may be a need for a standard data set with greater variety of projects</a:t>
            </a:r>
            <a:endParaRPr sz="1800" dirty="0">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FACF79F0-1947-AA93-5EC6-9CA5C2FF7CAD}"/>
              </a:ext>
            </a:extLst>
          </p:cNvPr>
          <p:cNvGraphicFramePr>
            <a:graphicFrameLocks noGrp="1"/>
          </p:cNvGraphicFramePr>
          <p:nvPr>
            <p:extLst>
              <p:ext uri="{D42A27DB-BD31-4B8C-83A1-F6EECF244321}">
                <p14:modId xmlns:p14="http://schemas.microsoft.com/office/powerpoint/2010/main" val="2124905005"/>
              </p:ext>
            </p:extLst>
          </p:nvPr>
        </p:nvGraphicFramePr>
        <p:xfrm>
          <a:off x="0" y="0"/>
          <a:ext cx="12192000" cy="51816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Effort-Aware Defect Prediction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Context Factors impact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dirty="0"/>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40"/>
          <p:cNvSpPr txBox="1">
            <a:spLocks noGrp="1"/>
          </p:cNvSpPr>
          <p:nvPr>
            <p:ph type="title"/>
          </p:nvPr>
        </p:nvSpPr>
        <p:spPr>
          <a:xfrm>
            <a:off x="0" y="566156"/>
            <a:ext cx="12353827" cy="727897"/>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4200"/>
              <a:buFont typeface="Calibri"/>
              <a:buNone/>
            </a:pPr>
            <a:r>
              <a:rPr lang="en-US" sz="4200" dirty="0">
                <a:latin typeface="Calibri"/>
                <a:ea typeface="Calibri"/>
                <a:cs typeface="Calibri"/>
                <a:sym typeface="Calibri"/>
              </a:rPr>
              <a:t>Context Factors of Software Project and Changeset Data(1/2)</a:t>
            </a:r>
            <a:endParaRPr dirty="0"/>
          </a:p>
        </p:txBody>
      </p:sp>
      <p:sp>
        <p:nvSpPr>
          <p:cNvPr id="445" name="Google Shape;445;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72</a:t>
            </a:fld>
            <a:endParaRPr/>
          </a:p>
        </p:txBody>
      </p:sp>
      <p:pic>
        <p:nvPicPr>
          <p:cNvPr id="446" name="Google Shape;446;p40"/>
          <p:cNvPicPr preferRelativeResize="0"/>
          <p:nvPr/>
        </p:nvPicPr>
        <p:blipFill rotWithShape="1">
          <a:blip r:embed="rId3">
            <a:alphaModFix/>
          </a:blip>
          <a:srcRect/>
          <a:stretch/>
        </p:blipFill>
        <p:spPr>
          <a:xfrm>
            <a:off x="315016" y="1294053"/>
            <a:ext cx="7324744" cy="5612246"/>
          </a:xfrm>
          <a:prstGeom prst="rect">
            <a:avLst/>
          </a:prstGeom>
          <a:noFill/>
          <a:ln>
            <a:noFill/>
          </a:ln>
        </p:spPr>
      </p:pic>
      <p:sp>
        <p:nvSpPr>
          <p:cNvPr id="447" name="Google Shape;447;p40"/>
          <p:cNvSpPr txBox="1"/>
          <p:nvPr/>
        </p:nvSpPr>
        <p:spPr>
          <a:xfrm>
            <a:off x="8505032" y="3429000"/>
            <a:ext cx="3566474" cy="2585283"/>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In most studies, the predictive performance of JIT-SDP positively correlates with the defect ratio of changes in the software project, </a:t>
            </a:r>
            <a:endParaRPr dirty="0"/>
          </a:p>
          <a:p>
            <a:pPr marL="0" marR="0" lvl="0" indent="0" algn="l" rtl="0">
              <a:spcBef>
                <a:spcPts val="0"/>
              </a:spcBef>
              <a:spcAft>
                <a:spcPts val="0"/>
              </a:spcAft>
              <a:buNone/>
            </a:pPr>
            <a:endParaRPr sz="1800" dirty="0">
              <a:solidFill>
                <a:schemeClr val="dk1"/>
              </a:solidFill>
              <a:latin typeface="Arial"/>
              <a:ea typeface="Arial"/>
              <a:cs typeface="Arial"/>
              <a:sym typeface="Arial"/>
            </a:endParaRPr>
          </a:p>
          <a:p>
            <a:pPr marL="0" marR="0" lvl="0" indent="0" algn="l" rtl="0">
              <a:spcBef>
                <a:spcPts val="0"/>
              </a:spcBef>
              <a:spcAft>
                <a:spcPts val="0"/>
              </a:spcAft>
              <a:buNone/>
            </a:pPr>
            <a:r>
              <a:rPr lang="en-US" sz="1800" b="0" i="0" u="none" strike="noStrike" dirty="0">
                <a:solidFill>
                  <a:schemeClr val="dk1"/>
                </a:solidFill>
                <a:latin typeface="Arial"/>
                <a:ea typeface="Arial"/>
                <a:cs typeface="Arial"/>
                <a:sym typeface="Arial"/>
              </a:rPr>
              <a:t>i.e., projects with more defects are easier for JIT-SDP to predict  defect-inducing changes.</a:t>
            </a:r>
            <a:endParaRPr dirty="0"/>
          </a:p>
        </p:txBody>
      </p:sp>
      <p:sp>
        <p:nvSpPr>
          <p:cNvPr id="2" name="TextBox 1">
            <a:extLst>
              <a:ext uri="{FF2B5EF4-FFF2-40B4-BE49-F238E27FC236}">
                <a16:creationId xmlns:a16="http://schemas.microsoft.com/office/drawing/2014/main" id="{65F0DA5E-0927-7788-809A-B53024CBE694}"/>
              </a:ext>
            </a:extLst>
          </p:cNvPr>
          <p:cNvSpPr txBox="1"/>
          <p:nvPr/>
        </p:nvSpPr>
        <p:spPr>
          <a:xfrm>
            <a:off x="8214613" y="1294053"/>
            <a:ext cx="3856893" cy="1569660"/>
          </a:xfrm>
          <a:prstGeom prst="rect">
            <a:avLst/>
          </a:prstGeom>
          <a:noFill/>
        </p:spPr>
        <p:txBody>
          <a:bodyPr wrap="square" rtlCol="0">
            <a:spAutoFit/>
          </a:bodyPr>
          <a:lstStyle/>
          <a:p>
            <a:r>
              <a:rPr lang="en-US" sz="1600" b="1" dirty="0"/>
              <a:t>Context factors </a:t>
            </a:r>
            <a:r>
              <a:rPr lang="en-US" sz="1600" dirty="0"/>
              <a:t>presented in prior studies include: the number of commits, the ratio of the defective changes, average change size, average number of developers per modified file, and several others [32].</a:t>
            </a:r>
          </a:p>
        </p:txBody>
      </p:sp>
      <p:graphicFrame>
        <p:nvGraphicFramePr>
          <p:cNvPr id="3" name="Table 2">
            <a:extLst>
              <a:ext uri="{FF2B5EF4-FFF2-40B4-BE49-F238E27FC236}">
                <a16:creationId xmlns:a16="http://schemas.microsoft.com/office/drawing/2014/main" id="{F387CEAB-9526-FE30-8E1A-A1F983501535}"/>
              </a:ext>
            </a:extLst>
          </p:cNvPr>
          <p:cNvGraphicFramePr>
            <a:graphicFrameLocks noGrp="1"/>
          </p:cNvGraphicFramePr>
          <p:nvPr>
            <p:extLst>
              <p:ext uri="{D42A27DB-BD31-4B8C-83A1-F6EECF244321}">
                <p14:modId xmlns:p14="http://schemas.microsoft.com/office/powerpoint/2010/main" val="273225839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Context Factors impact(1/2)</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Context Factors impact(2/2)</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459"/>
        <p:cNvGrpSpPr/>
        <p:nvPr/>
      </p:nvGrpSpPr>
      <p:grpSpPr>
        <a:xfrm>
          <a:off x="0" y="0"/>
          <a:ext cx="0" cy="0"/>
          <a:chOff x="0" y="0"/>
          <a:chExt cx="0" cy="0"/>
        </a:xfrm>
      </p:grpSpPr>
      <p:sp useBgFill="1">
        <p:nvSpPr>
          <p:cNvPr id="475" name="Rectangle 468">
            <a:extLst>
              <a:ext uri="{FF2B5EF4-FFF2-40B4-BE49-F238E27FC236}">
                <a16:creationId xmlns:a16="http://schemas.microsoft.com/office/drawing/2014/main" id="{AFF8D2E5-2C4E-47B1-930B-6C82B7C3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Google Shape;464;p42"/>
          <p:cNvSpPr txBox="1"/>
          <p:nvPr/>
        </p:nvSpPr>
        <p:spPr>
          <a:xfrm>
            <a:off x="306825" y="344151"/>
            <a:ext cx="11578350" cy="760651"/>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chemeClr val="dk1"/>
              </a:buClr>
              <a:buSzPts val="4200"/>
            </a:pPr>
            <a:r>
              <a:rPr lang="en-US" sz="3100" kern="1200" dirty="0">
                <a:solidFill>
                  <a:schemeClr val="tx1"/>
                </a:solidFill>
                <a:latin typeface="+mj-lt"/>
                <a:ea typeface="+mj-ea"/>
                <a:cs typeface="+mj-cs"/>
                <a:sym typeface="Calibri"/>
              </a:rPr>
              <a:t>Context Factors of Software Project and Changeset Data(2/2)</a:t>
            </a:r>
            <a:endParaRPr lang="en-US" sz="3100" kern="1200" dirty="0">
              <a:solidFill>
                <a:schemeClr val="tx1"/>
              </a:solidFill>
              <a:latin typeface="+mj-lt"/>
              <a:ea typeface="+mj-ea"/>
              <a:cs typeface="+mj-cs"/>
            </a:endParaRPr>
          </a:p>
        </p:txBody>
      </p:sp>
      <p:sp>
        <p:nvSpPr>
          <p:cNvPr id="476" name="Rectangle 470">
            <a:extLst>
              <a:ext uri="{FF2B5EF4-FFF2-40B4-BE49-F238E27FC236}">
                <a16:creationId xmlns:a16="http://schemas.microsoft.com/office/drawing/2014/main" id="{801E4ADA-0EA9-4930-846E-3C11E8BED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17618"/>
            <a:ext cx="128016" cy="63141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7" name="Rectangle 472">
            <a:extLst>
              <a:ext uri="{FF2B5EF4-FFF2-40B4-BE49-F238E27FC236}">
                <a16:creationId xmlns:a16="http://schemas.microsoft.com/office/drawing/2014/main" id="{FB92FFCE-0C90-454E-AA25-D4EE9A6C3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38086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60" name="Google Shape;460;p42"/>
          <p:cNvSpPr txBox="1">
            <a:spLocks noGrp="1"/>
          </p:cNvSpPr>
          <p:nvPr>
            <p:ph type="sldNum" idx="12"/>
          </p:nvPr>
        </p:nvSpPr>
        <p:spPr>
          <a:xfrm>
            <a:off x="7780600" y="5929973"/>
            <a:ext cx="2292942" cy="305195"/>
          </a:xfrm>
          <a:prstGeom prst="rect">
            <a:avLst/>
          </a:prstGeom>
          <a:noFill/>
          <a:ln>
            <a:noFill/>
          </a:ln>
        </p:spPr>
        <p:txBody>
          <a:bodyPr spcFirstLastPara="1" wrap="square" lIns="91425" tIns="45700" rIns="91425" bIns="45700" anchor="ctr" anchorCtr="0">
            <a:noAutofit/>
          </a:bodyPr>
          <a:lstStyle/>
          <a:p>
            <a:pPr>
              <a:spcAft>
                <a:spcPts val="600"/>
              </a:spcAft>
            </a:pPr>
            <a:fld id="{00000000-1234-1234-1234-123412341234}" type="slidenum">
              <a:rPr lang="en-US" sz="996" b="0" i="0" u="none" strike="noStrike" cap="none">
                <a:solidFill>
                  <a:srgbClr val="888888"/>
                </a:solidFill>
                <a:latin typeface="Calibri"/>
                <a:ea typeface="Calibri"/>
                <a:cs typeface="Calibri"/>
                <a:sym typeface="Calibri"/>
              </a:rPr>
              <a:pPr>
                <a:spcAft>
                  <a:spcPts val="600"/>
                </a:spcAft>
              </a:pPr>
              <a:t>73</a:t>
            </a:fld>
            <a:endParaRPr lang="en-US"/>
          </a:p>
        </p:txBody>
      </p:sp>
      <p:sp>
        <p:nvSpPr>
          <p:cNvPr id="461" name="Google Shape;461;p42"/>
          <p:cNvSpPr txBox="1"/>
          <p:nvPr/>
        </p:nvSpPr>
        <p:spPr>
          <a:xfrm>
            <a:off x="0" y="2958807"/>
            <a:ext cx="7390994" cy="629106"/>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spAutoFit/>
          </a:bodyPr>
          <a:lstStyle/>
          <a:p>
            <a:pPr>
              <a:spcAft>
                <a:spcPts val="600"/>
              </a:spcAft>
            </a:pPr>
            <a:r>
              <a:rPr lang="en-US" sz="1494" b="0" i="0" u="none" strike="noStrike" cap="none" dirty="0">
                <a:solidFill>
                  <a:schemeClr val="dk1"/>
                </a:solidFill>
                <a:latin typeface="Arial"/>
                <a:ea typeface="Arial"/>
                <a:cs typeface="Arial"/>
                <a:sym typeface="Arial"/>
              </a:rPr>
              <a:t>Findings: The predictive performance appears to correlate with the ratio of defect-inducing changes in the software project.</a:t>
            </a:r>
            <a:endParaRPr lang="en-US" sz="1800" dirty="0">
              <a:solidFill>
                <a:schemeClr val="dk1"/>
              </a:solidFill>
              <a:latin typeface="Calibri"/>
              <a:ea typeface="Calibri"/>
              <a:cs typeface="Calibri"/>
              <a:sym typeface="Calibri"/>
            </a:endParaRPr>
          </a:p>
        </p:txBody>
      </p:sp>
      <p:sp>
        <p:nvSpPr>
          <p:cNvPr id="462" name="Google Shape;462;p42"/>
          <p:cNvSpPr txBox="1"/>
          <p:nvPr/>
        </p:nvSpPr>
        <p:spPr>
          <a:xfrm>
            <a:off x="221896" y="4392636"/>
            <a:ext cx="7964229" cy="1933566"/>
          </a:xfrm>
          <a:prstGeom prst="rect">
            <a:avLst/>
          </a:prstGeom>
          <a:noFill/>
          <a:ln>
            <a:noFill/>
          </a:ln>
        </p:spPr>
        <p:txBody>
          <a:bodyPr spcFirstLastPara="1" wrap="square" lIns="91425" tIns="45700" rIns="91425" bIns="45700" anchor="t" anchorCtr="0">
            <a:spAutoFit/>
          </a:bodyPr>
          <a:lstStyle/>
          <a:p>
            <a:pPr>
              <a:spcAft>
                <a:spcPts val="600"/>
              </a:spcAft>
            </a:pPr>
            <a:r>
              <a:rPr lang="en-US" sz="1494" b="0" i="0" u="none" strike="noStrike" cap="none" dirty="0">
                <a:solidFill>
                  <a:schemeClr val="dk1"/>
                </a:solidFill>
                <a:latin typeface="Arial"/>
                <a:ea typeface="Arial"/>
                <a:cs typeface="Arial"/>
                <a:sym typeface="Arial"/>
              </a:rPr>
              <a:t>There are several context factors that have not been reported or explored in JIT-SDP studies</a:t>
            </a:r>
            <a:endParaRPr lang="en-US" sz="1162" b="0" i="0" u="none" strike="noStrike" cap="none" dirty="0">
              <a:solidFill>
                <a:srgbClr val="000000"/>
              </a:solidFill>
              <a:latin typeface="Arial"/>
              <a:ea typeface="Arial"/>
              <a:cs typeface="Arial"/>
              <a:sym typeface="Arial"/>
            </a:endParaRPr>
          </a:p>
          <a:p>
            <a:pPr>
              <a:spcAft>
                <a:spcPts val="600"/>
              </a:spcAft>
            </a:pPr>
            <a:endParaRPr lang="en-US" sz="1494" b="0" i="0" u="none" strike="noStrike" cap="none" dirty="0">
              <a:solidFill>
                <a:schemeClr val="dk1"/>
              </a:solidFill>
              <a:latin typeface="Arial"/>
              <a:ea typeface="Arial"/>
              <a:cs typeface="Arial"/>
              <a:sym typeface="Arial"/>
            </a:endParaRPr>
          </a:p>
          <a:p>
            <a:pPr>
              <a:spcAft>
                <a:spcPts val="600"/>
              </a:spcAft>
            </a:pPr>
            <a:r>
              <a:rPr lang="en-US" sz="1494" b="0" i="0" u="none" strike="noStrike" cap="none" dirty="0">
                <a:solidFill>
                  <a:schemeClr val="dk1"/>
                </a:solidFill>
                <a:latin typeface="Arial"/>
                <a:ea typeface="Arial"/>
                <a:cs typeface="Arial"/>
                <a:sym typeface="Arial"/>
              </a:rPr>
              <a:t>For instance:</a:t>
            </a:r>
            <a:endParaRPr lang="en-US" sz="1162" b="0" i="0" u="none" strike="noStrike" cap="none" dirty="0">
              <a:solidFill>
                <a:srgbClr val="000000"/>
              </a:solidFill>
              <a:latin typeface="Arial"/>
              <a:ea typeface="Arial"/>
              <a:cs typeface="Arial"/>
              <a:sym typeface="Arial"/>
            </a:endParaRPr>
          </a:p>
          <a:p>
            <a:pPr marL="237173" indent="-237173">
              <a:spcAft>
                <a:spcPts val="600"/>
              </a:spcAft>
              <a:buClr>
                <a:schemeClr val="dk1"/>
              </a:buClr>
              <a:buSzPts val="1800"/>
              <a:buFont typeface="Noto Sans Symbols"/>
              <a:buChar char="⮚"/>
            </a:pPr>
            <a:r>
              <a:rPr lang="en-US" sz="1494" b="0" i="0" u="none" strike="noStrike" cap="none" dirty="0">
                <a:solidFill>
                  <a:schemeClr val="dk1"/>
                </a:solidFill>
                <a:latin typeface="Arial"/>
                <a:ea typeface="Arial"/>
                <a:cs typeface="Arial"/>
                <a:sym typeface="Arial"/>
              </a:rPr>
              <a:t>Which application domain do we obtain better predicative Performance?</a:t>
            </a:r>
            <a:endParaRPr lang="en-US" sz="1162" b="0" i="0" u="none" strike="noStrike" cap="none" dirty="0">
              <a:solidFill>
                <a:srgbClr val="000000"/>
              </a:solidFill>
              <a:latin typeface="Arial"/>
              <a:ea typeface="Arial"/>
              <a:cs typeface="Arial"/>
              <a:sym typeface="Arial"/>
            </a:endParaRPr>
          </a:p>
          <a:p>
            <a:pPr marL="237173" indent="-237173">
              <a:spcAft>
                <a:spcPts val="600"/>
              </a:spcAft>
              <a:buClr>
                <a:schemeClr val="dk1"/>
              </a:buClr>
              <a:buSzPts val="1800"/>
              <a:buFont typeface="Noto Sans Symbols"/>
              <a:buChar char="⮚"/>
            </a:pPr>
            <a:r>
              <a:rPr lang="en-US" sz="1494" b="0" i="0" u="none" strike="noStrike" cap="none" dirty="0">
                <a:solidFill>
                  <a:schemeClr val="dk1"/>
                </a:solidFill>
                <a:latin typeface="Arial"/>
                <a:ea typeface="Arial"/>
                <a:cs typeface="Arial"/>
                <a:sym typeface="Arial"/>
              </a:rPr>
              <a:t>Do programming languages matter for JIT-SDP?</a:t>
            </a:r>
            <a:endParaRPr lang="en-US" sz="1162" b="0" i="0" u="none" strike="noStrike" cap="none" dirty="0">
              <a:solidFill>
                <a:srgbClr val="000000"/>
              </a:solidFill>
              <a:latin typeface="Arial"/>
              <a:ea typeface="Arial"/>
              <a:cs typeface="Arial"/>
              <a:sym typeface="Arial"/>
            </a:endParaRPr>
          </a:p>
          <a:p>
            <a:pPr marL="237173" indent="-237173">
              <a:spcAft>
                <a:spcPts val="600"/>
              </a:spcAft>
              <a:buClr>
                <a:schemeClr val="dk1"/>
              </a:buClr>
              <a:buSzPts val="1800"/>
              <a:buFont typeface="Noto Sans Symbols"/>
              <a:buChar char="⮚"/>
            </a:pPr>
            <a:r>
              <a:rPr lang="en-US" sz="1494" b="0" i="0" u="none" strike="noStrike" cap="none" dirty="0">
                <a:solidFill>
                  <a:schemeClr val="dk1"/>
                </a:solidFill>
                <a:latin typeface="Arial"/>
                <a:ea typeface="Arial"/>
                <a:cs typeface="Arial"/>
                <a:sym typeface="Arial"/>
              </a:rPr>
              <a:t>Does project maturity impact performance?</a:t>
            </a:r>
            <a:endParaRPr lang="en-US" sz="1800" dirty="0">
              <a:solidFill>
                <a:schemeClr val="dk1"/>
              </a:solidFill>
              <a:latin typeface="Calibri"/>
              <a:ea typeface="Calibri"/>
              <a:cs typeface="Calibri"/>
              <a:sym typeface="Calibri"/>
            </a:endParaRPr>
          </a:p>
        </p:txBody>
      </p:sp>
      <p:pic>
        <p:nvPicPr>
          <p:cNvPr id="463" name="Google Shape;463;p42"/>
          <p:cNvPicPr preferRelativeResize="0"/>
          <p:nvPr/>
        </p:nvPicPr>
        <p:blipFill rotWithShape="1">
          <a:blip r:embed="rId3">
            <a:alphaModFix/>
          </a:blip>
          <a:srcRect/>
          <a:stretch/>
        </p:blipFill>
        <p:spPr>
          <a:xfrm>
            <a:off x="0" y="1489942"/>
            <a:ext cx="7133596" cy="1249923"/>
          </a:xfrm>
          <a:prstGeom prst="rect">
            <a:avLst/>
          </a:prstGeom>
          <a:noFill/>
          <a:ln>
            <a:noFill/>
          </a:ln>
        </p:spPr>
      </p:pic>
      <p:pic>
        <p:nvPicPr>
          <p:cNvPr id="2" name="Google Shape;453;p41">
            <a:extLst>
              <a:ext uri="{FF2B5EF4-FFF2-40B4-BE49-F238E27FC236}">
                <a16:creationId xmlns:a16="http://schemas.microsoft.com/office/drawing/2014/main" id="{58AFFD44-5EA3-2DA8-4390-895F862F86FD}"/>
              </a:ext>
            </a:extLst>
          </p:cNvPr>
          <p:cNvPicPr preferRelativeResize="0"/>
          <p:nvPr/>
        </p:nvPicPr>
        <p:blipFill rotWithShape="1">
          <a:blip r:embed="rId4"/>
          <a:stretch/>
        </p:blipFill>
        <p:spPr>
          <a:xfrm>
            <a:off x="7758836" y="962999"/>
            <a:ext cx="4126339" cy="2695675"/>
          </a:xfrm>
          <a:prstGeom prst="rect">
            <a:avLst/>
          </a:prstGeom>
          <a:noFill/>
        </p:spPr>
      </p:pic>
      <p:pic>
        <p:nvPicPr>
          <p:cNvPr id="3" name="Google Shape;454;p41">
            <a:extLst>
              <a:ext uri="{FF2B5EF4-FFF2-40B4-BE49-F238E27FC236}">
                <a16:creationId xmlns:a16="http://schemas.microsoft.com/office/drawing/2014/main" id="{14F34E7F-96A0-FDA3-03F1-57BB7F5CC23C}"/>
              </a:ext>
            </a:extLst>
          </p:cNvPr>
          <p:cNvPicPr preferRelativeResize="0"/>
          <p:nvPr/>
        </p:nvPicPr>
        <p:blipFill rotWithShape="1">
          <a:blip r:embed="rId5"/>
          <a:stretch/>
        </p:blipFill>
        <p:spPr>
          <a:xfrm>
            <a:off x="8422647" y="3643433"/>
            <a:ext cx="3498197" cy="2548240"/>
          </a:xfrm>
          <a:prstGeom prst="rect">
            <a:avLst/>
          </a:prstGeom>
          <a:noFill/>
        </p:spPr>
      </p:pic>
      <p:sp>
        <p:nvSpPr>
          <p:cNvPr id="4" name="TextBox 3">
            <a:extLst>
              <a:ext uri="{FF2B5EF4-FFF2-40B4-BE49-F238E27FC236}">
                <a16:creationId xmlns:a16="http://schemas.microsoft.com/office/drawing/2014/main" id="{BDFF77F7-F75A-9586-7289-2BCFA7EB1BD9}"/>
              </a:ext>
            </a:extLst>
          </p:cNvPr>
          <p:cNvSpPr txBox="1"/>
          <p:nvPr/>
        </p:nvSpPr>
        <p:spPr>
          <a:xfrm>
            <a:off x="128016" y="6339108"/>
            <a:ext cx="12063984" cy="492443"/>
          </a:xfrm>
          <a:prstGeom prst="rect">
            <a:avLst/>
          </a:prstGeom>
          <a:noFill/>
        </p:spPr>
        <p:txBody>
          <a:bodyPr wrap="square" rtlCol="0">
            <a:spAutoFit/>
          </a:bodyPr>
          <a:lstStyle/>
          <a:p>
            <a:r>
              <a:rPr lang="en-US" dirty="0"/>
              <a:t> Spearman's rank correlation coefficient is a nonparametric measure of rank correlation (statistical dependence between the rankings of two variables.</a:t>
            </a:r>
          </a:p>
          <a:p>
            <a:r>
              <a:rPr lang="en-US" sz="1200" dirty="0">
                <a:hlinkClick r:id="rId6"/>
              </a:rPr>
              <a:t>https://en.wikipedia.org/wiki/Spearman%27s_rank_correlation_coefficient</a:t>
            </a:r>
            <a:r>
              <a:rPr lang="en-US" sz="1200" dirty="0"/>
              <a:t> </a:t>
            </a:r>
          </a:p>
        </p:txBody>
      </p:sp>
      <p:graphicFrame>
        <p:nvGraphicFramePr>
          <p:cNvPr id="6" name="Table 5">
            <a:extLst>
              <a:ext uri="{FF2B5EF4-FFF2-40B4-BE49-F238E27FC236}">
                <a16:creationId xmlns:a16="http://schemas.microsoft.com/office/drawing/2014/main" id="{69E7BD48-20F5-B8E1-4FB3-8520B2A8A97E}"/>
              </a:ext>
            </a:extLst>
          </p:cNvPr>
          <p:cNvGraphicFramePr>
            <a:graphicFrameLocks noGrp="1"/>
          </p:cNvGraphicFramePr>
          <p:nvPr>
            <p:extLst>
              <p:ext uri="{D42A27DB-BD31-4B8C-83A1-F6EECF244321}">
                <p14:modId xmlns:p14="http://schemas.microsoft.com/office/powerpoint/2010/main" val="2516056834"/>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Analysis of Context Factors impact(2/2)</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Future Research</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74</a:t>
            </a:fld>
            <a:endParaRPr/>
          </a:p>
        </p:txBody>
      </p:sp>
      <p:graphicFrame>
        <p:nvGraphicFramePr>
          <p:cNvPr id="2" name="Table 1">
            <a:extLst>
              <a:ext uri="{FF2B5EF4-FFF2-40B4-BE49-F238E27FC236}">
                <a16:creationId xmlns:a16="http://schemas.microsoft.com/office/drawing/2014/main" id="{EAEE1E9E-81E1-E2D0-0401-C2FFE5FC85E9}"/>
              </a:ext>
            </a:extLst>
          </p:cNvPr>
          <p:cNvGraphicFramePr>
            <a:graphicFrameLocks noGrp="1"/>
          </p:cNvGraphicFramePr>
          <p:nvPr>
            <p:extLst>
              <p:ext uri="{D42A27DB-BD31-4B8C-83A1-F6EECF244321}">
                <p14:modId xmlns:p14="http://schemas.microsoft.com/office/powerpoint/2010/main" val="1646642883"/>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Future Research</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Summary</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9843838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8"/>
        <p:cNvGrpSpPr/>
        <p:nvPr/>
      </p:nvGrpSpPr>
      <p:grpSpPr>
        <a:xfrm>
          <a:off x="0" y="0"/>
          <a:ext cx="0" cy="0"/>
          <a:chOff x="0" y="0"/>
          <a:chExt cx="0" cy="0"/>
        </a:xfrm>
      </p:grpSpPr>
      <p:sp>
        <p:nvSpPr>
          <p:cNvPr id="469" name="Google Shape;469;p43"/>
          <p:cNvSpPr/>
          <p:nvPr/>
        </p:nvSpPr>
        <p:spPr>
          <a:xfrm>
            <a:off x="0" y="0"/>
            <a:ext cx="12188949"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0" name="Google Shape;470;p43"/>
          <p:cNvSpPr/>
          <p:nvPr/>
        </p:nvSpPr>
        <p:spPr>
          <a:xfrm>
            <a:off x="791248" y="-320040"/>
            <a:ext cx="12188949" cy="6858000"/>
          </a:xfrm>
          <a:prstGeom prst="rect">
            <a:avLst/>
          </a:prstGeom>
          <a:solidFill>
            <a:schemeClr val="l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grpSp>
        <p:nvGrpSpPr>
          <p:cNvPr id="471" name="Google Shape;471;p43"/>
          <p:cNvGrpSpPr/>
          <p:nvPr/>
        </p:nvGrpSpPr>
        <p:grpSpPr>
          <a:xfrm>
            <a:off x="0" y="0"/>
            <a:ext cx="2974049" cy="6858000"/>
            <a:chOff x="651279" y="598259"/>
            <a:chExt cx="10889442" cy="5680742"/>
          </a:xfrm>
        </p:grpSpPr>
        <p:sp>
          <p:nvSpPr>
            <p:cNvPr id="472" name="Google Shape;472;p43"/>
            <p:cNvSpPr/>
            <p:nvPr/>
          </p:nvSpPr>
          <p:spPr>
            <a:xfrm>
              <a:off x="651279" y="598259"/>
              <a:ext cx="10889442" cy="56807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73" name="Google Shape;473;p43"/>
            <p:cNvSpPr/>
            <p:nvPr/>
          </p:nvSpPr>
          <p:spPr>
            <a:xfrm>
              <a:off x="651279" y="598259"/>
              <a:ext cx="10889442" cy="5680742"/>
            </a:xfrm>
            <a:prstGeom prst="rect">
              <a:avLst/>
            </a:prstGeom>
            <a:solidFill>
              <a:schemeClr val="accent6">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482" name="Google Shape;482;p43"/>
          <p:cNvSpPr txBox="1">
            <a:spLocks noGrp="1"/>
          </p:cNvSpPr>
          <p:nvPr>
            <p:ph type="title"/>
          </p:nvPr>
        </p:nvSpPr>
        <p:spPr>
          <a:xfrm>
            <a:off x="297764" y="675572"/>
            <a:ext cx="2488980" cy="53400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800"/>
              <a:buFont typeface="Calibri"/>
              <a:buNone/>
            </a:pPr>
            <a:r>
              <a:rPr lang="en-US" sz="4800" dirty="0">
                <a:solidFill>
                  <a:schemeClr val="lt1"/>
                </a:solidFill>
                <a:latin typeface="Calibri"/>
                <a:ea typeface="Calibri"/>
                <a:cs typeface="Calibri"/>
                <a:sym typeface="Calibri"/>
              </a:rPr>
              <a:t>Future Research</a:t>
            </a:r>
            <a:endParaRPr dirty="0"/>
          </a:p>
        </p:txBody>
      </p:sp>
      <p:sp>
        <p:nvSpPr>
          <p:cNvPr id="483" name="Google Shape;483;p43"/>
          <p:cNvSpPr txBox="1">
            <a:spLocks noGrp="1"/>
          </p:cNvSpPr>
          <p:nvPr>
            <p:ph type="sldNum" idx="12"/>
          </p:nvPr>
        </p:nvSpPr>
        <p:spPr>
          <a:xfrm>
            <a:off x="11548872" y="6217920"/>
            <a:ext cx="640080" cy="64008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fld id="{00000000-1234-1234-1234-123412341234}" type="slidenum">
              <a:rPr lang="en-US" sz="1600">
                <a:solidFill>
                  <a:schemeClr val="dk2"/>
                </a:solidFill>
              </a:rPr>
              <a:t>75</a:t>
            </a:fld>
            <a:endParaRPr sz="1600">
              <a:solidFill>
                <a:schemeClr val="dk2"/>
              </a:solidFill>
            </a:endParaRPr>
          </a:p>
        </p:txBody>
      </p:sp>
      <p:grpSp>
        <p:nvGrpSpPr>
          <p:cNvPr id="484" name="Google Shape;484;p43"/>
          <p:cNvGrpSpPr/>
          <p:nvPr/>
        </p:nvGrpSpPr>
        <p:grpSpPr>
          <a:xfrm>
            <a:off x="3935709" y="510472"/>
            <a:ext cx="6821915" cy="6166338"/>
            <a:chOff x="-3149595" y="45717"/>
            <a:chExt cx="4880321" cy="5560520"/>
          </a:xfrm>
        </p:grpSpPr>
        <p:sp>
          <p:nvSpPr>
            <p:cNvPr id="485" name="Google Shape;485;p43"/>
            <p:cNvSpPr/>
            <p:nvPr/>
          </p:nvSpPr>
          <p:spPr>
            <a:xfrm>
              <a:off x="-3149595" y="45717"/>
              <a:ext cx="4828172" cy="873953"/>
            </a:xfrm>
            <a:prstGeom prst="roundRect">
              <a:avLst>
                <a:gd name="adj" fmla="val 16667"/>
              </a:avLst>
            </a:prstGeom>
            <a:solidFill>
              <a:srgbClr val="599BD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43"/>
            <p:cNvSpPr txBox="1"/>
            <p:nvPr/>
          </p:nvSpPr>
          <p:spPr>
            <a:xfrm>
              <a:off x="-3012120" y="97917"/>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dirty="0">
                  <a:solidFill>
                    <a:schemeClr val="lt1"/>
                  </a:solidFill>
                  <a:latin typeface="Calibri"/>
                  <a:ea typeface="Calibri"/>
                  <a:cs typeface="Calibri"/>
                  <a:sym typeface="Calibri"/>
                </a:rPr>
                <a:t>Application domain</a:t>
              </a:r>
              <a:endParaRPr dirty="0"/>
            </a:p>
          </p:txBody>
        </p:sp>
        <p:sp>
          <p:nvSpPr>
            <p:cNvPr id="487" name="Google Shape;487;p43"/>
            <p:cNvSpPr/>
            <p:nvPr/>
          </p:nvSpPr>
          <p:spPr>
            <a:xfrm>
              <a:off x="-3149595" y="983030"/>
              <a:ext cx="4828172" cy="873953"/>
            </a:xfrm>
            <a:prstGeom prst="roundRect">
              <a:avLst>
                <a:gd name="adj" fmla="val 16667"/>
              </a:avLst>
            </a:prstGeom>
            <a:solidFill>
              <a:srgbClr val="53C1CE"/>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43"/>
            <p:cNvSpPr txBox="1"/>
            <p:nvPr/>
          </p:nvSpPr>
          <p:spPr>
            <a:xfrm>
              <a:off x="-3106931" y="1025693"/>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dirty="0">
                  <a:solidFill>
                    <a:schemeClr val="lt1"/>
                  </a:solidFill>
                  <a:latin typeface="Calibri"/>
                  <a:ea typeface="Calibri"/>
                  <a:cs typeface="Calibri"/>
                  <a:sym typeface="Calibri"/>
                </a:rPr>
                <a:t>Relation of defects to software use</a:t>
              </a:r>
              <a:endParaRPr dirty="0"/>
            </a:p>
          </p:txBody>
        </p:sp>
        <p:sp>
          <p:nvSpPr>
            <p:cNvPr id="489" name="Google Shape;489;p43"/>
            <p:cNvSpPr/>
            <p:nvPr/>
          </p:nvSpPr>
          <p:spPr>
            <a:xfrm>
              <a:off x="-3149595" y="1920344"/>
              <a:ext cx="4828172" cy="873953"/>
            </a:xfrm>
            <a:prstGeom prst="roundRect">
              <a:avLst>
                <a:gd name="adj" fmla="val 16667"/>
              </a:avLst>
            </a:prstGeom>
            <a:solidFill>
              <a:srgbClr val="4EC7A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3"/>
            <p:cNvSpPr txBox="1"/>
            <p:nvPr/>
          </p:nvSpPr>
          <p:spPr>
            <a:xfrm>
              <a:off x="-3106931" y="1963007"/>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dirty="0">
                  <a:solidFill>
                    <a:schemeClr val="lt1"/>
                  </a:solidFill>
                  <a:latin typeface="Calibri"/>
                  <a:ea typeface="Calibri"/>
                  <a:cs typeface="Calibri"/>
                  <a:sym typeface="Calibri"/>
                </a:rPr>
                <a:t>Quantifying effort in JIT-SDP</a:t>
              </a:r>
              <a:endParaRPr dirty="0"/>
            </a:p>
          </p:txBody>
        </p:sp>
        <p:sp>
          <p:nvSpPr>
            <p:cNvPr id="491" name="Google Shape;491;p43"/>
            <p:cNvSpPr/>
            <p:nvPr/>
          </p:nvSpPr>
          <p:spPr>
            <a:xfrm>
              <a:off x="-3149595" y="2857657"/>
              <a:ext cx="4828172" cy="873953"/>
            </a:xfrm>
            <a:prstGeom prst="roundRect">
              <a:avLst>
                <a:gd name="adj" fmla="val 16667"/>
              </a:avLst>
            </a:prstGeom>
            <a:solidFill>
              <a:srgbClr val="49C073"/>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3"/>
            <p:cNvSpPr txBox="1"/>
            <p:nvPr/>
          </p:nvSpPr>
          <p:spPr>
            <a:xfrm>
              <a:off x="-3106931" y="2900320"/>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dirty="0">
                  <a:solidFill>
                    <a:schemeClr val="lt1"/>
                  </a:solidFill>
                  <a:latin typeface="Calibri"/>
                  <a:ea typeface="Calibri"/>
                  <a:cs typeface="Calibri"/>
                  <a:sym typeface="Calibri"/>
                </a:rPr>
                <a:t>Uncertainty quantification in JIT-SDP</a:t>
              </a:r>
              <a:endParaRPr dirty="0"/>
            </a:p>
          </p:txBody>
        </p:sp>
        <p:sp>
          <p:nvSpPr>
            <p:cNvPr id="493" name="Google Shape;493;p43"/>
            <p:cNvSpPr/>
            <p:nvPr/>
          </p:nvSpPr>
          <p:spPr>
            <a:xfrm>
              <a:off x="-3149595" y="3794970"/>
              <a:ext cx="4828172" cy="873953"/>
            </a:xfrm>
            <a:prstGeom prst="roundRect">
              <a:avLst>
                <a:gd name="adj" fmla="val 16667"/>
              </a:avLst>
            </a:prstGeom>
            <a:solidFill>
              <a:srgbClr val="49B845"/>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43"/>
            <p:cNvSpPr txBox="1"/>
            <p:nvPr/>
          </p:nvSpPr>
          <p:spPr>
            <a:xfrm>
              <a:off x="-3106931" y="3837633"/>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Explainable and actionable defect prediction</a:t>
              </a:r>
              <a:endParaRPr/>
            </a:p>
          </p:txBody>
        </p:sp>
        <p:sp>
          <p:nvSpPr>
            <p:cNvPr id="495" name="Google Shape;495;p43"/>
            <p:cNvSpPr/>
            <p:nvPr/>
          </p:nvSpPr>
          <p:spPr>
            <a:xfrm>
              <a:off x="-3149595" y="4732284"/>
              <a:ext cx="4828172" cy="873953"/>
            </a:xfrm>
            <a:prstGeom prst="roundRect">
              <a:avLst>
                <a:gd name="adj" fmla="val 16667"/>
              </a:avLst>
            </a:prstGeom>
            <a:solidFill>
              <a:srgbClr val="6FAB46"/>
            </a:solid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43"/>
            <p:cNvSpPr txBox="1"/>
            <p:nvPr/>
          </p:nvSpPr>
          <p:spPr>
            <a:xfrm>
              <a:off x="-3106931" y="4774947"/>
              <a:ext cx="4742846" cy="788627"/>
            </a:xfrm>
            <a:prstGeom prst="rect">
              <a:avLst/>
            </a:prstGeom>
            <a:noFill/>
            <a:ln>
              <a:noFill/>
            </a:ln>
          </p:spPr>
          <p:txBody>
            <a:bodyPr spcFirstLastPara="1" wrap="square" lIns="83800" tIns="83800" rIns="83800" bIns="83800" anchor="ctr" anchorCtr="0">
              <a:noAutofit/>
            </a:bodyPr>
            <a:lstStyle/>
            <a:p>
              <a:pPr marL="0" marR="0" lvl="0" indent="0" algn="l" rtl="0">
                <a:lnSpc>
                  <a:spcPct val="90000"/>
                </a:lnSpc>
                <a:spcBef>
                  <a:spcPts val="0"/>
                </a:spcBef>
                <a:spcAft>
                  <a:spcPts val="0"/>
                </a:spcAft>
                <a:buClr>
                  <a:schemeClr val="lt1"/>
                </a:buClr>
                <a:buSzPts val="2200"/>
                <a:buFont typeface="Calibri"/>
                <a:buNone/>
              </a:pPr>
              <a:r>
                <a:rPr lang="en-US" sz="2200">
                  <a:solidFill>
                    <a:schemeClr val="lt1"/>
                  </a:solidFill>
                  <a:latin typeface="Calibri"/>
                  <a:ea typeface="Calibri"/>
                  <a:cs typeface="Calibri"/>
                  <a:sym typeface="Calibri"/>
                </a:rPr>
                <a:t>Beyond prediction defects</a:t>
              </a:r>
              <a:endParaRPr/>
            </a:p>
          </p:txBody>
        </p:sp>
      </p:grpSp>
      <p:graphicFrame>
        <p:nvGraphicFramePr>
          <p:cNvPr id="4" name="Table 3">
            <a:extLst>
              <a:ext uri="{FF2B5EF4-FFF2-40B4-BE49-F238E27FC236}">
                <a16:creationId xmlns:a16="http://schemas.microsoft.com/office/drawing/2014/main" id="{6F43D130-4334-5BE0-9C5E-ADCB003FD841}"/>
              </a:ext>
            </a:extLst>
          </p:cNvPr>
          <p:cNvGraphicFramePr>
            <a:graphicFrameLocks noGrp="1"/>
          </p:cNvGraphicFramePr>
          <p:nvPr>
            <p:extLst>
              <p:ext uri="{D42A27DB-BD31-4B8C-83A1-F6EECF244321}">
                <p14:modId xmlns:p14="http://schemas.microsoft.com/office/powerpoint/2010/main" val="1294086611"/>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Summary</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Application Domain</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699713" y="248038"/>
            <a:ext cx="11452662" cy="1159200"/>
          </a:xfrm>
          <a:prstGeom prst="rect">
            <a:avLst/>
          </a:prstGeom>
          <a:noFill/>
          <a:ln>
            <a:noFill/>
          </a:ln>
        </p:spPr>
        <p:txBody>
          <a:bodyPr spcFirstLastPara="1" wrap="square" lIns="91425" tIns="45700" rIns="91425" bIns="45700" anchor="ctr" anchorCtr="0">
            <a:normAutofit/>
          </a:bodyPr>
          <a:lstStyle/>
          <a:p>
            <a:pPr>
              <a:buClr>
                <a:srgbClr val="FFFFFF"/>
              </a:buClr>
              <a:buSzPts val="3700"/>
            </a:pPr>
            <a:r>
              <a:rPr lang="en-US" sz="3700" dirty="0">
                <a:solidFill>
                  <a:srgbClr val="FFFFFF"/>
                </a:solidFill>
                <a:latin typeface="Calibri"/>
                <a:ea typeface="Calibri"/>
                <a:cs typeface="Calibri"/>
                <a:sym typeface="Calibri"/>
              </a:rPr>
              <a:t>Future Research: </a:t>
            </a:r>
            <a:r>
              <a:rPr lang="en-US" sz="4000" dirty="0">
                <a:solidFill>
                  <a:schemeClr val="lt1"/>
                </a:solidFill>
                <a:latin typeface="Calibri"/>
                <a:ea typeface="Calibri"/>
                <a:cs typeface="Calibri"/>
                <a:sym typeface="Calibri"/>
              </a:rPr>
              <a:t>Application domain</a:t>
            </a:r>
            <a:endParaRPr dirty="0"/>
          </a:p>
        </p:txBody>
      </p:sp>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76</a:t>
            </a:fld>
            <a:endParaRPr sz="1100">
              <a:solidFill>
                <a:srgbClr val="7F7F7F"/>
              </a:solidFill>
            </a:endParaRPr>
          </a:p>
        </p:txBody>
      </p:sp>
      <p:sp>
        <p:nvSpPr>
          <p:cNvPr id="2" name="TextBox 1">
            <a:extLst>
              <a:ext uri="{FF2B5EF4-FFF2-40B4-BE49-F238E27FC236}">
                <a16:creationId xmlns:a16="http://schemas.microsoft.com/office/drawing/2014/main" id="{C0051D87-C669-34CA-9E68-7A8C2FBDAB74}"/>
              </a:ext>
            </a:extLst>
          </p:cNvPr>
          <p:cNvSpPr txBox="1"/>
          <p:nvPr/>
        </p:nvSpPr>
        <p:spPr>
          <a:xfrm>
            <a:off x="336855" y="2169740"/>
            <a:ext cx="11492287" cy="3785652"/>
          </a:xfrm>
          <a:prstGeom prst="rect">
            <a:avLst/>
          </a:prstGeom>
          <a:noFill/>
        </p:spPr>
        <p:txBody>
          <a:bodyPr wrap="square" rtlCol="0">
            <a:spAutoFit/>
          </a:bodyPr>
          <a:lstStyle/>
          <a:p>
            <a:pPr algn="l"/>
            <a:r>
              <a:rPr lang="en-US" sz="2000" b="0" i="0" u="none" strike="noStrike" baseline="0" dirty="0">
                <a:latin typeface="+mn-lt"/>
              </a:rPr>
              <a:t>Several studies have emphasized the importance of application domains of defect prediction models (e.g., is the model used for prioritizing maintenance effort, cost prediction, resource allocation, and reducing technical debt).</a:t>
            </a:r>
          </a:p>
          <a:p>
            <a:pPr algn="l"/>
            <a:endParaRPr lang="en-US" sz="2000" dirty="0">
              <a:latin typeface="+mn-lt"/>
            </a:endParaRPr>
          </a:p>
          <a:p>
            <a:pPr algn="l"/>
            <a:r>
              <a:rPr lang="en-US" sz="2000" b="0" i="0" u="none" strike="noStrike" baseline="0" dirty="0">
                <a:latin typeface="+mn-lt"/>
              </a:rPr>
              <a:t>For </a:t>
            </a:r>
            <a:r>
              <a:rPr lang="en-US" sz="2000" b="0" i="0" u="none" strike="noStrike" baseline="0" dirty="0" err="1">
                <a:latin typeface="+mn-lt"/>
              </a:rPr>
              <a:t>instance,Zeller</a:t>
            </a:r>
            <a:r>
              <a:rPr lang="en-US" sz="2000" b="0" i="0" u="none" strike="noStrike" baseline="0" dirty="0">
                <a:latin typeface="+mn-lt"/>
              </a:rPr>
              <a:t> et al. [88] argue that we should ground SDP in practice, consider what developers think about the models and the results, and how the models and the results help the developers in their daily work.</a:t>
            </a:r>
          </a:p>
          <a:p>
            <a:pPr algn="l"/>
            <a:endParaRPr lang="en-US" sz="2000" dirty="0">
              <a:latin typeface="+mn-lt"/>
            </a:endParaRPr>
          </a:p>
          <a:p>
            <a:pPr algn="l"/>
            <a:r>
              <a:rPr lang="en-US" sz="2000" b="0" i="0" u="none" strike="noStrike" baseline="0" dirty="0">
                <a:latin typeface="+mn-lt"/>
              </a:rPr>
              <a:t>Wan et al. [76] carry out a study to investigate what practitioners think, behave, and expect when it comes to defect prediction. As a result, they detail a few recommendations. More investigations along this direction would help researches in SDP, including both Release SDP and JIT-SDP, to make SDP easier to adopt, i.e., to improve the quality of developer experience in using SDP.</a:t>
            </a:r>
            <a:endParaRPr lang="en-US" sz="2000" dirty="0">
              <a:latin typeface="+mn-lt"/>
            </a:endParaRPr>
          </a:p>
        </p:txBody>
      </p:sp>
      <p:graphicFrame>
        <p:nvGraphicFramePr>
          <p:cNvPr id="3" name="Table 2">
            <a:extLst>
              <a:ext uri="{FF2B5EF4-FFF2-40B4-BE49-F238E27FC236}">
                <a16:creationId xmlns:a16="http://schemas.microsoft.com/office/drawing/2014/main" id="{9635CADA-5763-DCBD-C2C4-22B95D392440}"/>
              </a:ext>
            </a:extLst>
          </p:cNvPr>
          <p:cNvGraphicFramePr>
            <a:graphicFrameLocks noGrp="1"/>
          </p:cNvGraphicFramePr>
          <p:nvPr>
            <p:extLst>
              <p:ext uri="{D42A27DB-BD31-4B8C-83A1-F6EECF244321}">
                <p14:modId xmlns:p14="http://schemas.microsoft.com/office/powerpoint/2010/main" val="1666616949"/>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Application Domain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Relationship of Defects to Software Use</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345219969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8"/>
        <p:cNvGrpSpPr/>
        <p:nvPr/>
      </p:nvGrpSpPr>
      <p:grpSpPr>
        <a:xfrm>
          <a:off x="0" y="0"/>
          <a:ext cx="0" cy="0"/>
          <a:chOff x="0" y="0"/>
          <a:chExt cx="0" cy="0"/>
        </a:xfrm>
      </p:grpSpPr>
      <p:sp>
        <p:nvSpPr>
          <p:cNvPr id="509" name="Google Shape;509;p4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699713" y="248038"/>
            <a:ext cx="11452662" cy="115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3700"/>
              <a:buFont typeface="Calibri"/>
              <a:buNone/>
            </a:pPr>
            <a:r>
              <a:rPr lang="en-US" sz="3700" dirty="0">
                <a:solidFill>
                  <a:srgbClr val="FFFFFF"/>
                </a:solidFill>
                <a:latin typeface="Calibri"/>
                <a:ea typeface="Calibri"/>
                <a:cs typeface="Calibri"/>
                <a:sym typeface="Calibri"/>
              </a:rPr>
              <a:t>Future Research: Relationship of Defects to Software Use</a:t>
            </a:r>
            <a:endParaRPr dirty="0"/>
          </a:p>
        </p:txBody>
      </p:sp>
      <p:pic>
        <p:nvPicPr>
          <p:cNvPr id="514" name="Google Shape;514;p45"/>
          <p:cNvPicPr preferRelativeResize="0"/>
          <p:nvPr/>
        </p:nvPicPr>
        <p:blipFill rotWithShape="1">
          <a:blip r:embed="rId3">
            <a:alphaModFix/>
          </a:blip>
          <a:srcRect/>
          <a:stretch/>
        </p:blipFill>
        <p:spPr>
          <a:xfrm>
            <a:off x="3338286" y="2365829"/>
            <a:ext cx="8866357" cy="3676030"/>
          </a:xfrm>
          <a:prstGeom prst="rect">
            <a:avLst/>
          </a:prstGeom>
          <a:noFill/>
          <a:ln>
            <a:noFill/>
          </a:ln>
        </p:spPr>
      </p:pic>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77</a:t>
            </a:fld>
            <a:endParaRPr sz="1100">
              <a:solidFill>
                <a:srgbClr val="7F7F7F"/>
              </a:solidFill>
            </a:endParaRPr>
          </a:p>
        </p:txBody>
      </p:sp>
      <p:sp>
        <p:nvSpPr>
          <p:cNvPr id="2" name="TextBox 1">
            <a:extLst>
              <a:ext uri="{FF2B5EF4-FFF2-40B4-BE49-F238E27FC236}">
                <a16:creationId xmlns:a16="http://schemas.microsoft.com/office/drawing/2014/main" id="{37E34E77-B9F2-158E-E9EE-72884B373935}"/>
              </a:ext>
            </a:extLst>
          </p:cNvPr>
          <p:cNvSpPr txBox="1"/>
          <p:nvPr/>
        </p:nvSpPr>
        <p:spPr>
          <a:xfrm>
            <a:off x="0" y="2564765"/>
            <a:ext cx="3235570" cy="2585323"/>
          </a:xfrm>
          <a:prstGeom prst="rect">
            <a:avLst/>
          </a:prstGeom>
          <a:noFill/>
        </p:spPr>
        <p:txBody>
          <a:bodyPr wrap="square" rtlCol="0">
            <a:spAutoFit/>
          </a:bodyPr>
          <a:lstStyle/>
          <a:p>
            <a:pPr algn="l"/>
            <a:r>
              <a:rPr lang="en-US" sz="1800" b="0" i="0" u="none" strike="noStrike" baseline="0" dirty="0">
                <a:latin typeface="Abadi" panose="020B0604020104020204" pitchFamily="34" charset="0"/>
              </a:rPr>
              <a:t>Software defects are often the root case of a software failure. </a:t>
            </a:r>
          </a:p>
          <a:p>
            <a:pPr algn="l"/>
            <a:endParaRPr lang="en-US" sz="1800" b="0" i="0" u="none" strike="noStrike" baseline="0" dirty="0">
              <a:latin typeface="Abadi" panose="020B0604020104020204" pitchFamily="34" charset="0"/>
            </a:endParaRPr>
          </a:p>
          <a:p>
            <a:pPr algn="l"/>
            <a:r>
              <a:rPr lang="en-US" sz="1800" b="0" i="0" u="none" strike="noStrike" baseline="0" dirty="0">
                <a:latin typeface="Abadi" panose="020B0604020104020204" pitchFamily="34" charset="0"/>
              </a:rPr>
              <a:t>We must pay attention to the relationship of defects (via failures) on software </a:t>
            </a:r>
            <a:r>
              <a:rPr lang="en-US" sz="1800" b="0" i="0" u="none" strike="noStrike" baseline="0" dirty="0" err="1">
                <a:latin typeface="Abadi" panose="020B0604020104020204" pitchFamily="34" charset="0"/>
              </a:rPr>
              <a:t>quality,i.e</a:t>
            </a:r>
            <a:r>
              <a:rPr lang="en-US" sz="1800" b="0" i="0" u="none" strike="noStrike" baseline="0" dirty="0">
                <a:latin typeface="Abadi" panose="020B0604020104020204" pitchFamily="34" charset="0"/>
              </a:rPr>
              <a:t>., the impact of the specific defects on the actual reliability of the software.</a:t>
            </a:r>
            <a:endParaRPr lang="en-US" dirty="0"/>
          </a:p>
        </p:txBody>
      </p:sp>
      <p:graphicFrame>
        <p:nvGraphicFramePr>
          <p:cNvPr id="5" name="Table 4">
            <a:extLst>
              <a:ext uri="{FF2B5EF4-FFF2-40B4-BE49-F238E27FC236}">
                <a16:creationId xmlns:a16="http://schemas.microsoft.com/office/drawing/2014/main" id="{B5FDBD37-FB32-2611-5A19-667AB758228D}"/>
              </a:ext>
            </a:extLst>
          </p:cNvPr>
          <p:cNvGraphicFramePr>
            <a:graphicFrameLocks noGrp="1"/>
          </p:cNvGraphicFramePr>
          <p:nvPr>
            <p:extLst>
              <p:ext uri="{D42A27DB-BD31-4B8C-83A1-F6EECF244321}">
                <p14:modId xmlns:p14="http://schemas.microsoft.com/office/powerpoint/2010/main" val="1541459458"/>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Relationship of Defects to Software Use</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Quantifying Effort</a:t>
                      </a:r>
                    </a:p>
                  </a:txBody>
                  <a:tcPr>
                    <a:solidFill>
                      <a:srgbClr val="7030A0"/>
                    </a:solidFill>
                  </a:tcPr>
                </a:tc>
                <a:extLst>
                  <a:ext uri="{0D108BD9-81ED-4DB2-BD59-A6C34878D82A}">
                    <a16:rowId xmlns:a16="http://schemas.microsoft.com/office/drawing/2014/main" val="2577230158"/>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699713" y="248038"/>
            <a:ext cx="11452662" cy="1159200"/>
          </a:xfrm>
          <a:prstGeom prst="rect">
            <a:avLst/>
          </a:prstGeom>
          <a:noFill/>
          <a:ln>
            <a:noFill/>
          </a:ln>
        </p:spPr>
        <p:txBody>
          <a:bodyPr spcFirstLastPara="1" wrap="square" lIns="91425" tIns="45700" rIns="91425" bIns="45700" anchor="ctr" anchorCtr="0">
            <a:normAutofit/>
          </a:bodyPr>
          <a:lstStyle/>
          <a:p>
            <a:pPr>
              <a:buClr>
                <a:srgbClr val="FFFFFF"/>
              </a:buClr>
              <a:buSzPts val="3700"/>
            </a:pPr>
            <a:r>
              <a:rPr lang="en-US" sz="3700" dirty="0">
                <a:solidFill>
                  <a:srgbClr val="FFFFFF"/>
                </a:solidFill>
                <a:latin typeface="Calibri"/>
                <a:ea typeface="Calibri"/>
                <a:cs typeface="Calibri"/>
                <a:sym typeface="Calibri"/>
              </a:rPr>
              <a:t>Future Research: </a:t>
            </a:r>
            <a:r>
              <a:rPr lang="en-US" sz="4000" dirty="0">
                <a:solidFill>
                  <a:schemeClr val="lt1"/>
                </a:solidFill>
                <a:latin typeface="Calibri"/>
                <a:ea typeface="Calibri"/>
                <a:cs typeface="Calibri"/>
                <a:sym typeface="Calibri"/>
              </a:rPr>
              <a:t>Quantifying Effort in JIT-SDP</a:t>
            </a:r>
            <a:endParaRPr dirty="0"/>
          </a:p>
        </p:txBody>
      </p:sp>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78</a:t>
            </a:fld>
            <a:endParaRPr sz="1100">
              <a:solidFill>
                <a:srgbClr val="7F7F7F"/>
              </a:solidFill>
            </a:endParaRPr>
          </a:p>
        </p:txBody>
      </p:sp>
      <p:sp>
        <p:nvSpPr>
          <p:cNvPr id="2" name="TextBox 1">
            <a:extLst>
              <a:ext uri="{FF2B5EF4-FFF2-40B4-BE49-F238E27FC236}">
                <a16:creationId xmlns:a16="http://schemas.microsoft.com/office/drawing/2014/main" id="{C0051D87-C669-34CA-9E68-7A8C2FBDAB74}"/>
              </a:ext>
            </a:extLst>
          </p:cNvPr>
          <p:cNvSpPr txBox="1"/>
          <p:nvPr/>
        </p:nvSpPr>
        <p:spPr>
          <a:xfrm>
            <a:off x="212032" y="1655276"/>
            <a:ext cx="11979968" cy="5940088"/>
          </a:xfrm>
          <a:prstGeom prst="rect">
            <a:avLst/>
          </a:prstGeom>
          <a:noFill/>
        </p:spPr>
        <p:txBody>
          <a:bodyPr wrap="square" rtlCol="0">
            <a:spAutoFit/>
          </a:bodyPr>
          <a:lstStyle/>
          <a:p>
            <a:pPr algn="l"/>
            <a:r>
              <a:rPr lang="en-US" sz="2000" dirty="0">
                <a:latin typeface="+mn-lt"/>
              </a:rPr>
              <a:t>Fenton and Neil [16] divide software defects into two broad categories:</a:t>
            </a:r>
          </a:p>
          <a:p>
            <a:pPr marL="342900" indent="-342900" algn="l">
              <a:buFont typeface="Arial" panose="020B0604020202020204" pitchFamily="34" charset="0"/>
              <a:buChar char="•"/>
            </a:pPr>
            <a:r>
              <a:rPr lang="en-US" sz="2000" dirty="0">
                <a:latin typeface="+mn-lt"/>
              </a:rPr>
              <a:t>requirement defects, i.e., the defects in software requirements, lead to validation failures</a:t>
            </a:r>
          </a:p>
          <a:p>
            <a:pPr marL="342900" indent="-342900" algn="l">
              <a:buFont typeface="Arial" panose="020B0604020202020204" pitchFamily="34" charset="0"/>
              <a:buChar char="•"/>
            </a:pPr>
            <a:r>
              <a:rPr lang="en-US" sz="2000" dirty="0">
                <a:latin typeface="+mn-lt"/>
              </a:rPr>
              <a:t>design defects, i.e., the defects in design specification, implementation, and maintenance, lead to verification failures</a:t>
            </a:r>
          </a:p>
          <a:p>
            <a:pPr algn="l"/>
            <a:endParaRPr lang="en-US" sz="2000" dirty="0">
              <a:latin typeface="+mn-lt"/>
            </a:endParaRPr>
          </a:p>
          <a:p>
            <a:pPr algn="l"/>
            <a:r>
              <a:rPr lang="en-US" sz="2000" dirty="0">
                <a:latin typeface="+mn-lt"/>
              </a:rPr>
              <a:t>Requirement defects are more costly to fix than design defects, we should reexamine how to quantify effort for effort-aware JIT-SDP.</a:t>
            </a:r>
          </a:p>
          <a:p>
            <a:pPr algn="l"/>
            <a:endParaRPr lang="en-US" sz="2000" dirty="0">
              <a:latin typeface="+mn-lt"/>
            </a:endParaRPr>
          </a:p>
          <a:p>
            <a:pPr algn="l"/>
            <a:r>
              <a:rPr lang="en-US" sz="2000" dirty="0">
                <a:latin typeface="+mn-lt"/>
              </a:rPr>
              <a:t>In effort-aware JIT-SDP, the quality assurance effort is measured as the lines of code reviewed [32].</a:t>
            </a:r>
          </a:p>
          <a:p>
            <a:pPr algn="l"/>
            <a:r>
              <a:rPr lang="en-US" sz="2000" b="1" dirty="0">
                <a:latin typeface="+mn-lt"/>
              </a:rPr>
              <a:t>Future JIT-SDP may consider alternative quality assurance effort measures, such as, by differentiating the efforts to address validation failures and those to address verification failures. </a:t>
            </a:r>
          </a:p>
          <a:p>
            <a:pPr algn="l"/>
            <a:endParaRPr lang="en-US" sz="2000" dirty="0">
              <a:latin typeface="+mn-lt"/>
            </a:endParaRPr>
          </a:p>
          <a:p>
            <a:pPr algn="l"/>
            <a:r>
              <a:rPr lang="en-US" sz="2000" dirty="0">
                <a:latin typeface="+mn-lt"/>
              </a:rPr>
              <a:t>For instance, researchers can attempt to use traceability analysis approaches that link “high-level” artifacts, e.g., requirements, to “low-level”, e.g., software code [50]. As another alternative, several studies examine software faults and failure types and their occurrences in different phases of software development life cycle processes [22].</a:t>
            </a:r>
          </a:p>
          <a:p>
            <a:pPr algn="l"/>
            <a:endParaRPr lang="en-US" sz="2000" dirty="0">
              <a:latin typeface="+mn-lt"/>
            </a:endParaRPr>
          </a:p>
          <a:p>
            <a:pPr algn="l"/>
            <a:endParaRPr lang="en-US" sz="2000" dirty="0">
              <a:latin typeface="+mn-lt"/>
            </a:endParaRPr>
          </a:p>
          <a:p>
            <a:pPr algn="l"/>
            <a:endParaRPr lang="en-US" sz="2000" dirty="0">
              <a:latin typeface="+mn-lt"/>
            </a:endParaRPr>
          </a:p>
        </p:txBody>
      </p:sp>
      <p:graphicFrame>
        <p:nvGraphicFramePr>
          <p:cNvPr id="3" name="Table 2">
            <a:extLst>
              <a:ext uri="{FF2B5EF4-FFF2-40B4-BE49-F238E27FC236}">
                <a16:creationId xmlns:a16="http://schemas.microsoft.com/office/drawing/2014/main" id="{1AEB5B3F-E62B-948F-EE2A-CE1B9E806019}"/>
              </a:ext>
            </a:extLst>
          </p:cNvPr>
          <p:cNvGraphicFramePr>
            <a:graphicFrameLocks noGrp="1"/>
          </p:cNvGraphicFramePr>
          <p:nvPr>
            <p:extLst>
              <p:ext uri="{D42A27DB-BD31-4B8C-83A1-F6EECF244321}">
                <p14:modId xmlns:p14="http://schemas.microsoft.com/office/powerpoint/2010/main" val="4124334926"/>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Quantifying effort</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Uncertainty Quantification</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73301690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699713" y="248038"/>
            <a:ext cx="11452662" cy="1159200"/>
          </a:xfrm>
          <a:prstGeom prst="rect">
            <a:avLst/>
          </a:prstGeom>
          <a:noFill/>
          <a:ln>
            <a:noFill/>
          </a:ln>
        </p:spPr>
        <p:txBody>
          <a:bodyPr spcFirstLastPara="1" wrap="square" lIns="91425" tIns="45700" rIns="91425" bIns="45700" anchor="ctr" anchorCtr="0">
            <a:normAutofit/>
          </a:bodyPr>
          <a:lstStyle/>
          <a:p>
            <a:pPr>
              <a:buClr>
                <a:srgbClr val="FFFFFF"/>
              </a:buClr>
              <a:buSzPts val="3700"/>
            </a:pPr>
            <a:r>
              <a:rPr lang="en-US" sz="3700" dirty="0">
                <a:solidFill>
                  <a:srgbClr val="FFFFFF"/>
                </a:solidFill>
                <a:latin typeface="Calibri"/>
                <a:ea typeface="Calibri"/>
                <a:cs typeface="Calibri"/>
                <a:sym typeface="Calibri"/>
              </a:rPr>
              <a:t>Future Research: Uncertainty Quantification in JIT-SDP</a:t>
            </a:r>
            <a:endParaRPr dirty="0"/>
          </a:p>
        </p:txBody>
      </p:sp>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79</a:t>
            </a:fld>
            <a:endParaRPr sz="1100">
              <a:solidFill>
                <a:srgbClr val="7F7F7F"/>
              </a:solidFill>
            </a:endParaRPr>
          </a:p>
        </p:txBody>
      </p:sp>
      <p:sp>
        <p:nvSpPr>
          <p:cNvPr id="2" name="TextBox 1">
            <a:extLst>
              <a:ext uri="{FF2B5EF4-FFF2-40B4-BE49-F238E27FC236}">
                <a16:creationId xmlns:a16="http://schemas.microsoft.com/office/drawing/2014/main" id="{C0051D87-C669-34CA-9E68-7A8C2FBDAB74}"/>
              </a:ext>
            </a:extLst>
          </p:cNvPr>
          <p:cNvSpPr txBox="1"/>
          <p:nvPr/>
        </p:nvSpPr>
        <p:spPr>
          <a:xfrm>
            <a:off x="436060" y="2459504"/>
            <a:ext cx="11979968" cy="1938992"/>
          </a:xfrm>
          <a:prstGeom prst="rect">
            <a:avLst/>
          </a:prstGeom>
          <a:noFill/>
        </p:spPr>
        <p:txBody>
          <a:bodyPr wrap="square" rtlCol="0">
            <a:spAutoFit/>
          </a:bodyPr>
          <a:lstStyle/>
          <a:p>
            <a:pPr algn="l"/>
            <a:r>
              <a:rPr lang="en-US" sz="2000" dirty="0">
                <a:latin typeface="+mn-lt"/>
              </a:rPr>
              <a:t>Types of uncertain quality:</a:t>
            </a:r>
          </a:p>
          <a:p>
            <a:pPr marL="342900" indent="-342900" algn="l">
              <a:buFont typeface="Arial" panose="020B0604020202020204" pitchFamily="34" charset="0"/>
              <a:buChar char="•"/>
            </a:pPr>
            <a:r>
              <a:rPr lang="en-US" sz="2000" dirty="0">
                <a:latin typeface="+mn-lt"/>
              </a:rPr>
              <a:t>Concept drift</a:t>
            </a:r>
          </a:p>
          <a:p>
            <a:pPr marL="342900" indent="-342900" algn="l">
              <a:buFont typeface="Arial" panose="020B0604020202020204" pitchFamily="34" charset="0"/>
              <a:buChar char="•"/>
            </a:pPr>
            <a:r>
              <a:rPr lang="en-US" sz="2000" dirty="0">
                <a:latin typeface="+mn-lt"/>
              </a:rPr>
              <a:t>Unreliable SZZ</a:t>
            </a:r>
          </a:p>
          <a:p>
            <a:pPr algn="l"/>
            <a:endParaRPr lang="en-US" sz="2000" dirty="0">
              <a:latin typeface="+mn-lt"/>
            </a:endParaRPr>
          </a:p>
          <a:p>
            <a:pPr algn="l"/>
            <a:r>
              <a:rPr lang="en-US" sz="2000" dirty="0">
                <a:latin typeface="+mn-lt"/>
              </a:rPr>
              <a:t>A direction of research we propose is to quantify these different types of uncertainties in JIT-SDP</a:t>
            </a:r>
          </a:p>
          <a:p>
            <a:pPr algn="l"/>
            <a:r>
              <a:rPr lang="en-US" sz="2000" dirty="0">
                <a:latin typeface="+mn-lt"/>
              </a:rPr>
              <a:t>and use them to convey the magnitude of uncertainty to JIT-SDP users.</a:t>
            </a:r>
          </a:p>
        </p:txBody>
      </p:sp>
      <p:graphicFrame>
        <p:nvGraphicFramePr>
          <p:cNvPr id="6" name="Table 5">
            <a:extLst>
              <a:ext uri="{FF2B5EF4-FFF2-40B4-BE49-F238E27FC236}">
                <a16:creationId xmlns:a16="http://schemas.microsoft.com/office/drawing/2014/main" id="{E70E7A98-9AAB-3713-8C7F-4273F769B6A9}"/>
              </a:ext>
            </a:extLst>
          </p:cNvPr>
          <p:cNvGraphicFramePr>
            <a:graphicFrameLocks noGrp="1"/>
          </p:cNvGraphicFramePr>
          <p:nvPr>
            <p:extLst>
              <p:ext uri="{D42A27DB-BD31-4B8C-83A1-F6EECF244321}">
                <p14:modId xmlns:p14="http://schemas.microsoft.com/office/powerpoint/2010/main" val="1662846550"/>
              </p:ext>
            </p:extLst>
          </p:nvPr>
        </p:nvGraphicFramePr>
        <p:xfrm>
          <a:off x="591457" y="4982580"/>
          <a:ext cx="10631566" cy="889000"/>
        </p:xfrm>
        <a:graphic>
          <a:graphicData uri="http://schemas.openxmlformats.org/drawingml/2006/table">
            <a:tbl>
              <a:tblPr firstRow="1" bandRow="1">
                <a:tableStyleId>{5C22544A-7EE6-4342-B048-85BDC9FD1C3A}</a:tableStyleId>
              </a:tblPr>
              <a:tblGrid>
                <a:gridCol w="2012462">
                  <a:extLst>
                    <a:ext uri="{9D8B030D-6E8A-4147-A177-3AD203B41FA5}">
                      <a16:colId xmlns:a16="http://schemas.microsoft.com/office/drawing/2014/main" val="3517432871"/>
                    </a:ext>
                  </a:extLst>
                </a:gridCol>
                <a:gridCol w="8619104">
                  <a:extLst>
                    <a:ext uri="{9D8B030D-6E8A-4147-A177-3AD203B41FA5}">
                      <a16:colId xmlns:a16="http://schemas.microsoft.com/office/drawing/2014/main" val="2961618091"/>
                    </a:ext>
                  </a:extLst>
                </a:gridCol>
              </a:tblGrid>
              <a:tr h="370840">
                <a:tc>
                  <a:txBody>
                    <a:bodyPr/>
                    <a:lstStyle/>
                    <a:p>
                      <a:r>
                        <a:rPr lang="en-US" dirty="0"/>
                        <a:t>Topic</a:t>
                      </a:r>
                    </a:p>
                  </a:txBody>
                  <a:tcPr/>
                </a:tc>
                <a:tc>
                  <a:txBody>
                    <a:bodyPr/>
                    <a:lstStyle/>
                    <a:p>
                      <a:r>
                        <a:rPr lang="en-US" dirty="0"/>
                        <a:t>Note</a:t>
                      </a:r>
                    </a:p>
                  </a:txBody>
                  <a:tcPr/>
                </a:tc>
                <a:extLst>
                  <a:ext uri="{0D108BD9-81ED-4DB2-BD59-A6C34878D82A}">
                    <a16:rowId xmlns:a16="http://schemas.microsoft.com/office/drawing/2014/main" val="1584817459"/>
                  </a:ext>
                </a:extLst>
              </a:tr>
              <a:tr h="370840">
                <a:tc>
                  <a:txBody>
                    <a:bodyPr/>
                    <a:lstStyle/>
                    <a:p>
                      <a:r>
                        <a:rPr lang="en-US" dirty="0"/>
                        <a:t>Data Quality(7)</a:t>
                      </a:r>
                    </a:p>
                  </a:txBody>
                  <a:tcPr/>
                </a:tc>
                <a:tc>
                  <a:txBody>
                    <a:bodyPr/>
                    <a:lstStyle/>
                    <a:p>
                      <a:r>
                        <a:rPr lang="en-US" dirty="0"/>
                        <a:t>3 papers talking about SZZ, 1 paper builds a large dataset, 2 papers are about the bug including commit detection and fix inducing identification</a:t>
                      </a:r>
                    </a:p>
                  </a:txBody>
                  <a:tcPr/>
                </a:tc>
                <a:extLst>
                  <a:ext uri="{0D108BD9-81ED-4DB2-BD59-A6C34878D82A}">
                    <a16:rowId xmlns:a16="http://schemas.microsoft.com/office/drawing/2014/main" val="3254296245"/>
                  </a:ext>
                </a:extLst>
              </a:tr>
            </a:tbl>
          </a:graphicData>
        </a:graphic>
      </p:graphicFrame>
      <p:graphicFrame>
        <p:nvGraphicFramePr>
          <p:cNvPr id="7" name="Table 6">
            <a:extLst>
              <a:ext uri="{FF2B5EF4-FFF2-40B4-BE49-F238E27FC236}">
                <a16:creationId xmlns:a16="http://schemas.microsoft.com/office/drawing/2014/main" id="{53434513-A6D3-B1F7-8B91-0D58424FD193}"/>
              </a:ext>
            </a:extLst>
          </p:cNvPr>
          <p:cNvGraphicFramePr>
            <a:graphicFrameLocks noGrp="1"/>
          </p:cNvGraphicFramePr>
          <p:nvPr>
            <p:extLst>
              <p:ext uri="{D42A27DB-BD31-4B8C-83A1-F6EECF244321}">
                <p14:modId xmlns:p14="http://schemas.microsoft.com/office/powerpoint/2010/main" val="3275484391"/>
              </p:ext>
            </p:extLst>
          </p:nvPr>
        </p:nvGraphicFramePr>
        <p:xfrm>
          <a:off x="0" y="-1647"/>
          <a:ext cx="12192000" cy="3048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1803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Uncertainty Quantification</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Explainable and Actionable </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218893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4" y="248038"/>
            <a:ext cx="12409717" cy="1159200"/>
          </a:xfrm>
          <a:prstGeom prst="rect">
            <a:avLst/>
          </a:prstGeom>
          <a:noFill/>
          <a:ln>
            <a:noFill/>
          </a:ln>
        </p:spPr>
        <p:txBody>
          <a:bodyPr spcFirstLastPara="1" wrap="square" lIns="91425" tIns="45700" rIns="91425" bIns="45700" anchor="ctr" anchorCtr="0">
            <a:normAutofit/>
          </a:bodyPr>
          <a:lstStyle/>
          <a:p>
            <a:pPr>
              <a:buClr>
                <a:srgbClr val="FFFFFF"/>
              </a:buClr>
              <a:buSzPts val="3700"/>
            </a:pPr>
            <a:r>
              <a:rPr lang="en-US" sz="3700" dirty="0">
                <a:solidFill>
                  <a:srgbClr val="FFFFFF"/>
                </a:solidFill>
                <a:latin typeface="Calibri"/>
                <a:ea typeface="Calibri"/>
                <a:cs typeface="Calibri"/>
                <a:sym typeface="Calibri"/>
              </a:rPr>
              <a:t>Future Research: Explainable and Actionable Defect Prediction</a:t>
            </a:r>
            <a:endParaRPr lang="en-US" dirty="0"/>
          </a:p>
        </p:txBody>
      </p:sp>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80</a:t>
            </a:fld>
            <a:endParaRPr sz="1100">
              <a:solidFill>
                <a:srgbClr val="7F7F7F"/>
              </a:solidFill>
            </a:endParaRPr>
          </a:p>
        </p:txBody>
      </p:sp>
      <p:sp>
        <p:nvSpPr>
          <p:cNvPr id="5" name="TextBox 4">
            <a:extLst>
              <a:ext uri="{FF2B5EF4-FFF2-40B4-BE49-F238E27FC236}">
                <a16:creationId xmlns:a16="http://schemas.microsoft.com/office/drawing/2014/main" id="{E6B04624-B016-C3B7-109E-94941F8FE193}"/>
              </a:ext>
            </a:extLst>
          </p:cNvPr>
          <p:cNvSpPr txBox="1"/>
          <p:nvPr/>
        </p:nvSpPr>
        <p:spPr>
          <a:xfrm>
            <a:off x="0" y="1567858"/>
            <a:ext cx="12191999" cy="3970318"/>
          </a:xfrm>
          <a:prstGeom prst="rect">
            <a:avLst/>
          </a:prstGeom>
          <a:noFill/>
        </p:spPr>
        <p:txBody>
          <a:bodyPr wrap="square" rtlCol="0">
            <a:spAutoFit/>
          </a:bodyPr>
          <a:lstStyle/>
          <a:p>
            <a:pPr marL="285750" indent="-285750" algn="l">
              <a:buFont typeface="Arial" panose="020B0604020202020204" pitchFamily="34" charset="0"/>
              <a:buChar char="•"/>
            </a:pPr>
            <a:r>
              <a:rPr lang="en-US" sz="1800" b="0" i="0" u="none" strike="noStrike" baseline="0" dirty="0">
                <a:latin typeface="+mn-lt"/>
              </a:rPr>
              <a:t>How do we make our defect prediction results actionable?</a:t>
            </a:r>
          </a:p>
          <a:p>
            <a:pPr algn="l"/>
            <a:r>
              <a:rPr lang="en-US" sz="1800" b="0" i="0" u="none" strike="noStrike" baseline="0" dirty="0">
                <a:latin typeface="+mn-lt"/>
              </a:rPr>
              <a:t>It begins with making the prediction results explainable [34]. One approach is to link the prediction results with context factors of the data sets. Hall et al. [21] note that without the context factors of the data sets it becomes difficult to understand the implications of SDP models and results. Recent JIT-SDP studies have included some context factors, however, software projects have diverse context factors and it remains unclear what context factors best characterize a software project [90].</a:t>
            </a:r>
            <a:endParaRPr lang="en-US" sz="1800" dirty="0">
              <a:latin typeface="+mn-lt"/>
            </a:endParaRPr>
          </a:p>
          <a:p>
            <a:pPr algn="l"/>
            <a:r>
              <a:rPr lang="en-US" sz="1800" b="0" i="0" u="none" strike="noStrike" baseline="0" dirty="0">
                <a:latin typeface="+mn-lt"/>
              </a:rPr>
              <a:t>There is a need to continue exploring project context factors and software metrics, and their relationship with defection prediction results.</a:t>
            </a:r>
          </a:p>
          <a:p>
            <a:pPr algn="l"/>
            <a:endParaRPr lang="en-US" sz="1800" dirty="0">
              <a:latin typeface="+mn-lt"/>
            </a:endParaRPr>
          </a:p>
          <a:p>
            <a:pPr marL="285750" indent="-285750" algn="l">
              <a:buFont typeface="Arial" panose="020B0604020202020204" pitchFamily="34" charset="0"/>
              <a:buChar char="•"/>
            </a:pPr>
            <a:r>
              <a:rPr lang="en-US" sz="1800" b="0" i="0" u="none" strike="noStrike" baseline="0" dirty="0">
                <a:latin typeface="+mn-lt"/>
              </a:rPr>
              <a:t>how can we make a complex JIT-SDP model explainable?</a:t>
            </a:r>
          </a:p>
          <a:p>
            <a:pPr algn="l"/>
            <a:r>
              <a:rPr lang="en-US" sz="1800" b="0" i="0" u="none" strike="noStrike" baseline="0" dirty="0">
                <a:latin typeface="+mn-lt"/>
              </a:rPr>
              <a:t>DL models often take an “end-to-end” approach, e.g., in the context of JIT-SDP, taking directly software  changes and commit messages as the input and predict defect prone changes. Xie et al. [77] provide an overview about building explainable deep learning models. Leveraging this research and alike, future research directions may include the design of explainable deep neural network models for JIT-SDP.</a:t>
            </a:r>
            <a:endParaRPr lang="en-US" dirty="0">
              <a:latin typeface="+mn-lt"/>
            </a:endParaRPr>
          </a:p>
        </p:txBody>
      </p:sp>
      <p:sp>
        <p:nvSpPr>
          <p:cNvPr id="3" name="Flowchart: Process 2">
            <a:extLst>
              <a:ext uri="{FF2B5EF4-FFF2-40B4-BE49-F238E27FC236}">
                <a16:creationId xmlns:a16="http://schemas.microsoft.com/office/drawing/2014/main" id="{0F63FC16-32E7-B4E4-EB77-B3E4D0FB6DC0}"/>
              </a:ext>
            </a:extLst>
          </p:cNvPr>
          <p:cNvSpPr/>
          <p:nvPr/>
        </p:nvSpPr>
        <p:spPr>
          <a:xfrm>
            <a:off x="203201" y="5675087"/>
            <a:ext cx="11501118" cy="1145702"/>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dirty="0"/>
              <a:t>Zeller et al. [88] have cautioned us, i.e., “being nonactionable may still be better than suggesting the wrong actions” and argue that we should be careful when using complexity metrics or overly simple features in defect prediction since we may more easily arrive at suggesting wrong actions. Similar in spirit, we should also caution about complex models.</a:t>
            </a:r>
          </a:p>
        </p:txBody>
      </p:sp>
      <p:graphicFrame>
        <p:nvGraphicFramePr>
          <p:cNvPr id="7" name="Table 6">
            <a:extLst>
              <a:ext uri="{FF2B5EF4-FFF2-40B4-BE49-F238E27FC236}">
                <a16:creationId xmlns:a16="http://schemas.microsoft.com/office/drawing/2014/main" id="{FC19B6F3-196F-7B9B-4F08-978E81D1E8C6}"/>
              </a:ext>
            </a:extLst>
          </p:cNvPr>
          <p:cNvGraphicFramePr>
            <a:graphicFrameLocks noGrp="1"/>
          </p:cNvGraphicFramePr>
          <p:nvPr>
            <p:extLst>
              <p:ext uri="{D42A27DB-BD31-4B8C-83A1-F6EECF244321}">
                <p14:modId xmlns:p14="http://schemas.microsoft.com/office/powerpoint/2010/main" val="3078908513"/>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Explainable and Actionable </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Beyond Predicting Defects</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290132286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10" name="Google Shape;510;p45"/>
          <p:cNvSpPr/>
          <p:nvPr/>
        </p:nvSpPr>
        <p:spPr>
          <a:xfrm rot="10800000" flipH="1">
            <a:off x="2" y="0"/>
            <a:ext cx="12191998" cy="1575955"/>
          </a:xfrm>
          <a:prstGeom prst="rect">
            <a:avLst/>
          </a:prstGeom>
          <a:gradFill>
            <a:gsLst>
              <a:gs pos="0">
                <a:srgbClr val="000000">
                  <a:alpha val="95686"/>
                </a:srgbClr>
              </a:gs>
              <a:gs pos="100000">
                <a:srgbClr val="2F5496"/>
              </a:gs>
            </a:gsLst>
            <a:lin ang="6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1" name="Google Shape;511;p45"/>
          <p:cNvSpPr/>
          <p:nvPr/>
        </p:nvSpPr>
        <p:spPr>
          <a:xfrm>
            <a:off x="0" y="0"/>
            <a:ext cx="8128856" cy="1575461"/>
          </a:xfrm>
          <a:prstGeom prst="rect">
            <a:avLst/>
          </a:prstGeom>
          <a:gradFill>
            <a:gsLst>
              <a:gs pos="0">
                <a:srgbClr val="4472C4">
                  <a:alpha val="40784"/>
                </a:srgbClr>
              </a:gs>
              <a:gs pos="74000">
                <a:srgbClr val="8DA9DB">
                  <a:alpha val="0"/>
                </a:srgbClr>
              </a:gs>
              <a:gs pos="100000">
                <a:srgbClr val="8DA9DB">
                  <a:alpha val="0"/>
                </a:srgbClr>
              </a:gs>
            </a:gsLst>
            <a:lin ang="8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2" name="Google Shape;512;p45"/>
          <p:cNvSpPr/>
          <p:nvPr/>
        </p:nvSpPr>
        <p:spPr>
          <a:xfrm flipH="1">
            <a:off x="-3" y="-1"/>
            <a:ext cx="12192002" cy="1574311"/>
          </a:xfrm>
          <a:prstGeom prst="rect">
            <a:avLst/>
          </a:prstGeom>
          <a:gradFill>
            <a:gsLst>
              <a:gs pos="0">
                <a:srgbClr val="000000">
                  <a:alpha val="62745"/>
                </a:srgbClr>
              </a:gs>
              <a:gs pos="78000">
                <a:srgbClr val="4472C4">
                  <a:alpha val="14901"/>
                </a:srgbClr>
              </a:gs>
              <a:gs pos="100000">
                <a:srgbClr val="4472C4">
                  <a:alpha val="14901"/>
                </a:srgbClr>
              </a:gs>
            </a:gsLst>
            <a:lin ang="156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3" name="Google Shape;513;p45"/>
          <p:cNvSpPr txBox="1">
            <a:spLocks noGrp="1"/>
          </p:cNvSpPr>
          <p:nvPr>
            <p:ph type="title"/>
          </p:nvPr>
        </p:nvSpPr>
        <p:spPr>
          <a:xfrm>
            <a:off x="-4" y="248038"/>
            <a:ext cx="12409717" cy="1159200"/>
          </a:xfrm>
          <a:prstGeom prst="rect">
            <a:avLst/>
          </a:prstGeom>
          <a:noFill/>
          <a:ln>
            <a:noFill/>
          </a:ln>
        </p:spPr>
        <p:txBody>
          <a:bodyPr spcFirstLastPara="1" wrap="square" lIns="91425" tIns="45700" rIns="91425" bIns="45700" anchor="ctr" anchorCtr="0">
            <a:normAutofit/>
          </a:bodyPr>
          <a:lstStyle/>
          <a:p>
            <a:pPr>
              <a:buClr>
                <a:srgbClr val="FFFFFF"/>
              </a:buClr>
              <a:buSzPts val="3700"/>
            </a:pPr>
            <a:r>
              <a:rPr lang="en-US" sz="3700" dirty="0">
                <a:solidFill>
                  <a:srgbClr val="FFFFFF"/>
                </a:solidFill>
                <a:latin typeface="Calibri"/>
                <a:ea typeface="Calibri"/>
                <a:cs typeface="Calibri"/>
                <a:sym typeface="Calibri"/>
              </a:rPr>
              <a:t>Future Research: Beyond Predicting Defects</a:t>
            </a:r>
            <a:endParaRPr lang="en-US" dirty="0"/>
          </a:p>
        </p:txBody>
      </p:sp>
      <p:sp>
        <p:nvSpPr>
          <p:cNvPr id="515" name="Google Shape;515;p45"/>
          <p:cNvSpPr txBox="1">
            <a:spLocks noGrp="1"/>
          </p:cNvSpPr>
          <p:nvPr>
            <p:ph type="sldNum" idx="12"/>
          </p:nvPr>
        </p:nvSpPr>
        <p:spPr>
          <a:xfrm>
            <a:off x="11704319"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sz="1100">
                <a:solidFill>
                  <a:srgbClr val="7F7F7F"/>
                </a:solidFill>
              </a:rPr>
              <a:t>81</a:t>
            </a:fld>
            <a:endParaRPr sz="1100">
              <a:solidFill>
                <a:srgbClr val="7F7F7F"/>
              </a:solidFill>
            </a:endParaRPr>
          </a:p>
        </p:txBody>
      </p:sp>
      <p:graphicFrame>
        <p:nvGraphicFramePr>
          <p:cNvPr id="6" name="Table 5">
            <a:extLst>
              <a:ext uri="{FF2B5EF4-FFF2-40B4-BE49-F238E27FC236}">
                <a16:creationId xmlns:a16="http://schemas.microsoft.com/office/drawing/2014/main" id="{3D989DFB-0AC3-AD4C-2EC6-F89CC0E8CF62}"/>
              </a:ext>
            </a:extLst>
          </p:cNvPr>
          <p:cNvGraphicFramePr>
            <a:graphicFrameLocks noGrp="1"/>
          </p:cNvGraphicFramePr>
          <p:nvPr>
            <p:extLst>
              <p:ext uri="{D42A27DB-BD31-4B8C-83A1-F6EECF244321}">
                <p14:modId xmlns:p14="http://schemas.microsoft.com/office/powerpoint/2010/main" val="84736723"/>
              </p:ext>
            </p:extLst>
          </p:nvPr>
        </p:nvGraphicFramePr>
        <p:xfrm>
          <a:off x="348343" y="2984500"/>
          <a:ext cx="11172294" cy="741680"/>
        </p:xfrm>
        <a:graphic>
          <a:graphicData uri="http://schemas.openxmlformats.org/drawingml/2006/table">
            <a:tbl>
              <a:tblPr firstRow="1" bandRow="1">
                <a:tableStyleId>{5C22544A-7EE6-4342-B048-85BDC9FD1C3A}</a:tableStyleId>
              </a:tblPr>
              <a:tblGrid>
                <a:gridCol w="3730171">
                  <a:extLst>
                    <a:ext uri="{9D8B030D-6E8A-4147-A177-3AD203B41FA5}">
                      <a16:colId xmlns:a16="http://schemas.microsoft.com/office/drawing/2014/main" val="3345710013"/>
                    </a:ext>
                  </a:extLst>
                </a:gridCol>
                <a:gridCol w="7442123">
                  <a:extLst>
                    <a:ext uri="{9D8B030D-6E8A-4147-A177-3AD203B41FA5}">
                      <a16:colId xmlns:a16="http://schemas.microsoft.com/office/drawing/2014/main" val="3399645971"/>
                    </a:ext>
                  </a:extLst>
                </a:gridCol>
              </a:tblGrid>
              <a:tr h="370840">
                <a:tc>
                  <a:txBody>
                    <a:bodyPr/>
                    <a:lstStyle/>
                    <a:p>
                      <a:r>
                        <a:rPr lang="en-US" sz="1600" dirty="0"/>
                        <a:t>Specific detects(4)</a:t>
                      </a:r>
                    </a:p>
                  </a:txBody>
                  <a:tcPr/>
                </a:tc>
                <a:tc>
                  <a:txBody>
                    <a:bodyPr/>
                    <a:lstStyle/>
                    <a:p>
                      <a:r>
                        <a:rPr lang="en-US" sz="1600" dirty="0"/>
                        <a:t>Vulnerability, security, dormant</a:t>
                      </a:r>
                    </a:p>
                  </a:txBody>
                  <a:tcPr/>
                </a:tc>
                <a:extLst>
                  <a:ext uri="{0D108BD9-81ED-4DB2-BD59-A6C34878D82A}">
                    <a16:rowId xmlns:a16="http://schemas.microsoft.com/office/drawing/2014/main" val="53435317"/>
                  </a:ext>
                </a:extLst>
              </a:tr>
              <a:tr h="370840">
                <a:tc>
                  <a:txBody>
                    <a:bodyPr/>
                    <a:lstStyle/>
                    <a:p>
                      <a:r>
                        <a:rPr lang="en-US" sz="1600" dirty="0"/>
                        <a:t>Domain combination(3)</a:t>
                      </a:r>
                    </a:p>
                  </a:txBody>
                  <a:tcPr/>
                </a:tc>
                <a:tc>
                  <a:txBody>
                    <a:bodyPr/>
                    <a:lstStyle/>
                    <a:p>
                      <a:r>
                        <a:rPr lang="en-US" sz="1600" dirty="0"/>
                        <a:t>Localization, defect type prediction</a:t>
                      </a:r>
                    </a:p>
                  </a:txBody>
                  <a:tcPr/>
                </a:tc>
                <a:extLst>
                  <a:ext uri="{0D108BD9-81ED-4DB2-BD59-A6C34878D82A}">
                    <a16:rowId xmlns:a16="http://schemas.microsoft.com/office/drawing/2014/main" val="2049780151"/>
                  </a:ext>
                </a:extLst>
              </a:tr>
            </a:tbl>
          </a:graphicData>
        </a:graphic>
      </p:graphicFrame>
      <p:graphicFrame>
        <p:nvGraphicFramePr>
          <p:cNvPr id="7" name="Table 6">
            <a:extLst>
              <a:ext uri="{FF2B5EF4-FFF2-40B4-BE49-F238E27FC236}">
                <a16:creationId xmlns:a16="http://schemas.microsoft.com/office/drawing/2014/main" id="{50B3680B-961E-F327-A71F-760BF8F55AE0}"/>
              </a:ext>
            </a:extLst>
          </p:cNvPr>
          <p:cNvGraphicFramePr>
            <a:graphicFrameLocks noGrp="1"/>
          </p:cNvGraphicFramePr>
          <p:nvPr>
            <p:extLst>
              <p:ext uri="{D42A27DB-BD31-4B8C-83A1-F6EECF244321}">
                <p14:modId xmlns:p14="http://schemas.microsoft.com/office/powerpoint/2010/main" val="3066893846"/>
              </p:ext>
            </p:extLst>
          </p:nvPr>
        </p:nvGraphicFramePr>
        <p:xfrm>
          <a:off x="348343" y="3726180"/>
          <a:ext cx="11172294" cy="370840"/>
        </p:xfrm>
        <a:graphic>
          <a:graphicData uri="http://schemas.openxmlformats.org/drawingml/2006/table">
            <a:tbl>
              <a:tblPr firstRow="1" bandRow="1">
                <a:tableStyleId>{5C22544A-7EE6-4342-B048-85BDC9FD1C3A}</a:tableStyleId>
              </a:tblPr>
              <a:tblGrid>
                <a:gridCol w="3744686">
                  <a:extLst>
                    <a:ext uri="{9D8B030D-6E8A-4147-A177-3AD203B41FA5}">
                      <a16:colId xmlns:a16="http://schemas.microsoft.com/office/drawing/2014/main" val="1621302248"/>
                    </a:ext>
                  </a:extLst>
                </a:gridCol>
                <a:gridCol w="7427608">
                  <a:extLst>
                    <a:ext uri="{9D8B030D-6E8A-4147-A177-3AD203B41FA5}">
                      <a16:colId xmlns:a16="http://schemas.microsoft.com/office/drawing/2014/main" val="1699345592"/>
                    </a:ext>
                  </a:extLst>
                </a:gridCol>
              </a:tblGrid>
              <a:tr h="370840">
                <a:tc>
                  <a:txBody>
                    <a:bodyPr/>
                    <a:lstStyle/>
                    <a:p>
                      <a:r>
                        <a:rPr lang="en-US" sz="1600" dirty="0"/>
                        <a:t>Programming language specific(2)</a:t>
                      </a:r>
                    </a:p>
                  </a:txBody>
                  <a:tcPr/>
                </a:tc>
                <a:tc>
                  <a:txBody>
                    <a:bodyPr/>
                    <a:lstStyle/>
                    <a:p>
                      <a:r>
                        <a:rPr lang="en-US" sz="1600" dirty="0"/>
                        <a:t>Features or models on specific programming language projects</a:t>
                      </a:r>
                    </a:p>
                  </a:txBody>
                  <a:tcPr/>
                </a:tc>
                <a:extLst>
                  <a:ext uri="{0D108BD9-81ED-4DB2-BD59-A6C34878D82A}">
                    <a16:rowId xmlns:a16="http://schemas.microsoft.com/office/drawing/2014/main" val="1107801669"/>
                  </a:ext>
                </a:extLst>
              </a:tr>
            </a:tbl>
          </a:graphicData>
        </a:graphic>
      </p:graphicFrame>
      <p:graphicFrame>
        <p:nvGraphicFramePr>
          <p:cNvPr id="8" name="Table 7">
            <a:extLst>
              <a:ext uri="{FF2B5EF4-FFF2-40B4-BE49-F238E27FC236}">
                <a16:creationId xmlns:a16="http://schemas.microsoft.com/office/drawing/2014/main" id="{84FCF3EE-0CDD-D503-4E4A-0946EBD7EEDA}"/>
              </a:ext>
            </a:extLst>
          </p:cNvPr>
          <p:cNvGraphicFramePr>
            <a:graphicFrameLocks noGrp="1"/>
          </p:cNvGraphicFramePr>
          <p:nvPr>
            <p:extLst>
              <p:ext uri="{D42A27DB-BD31-4B8C-83A1-F6EECF244321}">
                <p14:modId xmlns:p14="http://schemas.microsoft.com/office/powerpoint/2010/main" val="1379436095"/>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Beyond Predicting Defects</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Research since Dec 2021</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155508539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F9CE2CB2-4744-A84B-497B-EBB7C611EEA9}"/>
              </a:ext>
            </a:extLst>
          </p:cNvPr>
          <p:cNvGraphicFramePr>
            <a:graphicFrameLocks noGrp="1"/>
          </p:cNvGraphicFramePr>
          <p:nvPr>
            <p:extLst>
              <p:ext uri="{D42A27DB-BD31-4B8C-83A1-F6EECF244321}">
                <p14:modId xmlns:p14="http://schemas.microsoft.com/office/powerpoint/2010/main" val="3318170974"/>
              </p:ext>
            </p:extLst>
          </p:nvPr>
        </p:nvGraphicFramePr>
        <p:xfrm>
          <a:off x="132862" y="1997137"/>
          <a:ext cx="10631566" cy="4297680"/>
        </p:xfrm>
        <a:graphic>
          <a:graphicData uri="http://schemas.openxmlformats.org/drawingml/2006/table">
            <a:tbl>
              <a:tblPr firstRow="1" bandRow="1">
                <a:tableStyleId>{5C22544A-7EE6-4342-B048-85BDC9FD1C3A}</a:tableStyleId>
              </a:tblPr>
              <a:tblGrid>
                <a:gridCol w="2012462">
                  <a:extLst>
                    <a:ext uri="{9D8B030D-6E8A-4147-A177-3AD203B41FA5}">
                      <a16:colId xmlns:a16="http://schemas.microsoft.com/office/drawing/2014/main" val="2079184521"/>
                    </a:ext>
                  </a:extLst>
                </a:gridCol>
                <a:gridCol w="8619104">
                  <a:extLst>
                    <a:ext uri="{9D8B030D-6E8A-4147-A177-3AD203B41FA5}">
                      <a16:colId xmlns:a16="http://schemas.microsoft.com/office/drawing/2014/main" val="4062597555"/>
                    </a:ext>
                  </a:extLst>
                </a:gridCol>
              </a:tblGrid>
              <a:tr h="370840">
                <a:tc>
                  <a:txBody>
                    <a:bodyPr/>
                    <a:lstStyle/>
                    <a:p>
                      <a:r>
                        <a:rPr lang="en-US" dirty="0"/>
                        <a:t>Topic</a:t>
                      </a:r>
                    </a:p>
                  </a:txBody>
                  <a:tcPr/>
                </a:tc>
                <a:tc>
                  <a:txBody>
                    <a:bodyPr/>
                    <a:lstStyle/>
                    <a:p>
                      <a:r>
                        <a:rPr lang="en-US" dirty="0"/>
                        <a:t>Note</a:t>
                      </a:r>
                    </a:p>
                  </a:txBody>
                  <a:tcPr/>
                </a:tc>
                <a:extLst>
                  <a:ext uri="{0D108BD9-81ED-4DB2-BD59-A6C34878D82A}">
                    <a16:rowId xmlns:a16="http://schemas.microsoft.com/office/drawing/2014/main" val="1877209559"/>
                  </a:ext>
                </a:extLst>
              </a:tr>
              <a:tr h="370840">
                <a:tc>
                  <a:txBody>
                    <a:bodyPr/>
                    <a:lstStyle/>
                    <a:p>
                      <a:r>
                        <a:rPr lang="en-US" dirty="0"/>
                        <a:t>Data Quality(7)</a:t>
                      </a:r>
                    </a:p>
                  </a:txBody>
                  <a:tcPr/>
                </a:tc>
                <a:tc>
                  <a:txBody>
                    <a:bodyPr/>
                    <a:lstStyle/>
                    <a:p>
                      <a:r>
                        <a:rPr lang="en-US" dirty="0"/>
                        <a:t>3 papers talking about SZZ, 1 paper builds a large dataset, 2 papers are about the bug including commit detection and fix inducing identification</a:t>
                      </a:r>
                    </a:p>
                  </a:txBody>
                  <a:tcPr/>
                </a:tc>
                <a:extLst>
                  <a:ext uri="{0D108BD9-81ED-4DB2-BD59-A6C34878D82A}">
                    <a16:rowId xmlns:a16="http://schemas.microsoft.com/office/drawing/2014/main" val="1023307766"/>
                  </a:ext>
                </a:extLst>
              </a:tr>
              <a:tr h="370840">
                <a:tc>
                  <a:txBody>
                    <a:bodyPr/>
                    <a:lstStyle/>
                    <a:p>
                      <a:r>
                        <a:rPr lang="en-US" dirty="0"/>
                        <a:t>Programming language specific(2)</a:t>
                      </a:r>
                    </a:p>
                  </a:txBody>
                  <a:tcPr/>
                </a:tc>
                <a:tc>
                  <a:txBody>
                    <a:bodyPr/>
                    <a:lstStyle/>
                    <a:p>
                      <a:r>
                        <a:rPr lang="en-US" dirty="0"/>
                        <a:t>Features or models on specific programming language projects</a:t>
                      </a:r>
                    </a:p>
                  </a:txBody>
                  <a:tcPr/>
                </a:tc>
                <a:extLst>
                  <a:ext uri="{0D108BD9-81ED-4DB2-BD59-A6C34878D82A}">
                    <a16:rowId xmlns:a16="http://schemas.microsoft.com/office/drawing/2014/main" val="4131143689"/>
                  </a:ext>
                </a:extLst>
              </a:tr>
              <a:tr h="370840">
                <a:tc>
                  <a:txBody>
                    <a:bodyPr/>
                    <a:lstStyle/>
                    <a:p>
                      <a:r>
                        <a:rPr lang="en-US" dirty="0"/>
                        <a:t>Features</a:t>
                      </a:r>
                    </a:p>
                  </a:txBody>
                  <a:tcPr/>
                </a:tc>
                <a:tc>
                  <a:txBody>
                    <a:bodyPr/>
                    <a:lstStyle/>
                    <a:p>
                      <a:r>
                        <a:rPr lang="en-US" dirty="0"/>
                        <a:t>2 papers are with new code features(specific language feature and code representative)</a:t>
                      </a:r>
                    </a:p>
                  </a:txBody>
                  <a:tcPr/>
                </a:tc>
                <a:extLst>
                  <a:ext uri="{0D108BD9-81ED-4DB2-BD59-A6C34878D82A}">
                    <a16:rowId xmlns:a16="http://schemas.microsoft.com/office/drawing/2014/main" val="841194498"/>
                  </a:ext>
                </a:extLst>
              </a:tr>
              <a:tr h="370840">
                <a:tc>
                  <a:txBody>
                    <a:bodyPr/>
                    <a:lstStyle/>
                    <a:p>
                      <a:r>
                        <a:rPr lang="en-US" dirty="0"/>
                        <a:t>Explainable (2)</a:t>
                      </a:r>
                    </a:p>
                  </a:txBody>
                  <a:tcPr/>
                </a:tc>
                <a:tc>
                  <a:txBody>
                    <a:bodyPr/>
                    <a:lstStyle/>
                    <a:p>
                      <a:endParaRPr lang="en-US" dirty="0"/>
                    </a:p>
                  </a:txBody>
                  <a:tcPr/>
                </a:tc>
                <a:extLst>
                  <a:ext uri="{0D108BD9-81ED-4DB2-BD59-A6C34878D82A}">
                    <a16:rowId xmlns:a16="http://schemas.microsoft.com/office/drawing/2014/main" val="3530920794"/>
                  </a:ext>
                </a:extLst>
              </a:tr>
              <a:tr h="370840">
                <a:tc>
                  <a:txBody>
                    <a:bodyPr/>
                    <a:lstStyle/>
                    <a:p>
                      <a:r>
                        <a:rPr lang="en-US" dirty="0"/>
                        <a:t>Cross-project(2)</a:t>
                      </a:r>
                    </a:p>
                  </a:txBody>
                  <a:tcPr/>
                </a:tc>
                <a:tc>
                  <a:txBody>
                    <a:bodyPr/>
                    <a:lstStyle/>
                    <a:p>
                      <a:endParaRPr lang="en-US" dirty="0"/>
                    </a:p>
                  </a:txBody>
                  <a:tcPr/>
                </a:tc>
                <a:extLst>
                  <a:ext uri="{0D108BD9-81ED-4DB2-BD59-A6C34878D82A}">
                    <a16:rowId xmlns:a16="http://schemas.microsoft.com/office/drawing/2014/main" val="4225370345"/>
                  </a:ext>
                </a:extLst>
              </a:tr>
              <a:tr h="370840">
                <a:tc>
                  <a:txBody>
                    <a:bodyPr/>
                    <a:lstStyle/>
                    <a:p>
                      <a:r>
                        <a:rPr lang="en-US" dirty="0"/>
                        <a:t>Specific detects(4)</a:t>
                      </a:r>
                    </a:p>
                  </a:txBody>
                  <a:tcPr/>
                </a:tc>
                <a:tc>
                  <a:txBody>
                    <a:bodyPr/>
                    <a:lstStyle/>
                    <a:p>
                      <a:r>
                        <a:rPr lang="en-US" dirty="0"/>
                        <a:t>Vulnerability, security, dormant</a:t>
                      </a:r>
                    </a:p>
                  </a:txBody>
                  <a:tcPr/>
                </a:tc>
                <a:extLst>
                  <a:ext uri="{0D108BD9-81ED-4DB2-BD59-A6C34878D82A}">
                    <a16:rowId xmlns:a16="http://schemas.microsoft.com/office/drawing/2014/main" val="2996431069"/>
                  </a:ext>
                </a:extLst>
              </a:tr>
              <a:tr h="370840">
                <a:tc>
                  <a:txBody>
                    <a:bodyPr/>
                    <a:lstStyle/>
                    <a:p>
                      <a:r>
                        <a:rPr lang="en-US" dirty="0"/>
                        <a:t>Domain combination(3)</a:t>
                      </a:r>
                    </a:p>
                  </a:txBody>
                  <a:tcPr/>
                </a:tc>
                <a:tc>
                  <a:txBody>
                    <a:bodyPr/>
                    <a:lstStyle/>
                    <a:p>
                      <a:r>
                        <a:rPr lang="en-US" dirty="0"/>
                        <a:t>Localization, defect type prediction</a:t>
                      </a:r>
                    </a:p>
                  </a:txBody>
                  <a:tcPr/>
                </a:tc>
                <a:extLst>
                  <a:ext uri="{0D108BD9-81ED-4DB2-BD59-A6C34878D82A}">
                    <a16:rowId xmlns:a16="http://schemas.microsoft.com/office/drawing/2014/main" val="3512247180"/>
                  </a:ext>
                </a:extLst>
              </a:tr>
              <a:tr h="370840">
                <a:tc>
                  <a:txBody>
                    <a:bodyPr/>
                    <a:lstStyle/>
                    <a:p>
                      <a:r>
                        <a:rPr lang="en-US" dirty="0"/>
                        <a:t>effort-aware, evaluation(1)</a:t>
                      </a:r>
                    </a:p>
                  </a:txBody>
                  <a:tcPr/>
                </a:tc>
                <a:tc>
                  <a:txBody>
                    <a:bodyPr/>
                    <a:lstStyle/>
                    <a:p>
                      <a:endParaRPr lang="en-US" dirty="0"/>
                    </a:p>
                  </a:txBody>
                  <a:tcPr/>
                </a:tc>
                <a:extLst>
                  <a:ext uri="{0D108BD9-81ED-4DB2-BD59-A6C34878D82A}">
                    <a16:rowId xmlns:a16="http://schemas.microsoft.com/office/drawing/2014/main" val="2639880923"/>
                  </a:ext>
                </a:extLst>
              </a:tr>
              <a:tr h="370840">
                <a:tc>
                  <a:txBody>
                    <a:bodyPr/>
                    <a:lstStyle/>
                    <a:p>
                      <a:r>
                        <a:rPr lang="en-US" dirty="0"/>
                        <a:t>Models(3)</a:t>
                      </a:r>
                    </a:p>
                  </a:txBody>
                  <a:tcPr/>
                </a:tc>
                <a:tc>
                  <a:txBody>
                    <a:bodyPr/>
                    <a:lstStyle/>
                    <a:p>
                      <a:r>
                        <a:rPr lang="en-US" dirty="0"/>
                        <a:t>Ensemble, DL</a:t>
                      </a:r>
                    </a:p>
                  </a:txBody>
                  <a:tcPr/>
                </a:tc>
                <a:extLst>
                  <a:ext uri="{0D108BD9-81ED-4DB2-BD59-A6C34878D82A}">
                    <a16:rowId xmlns:a16="http://schemas.microsoft.com/office/drawing/2014/main" val="2633418785"/>
                  </a:ext>
                </a:extLst>
              </a:tr>
            </a:tbl>
          </a:graphicData>
        </a:graphic>
      </p:graphicFrame>
      <p:sp>
        <p:nvSpPr>
          <p:cNvPr id="464" name="Google Shape;464;p42"/>
          <p:cNvSpPr txBox="1"/>
          <p:nvPr/>
        </p:nvSpPr>
        <p:spPr>
          <a:xfrm>
            <a:off x="195417" y="563183"/>
            <a:ext cx="10506456" cy="567599"/>
          </a:xfrm>
          <a:prstGeom prst="rect">
            <a:avLst/>
          </a:prstGeom>
        </p:spPr>
        <p:txBody>
          <a:bodyPr spcFirstLastPara="1" vert="horz" lIns="91440" tIns="45720" rIns="91440" bIns="45720" rtlCol="0" anchor="ctr" anchorCtr="0">
            <a:normAutofit lnSpcReduction="10000"/>
          </a:bodyPr>
          <a:lstStyle/>
          <a:p>
            <a:pPr marL="0" marR="0" lvl="0" indent="0">
              <a:lnSpc>
                <a:spcPct val="90000"/>
              </a:lnSpc>
              <a:spcBef>
                <a:spcPct val="0"/>
              </a:spcBef>
              <a:spcAft>
                <a:spcPts val="600"/>
              </a:spcAft>
              <a:buClr>
                <a:schemeClr val="dk1"/>
              </a:buClr>
              <a:buSzPts val="4200"/>
            </a:pPr>
            <a:r>
              <a:rPr lang="en-US" sz="3100" kern="1200" dirty="0">
                <a:solidFill>
                  <a:schemeClr val="tx1"/>
                </a:solidFill>
                <a:latin typeface="+mj-lt"/>
                <a:ea typeface="+mj-ea"/>
                <a:cs typeface="+mj-cs"/>
                <a:sym typeface="Calibri"/>
              </a:rPr>
              <a:t>Researches since Dec 2021</a:t>
            </a:r>
            <a:endParaRPr lang="en-US" sz="3100" kern="1200" dirty="0">
              <a:solidFill>
                <a:schemeClr val="tx1"/>
              </a:solidFill>
              <a:latin typeface="+mj-lt"/>
              <a:ea typeface="+mj-ea"/>
              <a:cs typeface="+mj-cs"/>
            </a:endParaRPr>
          </a:p>
        </p:txBody>
      </p:sp>
      <p:sp>
        <p:nvSpPr>
          <p:cNvPr id="460" name="Google Shape;460;p42"/>
          <p:cNvSpPr txBox="1">
            <a:spLocks noGrp="1"/>
          </p:cNvSpPr>
          <p:nvPr>
            <p:ph type="sldNum" idx="12"/>
          </p:nvPr>
        </p:nvSpPr>
        <p:spPr>
          <a:xfrm>
            <a:off x="8682300" y="6454090"/>
            <a:ext cx="2292942" cy="305195"/>
          </a:xfrm>
          <a:prstGeom prst="rect">
            <a:avLst/>
          </a:prstGeom>
          <a:noFill/>
          <a:ln>
            <a:noFill/>
          </a:ln>
        </p:spPr>
        <p:txBody>
          <a:bodyPr spcFirstLastPara="1" wrap="square" lIns="91425" tIns="45700" rIns="91425" bIns="45700" anchor="ctr" anchorCtr="0">
            <a:noAutofit/>
          </a:bodyPr>
          <a:lstStyle/>
          <a:p>
            <a:pPr>
              <a:spcAft>
                <a:spcPts val="600"/>
              </a:spcAft>
            </a:pPr>
            <a:fld id="{00000000-1234-1234-1234-123412341234}" type="slidenum">
              <a:rPr lang="en-US" sz="996" b="0" i="0" u="none" strike="noStrike" cap="none">
                <a:solidFill>
                  <a:srgbClr val="888888"/>
                </a:solidFill>
                <a:latin typeface="Calibri"/>
                <a:ea typeface="Calibri"/>
                <a:cs typeface="Calibri"/>
                <a:sym typeface="Calibri"/>
              </a:rPr>
              <a:pPr>
                <a:spcAft>
                  <a:spcPts val="600"/>
                </a:spcAft>
              </a:pPr>
              <a:t>82</a:t>
            </a:fld>
            <a:endParaRPr lang="en-US" dirty="0"/>
          </a:p>
        </p:txBody>
      </p:sp>
      <p:graphicFrame>
        <p:nvGraphicFramePr>
          <p:cNvPr id="2" name="Table 2">
            <a:extLst>
              <a:ext uri="{FF2B5EF4-FFF2-40B4-BE49-F238E27FC236}">
                <a16:creationId xmlns:a16="http://schemas.microsoft.com/office/drawing/2014/main" id="{DAA4B544-4B96-FB03-99A9-DD0B4CB9BD3A}"/>
              </a:ext>
            </a:extLst>
          </p:cNvPr>
          <p:cNvGraphicFramePr>
            <a:graphicFrameLocks noGrp="1"/>
          </p:cNvGraphicFramePr>
          <p:nvPr>
            <p:extLst>
              <p:ext uri="{D42A27DB-BD31-4B8C-83A1-F6EECF244321}">
                <p14:modId xmlns:p14="http://schemas.microsoft.com/office/powerpoint/2010/main" val="2824635010"/>
              </p:ext>
            </p:extLst>
          </p:nvPr>
        </p:nvGraphicFramePr>
        <p:xfrm>
          <a:off x="132862" y="1212611"/>
          <a:ext cx="8127999" cy="74168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964977038"/>
                    </a:ext>
                  </a:extLst>
                </a:gridCol>
                <a:gridCol w="2709333">
                  <a:extLst>
                    <a:ext uri="{9D8B030D-6E8A-4147-A177-3AD203B41FA5}">
                      <a16:colId xmlns:a16="http://schemas.microsoft.com/office/drawing/2014/main" val="4177898622"/>
                    </a:ext>
                  </a:extLst>
                </a:gridCol>
                <a:gridCol w="2709333">
                  <a:extLst>
                    <a:ext uri="{9D8B030D-6E8A-4147-A177-3AD203B41FA5}">
                      <a16:colId xmlns:a16="http://schemas.microsoft.com/office/drawing/2014/main" val="838883359"/>
                    </a:ext>
                  </a:extLst>
                </a:gridCol>
              </a:tblGrid>
              <a:tr h="370840">
                <a:tc>
                  <a:txBody>
                    <a:bodyPr/>
                    <a:lstStyle/>
                    <a:p>
                      <a:r>
                        <a:rPr lang="en-US" dirty="0"/>
                        <a:t># of papers from libraries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of papers from snowballing</a:t>
                      </a:r>
                    </a:p>
                  </a:txBody>
                  <a:tcPr/>
                </a:tc>
                <a:tc>
                  <a:txBody>
                    <a:bodyPr/>
                    <a:lstStyle/>
                    <a:p>
                      <a:r>
                        <a:rPr lang="en-US" dirty="0"/>
                        <a:t># of papers</a:t>
                      </a:r>
                    </a:p>
                  </a:txBody>
                  <a:tcPr/>
                </a:tc>
                <a:extLst>
                  <a:ext uri="{0D108BD9-81ED-4DB2-BD59-A6C34878D82A}">
                    <a16:rowId xmlns:a16="http://schemas.microsoft.com/office/drawing/2014/main" val="3623836567"/>
                  </a:ext>
                </a:extLst>
              </a:tr>
              <a:tr h="370840">
                <a:tc>
                  <a:txBody>
                    <a:bodyPr/>
                    <a:lstStyle/>
                    <a:p>
                      <a:r>
                        <a:rPr lang="en-US" dirty="0"/>
                        <a:t>19</a:t>
                      </a:r>
                    </a:p>
                  </a:txBody>
                  <a:tcPr/>
                </a:tc>
                <a:tc>
                  <a:txBody>
                    <a:bodyPr/>
                    <a:lstStyle/>
                    <a:p>
                      <a:r>
                        <a:rPr lang="en-US" dirty="0"/>
                        <a:t>2</a:t>
                      </a:r>
                    </a:p>
                  </a:txBody>
                  <a:tcPr/>
                </a:tc>
                <a:tc>
                  <a:txBody>
                    <a:bodyPr/>
                    <a:lstStyle/>
                    <a:p>
                      <a:r>
                        <a:rPr lang="en-US" dirty="0"/>
                        <a:t>21</a:t>
                      </a:r>
                    </a:p>
                  </a:txBody>
                  <a:tcPr/>
                </a:tc>
                <a:extLst>
                  <a:ext uri="{0D108BD9-81ED-4DB2-BD59-A6C34878D82A}">
                    <a16:rowId xmlns:a16="http://schemas.microsoft.com/office/drawing/2014/main" val="1662758234"/>
                  </a:ext>
                </a:extLst>
              </a:tr>
            </a:tbl>
          </a:graphicData>
        </a:graphic>
      </p:graphicFrame>
      <p:graphicFrame>
        <p:nvGraphicFramePr>
          <p:cNvPr id="5" name="Table 4">
            <a:extLst>
              <a:ext uri="{FF2B5EF4-FFF2-40B4-BE49-F238E27FC236}">
                <a16:creationId xmlns:a16="http://schemas.microsoft.com/office/drawing/2014/main" id="{80FBD6F2-4213-F514-59AE-D27084E753B9}"/>
              </a:ext>
            </a:extLst>
          </p:cNvPr>
          <p:cNvGraphicFramePr>
            <a:graphicFrameLocks noGrp="1"/>
          </p:cNvGraphicFramePr>
          <p:nvPr>
            <p:extLst>
              <p:ext uri="{D42A27DB-BD31-4B8C-83A1-F6EECF244321}">
                <p14:modId xmlns:p14="http://schemas.microsoft.com/office/powerpoint/2010/main" val="2200733747"/>
              </p:ext>
            </p:extLst>
          </p:nvPr>
        </p:nvGraphicFramePr>
        <p:xfrm>
          <a:off x="0" y="0"/>
          <a:ext cx="12192000" cy="37084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367895839"/>
                    </a:ext>
                  </a:extLst>
                </a:gridCol>
                <a:gridCol w="6096000">
                  <a:extLst>
                    <a:ext uri="{9D8B030D-6E8A-4147-A177-3AD203B41FA5}">
                      <a16:colId xmlns:a16="http://schemas.microsoft.com/office/drawing/2014/main" val="420858751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Future Research: Research since Dec 2021</a:t>
                      </a:r>
                    </a:p>
                  </a:txBody>
                  <a:tcPr>
                    <a:solidFill>
                      <a:srgbClr val="7030A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Overview: Conclusion</a:t>
                      </a:r>
                    </a:p>
                  </a:txBody>
                  <a:tcPr>
                    <a:solidFill>
                      <a:srgbClr val="7030A0"/>
                    </a:solidFill>
                  </a:tcPr>
                </a:tc>
                <a:extLst>
                  <a:ext uri="{0D108BD9-81ED-4DB2-BD59-A6C34878D82A}">
                    <a16:rowId xmlns:a16="http://schemas.microsoft.com/office/drawing/2014/main" val="2577230158"/>
                  </a:ext>
                </a:extLst>
              </a:tr>
            </a:tbl>
          </a:graphicData>
        </a:graphic>
      </p:graphicFrame>
    </p:spTree>
    <p:extLst>
      <p:ext uri="{BB962C8B-B14F-4D97-AF65-F5344CB8AC3E}">
        <p14:creationId xmlns:p14="http://schemas.microsoft.com/office/powerpoint/2010/main" val="42089557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latin typeface="Calibri"/>
                <a:ea typeface="Calibri"/>
                <a:cs typeface="Calibri"/>
                <a:sym typeface="Calibri"/>
              </a:rPr>
              <a:t>Overview</a:t>
            </a:r>
            <a:endParaRPr dirty="0"/>
          </a:p>
        </p:txBody>
      </p:sp>
      <p:sp>
        <p:nvSpPr>
          <p:cNvPr id="96" name="Google Shape;96;p2"/>
          <p:cNvSpPr txBox="1">
            <a:spLocks noGrp="1"/>
          </p:cNvSpPr>
          <p:nvPr>
            <p:ph type="body" idx="1"/>
          </p:nvPr>
        </p:nvSpPr>
        <p:spPr>
          <a:xfrm>
            <a:off x="838200" y="1548534"/>
            <a:ext cx="10515600" cy="4351338"/>
          </a:xfrm>
          <a:prstGeom prst="rect">
            <a:avLst/>
          </a:prstGeom>
          <a:noFill/>
          <a:ln>
            <a:noFill/>
          </a:ln>
        </p:spPr>
        <p:txBody>
          <a:bodyPr spcFirstLastPara="1" wrap="square" lIns="91425" tIns="45700" rIns="91425" bIns="45700" anchor="t" anchorCtr="0">
            <a:normAutofit fontScale="62500" lnSpcReduction="20000"/>
          </a:bodyPr>
          <a:lstStyle/>
          <a:p>
            <a:pPr marL="228600" indent="-228600">
              <a:buSzPct val="100000"/>
            </a:pPr>
            <a:r>
              <a:rPr lang="en-US" sz="2900" u="sng" dirty="0">
                <a:solidFill>
                  <a:schemeClr val="hlink"/>
                </a:solidFill>
                <a:hlinkClick r:id="rId3" action="ppaction://hlinksldjump"/>
              </a:rPr>
              <a:t>Introduction</a:t>
            </a:r>
            <a:r>
              <a:rPr lang="en-US" sz="2900" u="sng" dirty="0">
                <a:solidFill>
                  <a:schemeClr val="hlink"/>
                </a:solidFill>
              </a:rPr>
              <a:t> </a:t>
            </a:r>
          </a:p>
          <a:p>
            <a:pPr marL="685800" lvl="1" indent="-228600">
              <a:buSzPct val="100000"/>
            </a:pPr>
            <a:r>
              <a:rPr lang="en-US" sz="2500" u="sng" dirty="0">
                <a:solidFill>
                  <a:schemeClr val="hlink"/>
                </a:solidFill>
                <a:hlinkClick r:id="rId4" action="ppaction://hlinksldjump">
                  <a:extLst>
                    <a:ext uri="{A12FA001-AC4F-418D-AE19-62706E023703}">
                      <ahyp:hlinkClr xmlns:ahyp="http://schemas.microsoft.com/office/drawing/2018/hyperlinkcolor" val="tx"/>
                    </a:ext>
                  </a:extLst>
                </a:hlinkClick>
              </a:rPr>
              <a:t>Paper Selection and Publication Trend</a:t>
            </a:r>
            <a:endParaRPr lang="en-US" sz="2500" u="sng" dirty="0">
              <a:solidFill>
                <a:schemeClr val="hlink"/>
              </a:solidFill>
            </a:endParaRPr>
          </a:p>
          <a:p>
            <a:pPr marL="685800" lvl="1" indent="-228600">
              <a:buSzPct val="100000"/>
            </a:pPr>
            <a:r>
              <a:rPr lang="en-US" sz="2600" u="sng" dirty="0">
                <a:solidFill>
                  <a:schemeClr val="hlink"/>
                </a:solidFill>
                <a:hlinkClick r:id="rId5" action="ppaction://hlinksldjump"/>
              </a:rPr>
              <a:t>Publication Trend</a:t>
            </a:r>
            <a:endParaRPr lang="en-US" sz="2600" u="sng" dirty="0">
              <a:solidFill>
                <a:schemeClr val="hlink"/>
              </a:solidFill>
            </a:endParaRPr>
          </a:p>
          <a:p>
            <a:pPr marL="685800" lvl="1" indent="-228600">
              <a:buSzPct val="100000"/>
            </a:pPr>
            <a:r>
              <a:rPr lang="en-US" sz="2600" u="sng" dirty="0">
                <a:solidFill>
                  <a:schemeClr val="hlink"/>
                </a:solidFill>
                <a:hlinkClick r:id="rId3" action="ppaction://hlinksldjump"/>
              </a:rPr>
              <a:t>Overview of JIT-SDP</a:t>
            </a:r>
            <a:endParaRPr lang="en-US" sz="2600" u="sng" dirty="0">
              <a:solidFill>
                <a:schemeClr val="hlink"/>
              </a:solidFill>
            </a:endParaRPr>
          </a:p>
          <a:p>
            <a:pPr marL="228600" indent="-228600">
              <a:buSzPct val="100000"/>
            </a:pPr>
            <a:r>
              <a:rPr lang="en-US" sz="2900" u="sng" dirty="0">
                <a:solidFill>
                  <a:schemeClr val="hlink"/>
                </a:solidFill>
                <a:hlinkClick r:id="rId6" action="ppaction://hlinksldjump">
                  <a:extLst>
                    <a:ext uri="{A12FA001-AC4F-418D-AE19-62706E023703}">
                      <ahyp:hlinkClr xmlns:ahyp="http://schemas.microsoft.com/office/drawing/2018/hyperlinkcolor" val="tx"/>
                    </a:ext>
                  </a:extLst>
                </a:hlinkClick>
              </a:rPr>
              <a:t>Review of Just-in-time Software Defect Prediction</a:t>
            </a:r>
          </a:p>
          <a:p>
            <a:pPr marL="685800" lvl="1" indent="-228600">
              <a:buSzPct val="100000"/>
            </a:pPr>
            <a:r>
              <a:rPr lang="en-US" sz="2500" u="sng" dirty="0">
                <a:solidFill>
                  <a:schemeClr val="hlink"/>
                </a:solidFill>
                <a:hlinkClick r:id="rId6" action="ppaction://hlinksldjump">
                  <a:extLst>
                    <a:ext uri="{A12FA001-AC4F-418D-AE19-62706E023703}">
                      <ahyp:hlinkClr xmlns:ahyp="http://schemas.microsoft.com/office/drawing/2018/hyperlinkcolor" val="tx"/>
                    </a:ext>
                  </a:extLst>
                </a:hlinkClick>
              </a:rPr>
              <a:t>Data Sources</a:t>
            </a:r>
            <a:endParaRPr sz="2500" u="sng" dirty="0">
              <a:solidFill>
                <a:schemeClr val="hlink"/>
              </a:solidFill>
            </a:endParaRPr>
          </a:p>
          <a:p>
            <a:pPr marL="685800" lvl="1" indent="-228600">
              <a:spcBef>
                <a:spcPts val="1000"/>
              </a:spcBef>
              <a:buSzPct val="100000"/>
            </a:pPr>
            <a:r>
              <a:rPr lang="en-US" u="sng" dirty="0">
                <a:solidFill>
                  <a:schemeClr val="hlink"/>
                </a:solidFill>
                <a:hlinkClick r:id="rId7" action="ppaction://hlinksldjump"/>
              </a:rPr>
              <a:t>Feature Acquisition and Processing</a:t>
            </a:r>
            <a:endParaRPr dirty="0"/>
          </a:p>
          <a:p>
            <a:pPr marL="685800" lvl="1" indent="-228600">
              <a:spcBef>
                <a:spcPts val="1000"/>
              </a:spcBef>
              <a:buSzPct val="100000"/>
            </a:pPr>
            <a:r>
              <a:rPr lang="en-US" u="sng" dirty="0">
                <a:solidFill>
                  <a:schemeClr val="hlink"/>
                </a:solidFill>
                <a:hlinkClick r:id="rId8" action="ppaction://hlinksldjump"/>
              </a:rPr>
              <a:t>Defect-Inducing Label Assignment</a:t>
            </a:r>
            <a:endParaRPr dirty="0"/>
          </a:p>
          <a:p>
            <a:pPr marL="685800" lvl="1" indent="-228600">
              <a:spcBef>
                <a:spcPts val="1000"/>
              </a:spcBef>
              <a:buSzPct val="100000"/>
            </a:pPr>
            <a:r>
              <a:rPr lang="en-US" u="sng" dirty="0">
                <a:solidFill>
                  <a:schemeClr val="hlink"/>
                </a:solidFill>
                <a:hlinkClick r:id="rId9" action="ppaction://hlinksldjump"/>
              </a:rPr>
              <a:t>Data Transformation</a:t>
            </a:r>
            <a:endParaRPr dirty="0"/>
          </a:p>
          <a:p>
            <a:pPr marL="685800" lvl="1" indent="-228600">
              <a:spcBef>
                <a:spcPts val="1000"/>
              </a:spcBef>
              <a:buSzPct val="100000"/>
            </a:pPr>
            <a:r>
              <a:rPr lang="en-US" u="sng" dirty="0">
                <a:solidFill>
                  <a:schemeClr val="hlink"/>
                </a:solidFill>
                <a:hlinkClick r:id="rId10" action="ppaction://hlinksldjump"/>
              </a:rPr>
              <a:t>Modeling</a:t>
            </a:r>
            <a:endParaRPr dirty="0"/>
          </a:p>
          <a:p>
            <a:pPr marL="685800" lvl="1" indent="-228600">
              <a:spcBef>
                <a:spcPts val="1000"/>
              </a:spcBef>
              <a:buSzPct val="100000"/>
            </a:pPr>
            <a:r>
              <a:rPr lang="en-US" u="sng" dirty="0">
                <a:solidFill>
                  <a:schemeClr val="hlink"/>
                </a:solidFill>
                <a:hlinkClick r:id="rId11" action="ppaction://hlinksldjump"/>
              </a:rPr>
              <a:t>Evaluation</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2" action="ppaction://hlinksldjump"/>
              </a:rPr>
              <a:t>Analysis and Open Questions</a:t>
            </a:r>
            <a:endParaRPr dirty="0"/>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3" action="ppaction://hlinksldjump"/>
              </a:rPr>
              <a:t>Future Research</a:t>
            </a:r>
            <a:r>
              <a:rPr lang="en-US" u="sng" dirty="0">
                <a:solidFill>
                  <a:schemeClr val="hlink"/>
                </a:solidFill>
              </a:rPr>
              <a:t> </a:t>
            </a:r>
          </a:p>
          <a:p>
            <a:pPr marL="228600" lvl="0" indent="-228600" algn="l" rtl="0">
              <a:lnSpc>
                <a:spcPct val="90000"/>
              </a:lnSpc>
              <a:spcBef>
                <a:spcPts val="1000"/>
              </a:spcBef>
              <a:spcAft>
                <a:spcPts val="0"/>
              </a:spcAft>
              <a:buClr>
                <a:schemeClr val="dk1"/>
              </a:buClr>
              <a:buSzPct val="100000"/>
              <a:buChar char="•"/>
            </a:pPr>
            <a:r>
              <a:rPr lang="en-US" u="sng" dirty="0">
                <a:solidFill>
                  <a:schemeClr val="hlink"/>
                </a:solidFill>
                <a:hlinkClick r:id="rId14" action="ppaction://hlinksldjump"/>
              </a:rPr>
              <a:t>Conclusion</a:t>
            </a:r>
            <a:endParaRPr dirty="0"/>
          </a:p>
        </p:txBody>
      </p:sp>
      <p:sp>
        <p:nvSpPr>
          <p:cNvPr id="97" name="Google Shape;9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83</a:t>
            </a:fld>
            <a:endParaRPr/>
          </a:p>
        </p:txBody>
      </p:sp>
    </p:spTree>
    <p:extLst>
      <p:ext uri="{BB962C8B-B14F-4D97-AF65-F5344CB8AC3E}">
        <p14:creationId xmlns:p14="http://schemas.microsoft.com/office/powerpoint/2010/main" val="25310662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9"/>
        <p:cNvGrpSpPr/>
        <p:nvPr/>
      </p:nvGrpSpPr>
      <p:grpSpPr>
        <a:xfrm>
          <a:off x="0" y="0"/>
          <a:ext cx="0" cy="0"/>
          <a:chOff x="0" y="0"/>
          <a:chExt cx="0" cy="0"/>
        </a:xfrm>
      </p:grpSpPr>
      <p:sp>
        <p:nvSpPr>
          <p:cNvPr id="520" name="Google Shape;520;p46"/>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1" name="Google Shape;521;p46" descr="Graph on document with pen"/>
          <p:cNvPicPr preferRelativeResize="0"/>
          <p:nvPr/>
        </p:nvPicPr>
        <p:blipFill rotWithShape="1">
          <a:blip r:embed="rId3">
            <a:alphaModFix amt="40000"/>
          </a:blip>
          <a:srcRect t="1415" b="14315"/>
          <a:stretch/>
        </p:blipFill>
        <p:spPr>
          <a:xfrm>
            <a:off x="-1" y="10"/>
            <a:ext cx="12192001" cy="6857990"/>
          </a:xfrm>
          <a:prstGeom prst="rect">
            <a:avLst/>
          </a:prstGeom>
          <a:noFill/>
          <a:ln>
            <a:noFill/>
          </a:ln>
        </p:spPr>
      </p:pic>
      <p:sp>
        <p:nvSpPr>
          <p:cNvPr id="522" name="Google Shape;52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5400"/>
              <a:buFont typeface="Calibri"/>
              <a:buNone/>
            </a:pPr>
            <a:r>
              <a:rPr lang="en-US" sz="5400">
                <a:solidFill>
                  <a:schemeClr val="lt1"/>
                </a:solidFill>
                <a:latin typeface="Calibri"/>
                <a:ea typeface="Calibri"/>
                <a:cs typeface="Calibri"/>
                <a:sym typeface="Calibri"/>
              </a:rPr>
              <a:t>Conclusion</a:t>
            </a:r>
            <a:endParaRPr/>
          </a:p>
        </p:txBody>
      </p:sp>
      <p:sp>
        <p:nvSpPr>
          <p:cNvPr id="523" name="Google Shape;523;p46"/>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chemeClr val="lt1">
                <a:alpha val="74901"/>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46"/>
          <p:cNvSpPr txBox="1">
            <a:spLocks noGrp="1"/>
          </p:cNvSpPr>
          <p:nvPr>
            <p:ph type="body" idx="1"/>
          </p:nvPr>
        </p:nvSpPr>
        <p:spPr>
          <a:xfrm>
            <a:off x="838200" y="2484507"/>
            <a:ext cx="10515600" cy="236943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200"/>
              <a:buNone/>
            </a:pPr>
            <a:r>
              <a:rPr lang="en-US" sz="2200" b="0" i="0" u="none" strike="noStrike" dirty="0">
                <a:solidFill>
                  <a:schemeClr val="lt1"/>
                </a:solidFill>
                <a:latin typeface="Arial"/>
                <a:ea typeface="Arial"/>
                <a:cs typeface="Arial"/>
                <a:sym typeface="Arial"/>
              </a:rPr>
              <a:t>With the aim at understanding the state-of-the-art of the JIT-SDP models’ performance, we conduct a meta-analysis of existing studies. </a:t>
            </a:r>
          </a:p>
          <a:p>
            <a:pPr marL="0" lvl="0" indent="0" algn="l" rtl="0">
              <a:lnSpc>
                <a:spcPct val="90000"/>
              </a:lnSpc>
              <a:spcBef>
                <a:spcPts val="0"/>
              </a:spcBef>
              <a:spcAft>
                <a:spcPts val="0"/>
              </a:spcAft>
              <a:buClr>
                <a:schemeClr val="lt1"/>
              </a:buClr>
              <a:buSzPts val="2200"/>
              <a:buNone/>
            </a:pPr>
            <a:endParaRPr lang="en-US" sz="2200" dirty="0">
              <a:solidFill>
                <a:schemeClr val="lt1"/>
              </a:solidFill>
              <a:latin typeface="Arial"/>
              <a:ea typeface="Arial"/>
              <a:cs typeface="Arial"/>
              <a:sym typeface="Arial"/>
            </a:endParaRPr>
          </a:p>
          <a:p>
            <a:pPr marL="0" lvl="0" indent="0" algn="l" rtl="0">
              <a:lnSpc>
                <a:spcPct val="90000"/>
              </a:lnSpc>
              <a:spcBef>
                <a:spcPts val="0"/>
              </a:spcBef>
              <a:spcAft>
                <a:spcPts val="0"/>
              </a:spcAft>
              <a:buClr>
                <a:schemeClr val="lt1"/>
              </a:buClr>
              <a:buSzPts val="2200"/>
              <a:buNone/>
            </a:pPr>
            <a:r>
              <a:rPr lang="en-US" sz="2200" b="0" i="0" u="none" strike="noStrike" dirty="0">
                <a:solidFill>
                  <a:schemeClr val="lt1"/>
                </a:solidFill>
                <a:latin typeface="Arial"/>
                <a:ea typeface="Arial"/>
                <a:cs typeface="Arial"/>
                <a:sym typeface="Arial"/>
              </a:rPr>
              <a:t>In our literature survey, we discuss the major achievement of JIT-SDP research in context of the entire workflow of JIT-SDP, point out the questions in this area and provide the possible future research directions.</a:t>
            </a:r>
            <a:endParaRPr dirty="0"/>
          </a:p>
          <a:p>
            <a:pPr marL="0" lvl="0" indent="0" algn="l" rtl="0">
              <a:lnSpc>
                <a:spcPct val="90000"/>
              </a:lnSpc>
              <a:spcBef>
                <a:spcPts val="1000"/>
              </a:spcBef>
              <a:spcAft>
                <a:spcPts val="0"/>
              </a:spcAft>
              <a:buClr>
                <a:schemeClr val="dk1"/>
              </a:buClr>
              <a:buSzPts val="2200"/>
              <a:buNone/>
            </a:pPr>
            <a:endParaRPr sz="2200" dirty="0">
              <a:solidFill>
                <a:schemeClr val="lt1"/>
              </a:solidFill>
              <a:latin typeface="Arial"/>
              <a:ea typeface="Arial"/>
              <a:cs typeface="Arial"/>
              <a:sym typeface="Arial"/>
            </a:endParaRPr>
          </a:p>
          <a:p>
            <a:pPr marL="0" lvl="0" indent="0" algn="l" rtl="0">
              <a:lnSpc>
                <a:spcPct val="90000"/>
              </a:lnSpc>
              <a:spcBef>
                <a:spcPts val="1000"/>
              </a:spcBef>
              <a:spcAft>
                <a:spcPts val="0"/>
              </a:spcAft>
              <a:buClr>
                <a:schemeClr val="dk1"/>
              </a:buClr>
              <a:buSzPts val="2200"/>
              <a:buNone/>
            </a:pPr>
            <a:endParaRPr sz="2200" dirty="0">
              <a:solidFill>
                <a:schemeClr val="lt1"/>
              </a:solidFill>
            </a:endParaRPr>
          </a:p>
        </p:txBody>
      </p:sp>
      <p:sp>
        <p:nvSpPr>
          <p:cNvPr id="525" name="Google Shape;52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FFFFFF"/>
                </a:solidFill>
              </a:rPr>
              <a:t>84</a:t>
            </a:fld>
            <a:endParaRPr>
              <a:solidFill>
                <a:srgbClr val="FFFFFF"/>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6"/>
          <p:cNvSpPr/>
          <p:nvPr/>
        </p:nvSpPr>
        <p:spPr>
          <a:xfrm>
            <a:off x="0" y="0"/>
            <a:ext cx="12188952" cy="68580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21" name="Google Shape;521;p46" descr="Graph on document with pen"/>
          <p:cNvPicPr preferRelativeResize="0"/>
          <p:nvPr/>
        </p:nvPicPr>
        <p:blipFill rotWithShape="1">
          <a:blip r:embed="rId3">
            <a:alphaModFix amt="40000"/>
          </a:blip>
          <a:srcRect t="1415" b="14315"/>
          <a:stretch/>
        </p:blipFill>
        <p:spPr>
          <a:xfrm>
            <a:off x="-1" y="10"/>
            <a:ext cx="12192001" cy="6857990"/>
          </a:xfrm>
          <a:prstGeom prst="rect">
            <a:avLst/>
          </a:prstGeom>
          <a:noFill/>
          <a:ln>
            <a:noFill/>
          </a:ln>
        </p:spPr>
      </p:pic>
      <p:sp>
        <p:nvSpPr>
          <p:cNvPr id="522" name="Google Shape;522;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5400"/>
              <a:buFont typeface="Calibri"/>
              <a:buNone/>
            </a:pPr>
            <a:r>
              <a:rPr lang="en-US" sz="5400">
                <a:solidFill>
                  <a:schemeClr val="lt1"/>
                </a:solidFill>
                <a:latin typeface="Calibri"/>
                <a:ea typeface="Calibri"/>
                <a:cs typeface="Calibri"/>
                <a:sym typeface="Calibri"/>
              </a:rPr>
              <a:t>Conclusion</a:t>
            </a:r>
            <a:endParaRPr/>
          </a:p>
        </p:txBody>
      </p:sp>
      <p:sp>
        <p:nvSpPr>
          <p:cNvPr id="523" name="Google Shape;523;p46"/>
          <p:cNvSpPr/>
          <p:nvPr/>
        </p:nvSpPr>
        <p:spPr>
          <a:xfrm>
            <a:off x="914399" y="1681544"/>
            <a:ext cx="9692640" cy="18288"/>
          </a:xfrm>
          <a:custGeom>
            <a:avLst/>
            <a:gdLst/>
            <a:ahLst/>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4901"/>
            </a:srgbClr>
          </a:solidFill>
          <a:ln w="44450" cap="rnd" cmpd="sng">
            <a:solidFill>
              <a:schemeClr val="lt1">
                <a:alpha val="74901"/>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4" name="Google Shape;524;p46"/>
          <p:cNvSpPr txBox="1">
            <a:spLocks noGrp="1"/>
          </p:cNvSpPr>
          <p:nvPr>
            <p:ph type="body" idx="1"/>
          </p:nvPr>
        </p:nvSpPr>
        <p:spPr>
          <a:xfrm>
            <a:off x="386863" y="2004446"/>
            <a:ext cx="11512060" cy="4176897"/>
          </a:xfrm>
          <a:prstGeom prst="rect">
            <a:avLst/>
          </a:prstGeom>
          <a:noFill/>
          <a:ln>
            <a:noFill/>
          </a:ln>
        </p:spPr>
        <p:txBody>
          <a:bodyPr spcFirstLastPara="1" wrap="square" lIns="91425" tIns="45700" rIns="91425" bIns="45700" anchor="t" anchorCtr="0">
            <a:normAutofit/>
          </a:bodyPr>
          <a:lstStyle/>
          <a:p>
            <a:pPr marL="114300" indent="0" algn="l">
              <a:buNone/>
            </a:pPr>
            <a:r>
              <a:rPr lang="en-US" sz="1800" b="0" i="0" u="none" strike="noStrike" baseline="0" dirty="0">
                <a:solidFill>
                  <a:schemeClr val="bg1"/>
                </a:solidFill>
                <a:latin typeface="Abadi" panose="020B0604020104020204" pitchFamily="34" charset="0"/>
              </a:rPr>
              <a:t>PUBLICATIONS</a:t>
            </a:r>
          </a:p>
          <a:p>
            <a:pPr algn="l"/>
            <a:r>
              <a:rPr lang="en-US" sz="1800" b="0" i="0" u="none" strike="noStrike" baseline="0" dirty="0">
                <a:solidFill>
                  <a:schemeClr val="bg1"/>
                </a:solidFill>
                <a:latin typeface="Abadi" panose="020B0604020104020204" pitchFamily="34" charset="0"/>
              </a:rPr>
              <a:t>1. Yunhua Zhao, </a:t>
            </a:r>
            <a:r>
              <a:rPr lang="en-US" sz="1800" b="0" i="0" u="none" strike="noStrike" baseline="0" dirty="0" err="1">
                <a:solidFill>
                  <a:schemeClr val="bg1"/>
                </a:solidFill>
                <a:latin typeface="Abadi" panose="020B0604020104020204" pitchFamily="34" charset="0"/>
              </a:rPr>
              <a:t>Kostadin</a:t>
            </a:r>
            <a:r>
              <a:rPr lang="en-US" sz="1800" b="0" i="0" u="none" strike="noStrike" baseline="0" dirty="0">
                <a:solidFill>
                  <a:schemeClr val="bg1"/>
                </a:solidFill>
                <a:latin typeface="Abadi" panose="020B0604020104020204" pitchFamily="34" charset="0"/>
              </a:rPr>
              <a:t> </a:t>
            </a:r>
            <a:r>
              <a:rPr lang="en-US" sz="1800" b="0" i="0" u="none" strike="noStrike" baseline="0" dirty="0" err="1">
                <a:solidFill>
                  <a:schemeClr val="bg1"/>
                </a:solidFill>
                <a:latin typeface="Abadi" panose="020B0604020104020204" pitchFamily="34" charset="0"/>
              </a:rPr>
              <a:t>Damevski</a:t>
            </a:r>
            <a:r>
              <a:rPr lang="en-US" sz="1800" b="0" i="0" u="none" strike="noStrike" baseline="0" dirty="0">
                <a:solidFill>
                  <a:schemeClr val="bg1"/>
                </a:solidFill>
                <a:latin typeface="Abadi" panose="020B0604020104020204" pitchFamily="34" charset="0"/>
              </a:rPr>
              <a:t>, and Hui Chen. A systematic survey of just-in-time software defect prediction. ACM Computing Surveys, 55(10):1–35, 2023</a:t>
            </a:r>
          </a:p>
          <a:p>
            <a:pPr algn="l"/>
            <a:r>
              <a:rPr lang="en-US" sz="1800" b="0" i="0" u="none" strike="noStrike" baseline="0" dirty="0">
                <a:solidFill>
                  <a:schemeClr val="bg1"/>
                </a:solidFill>
                <a:latin typeface="Abadi" panose="020B0604020104020204" pitchFamily="34" charset="0"/>
              </a:rPr>
              <a:t>2. Yunhua Zhao and Hui Chen. 2023. Deep Incremental Learning of Imbalanced Data for Just-In-Time Software Defect Prediction. TR-2022-128. IEEE Transactions on Reliability. (Major Revision)</a:t>
            </a:r>
          </a:p>
          <a:p>
            <a:pPr algn="l"/>
            <a:r>
              <a:rPr lang="en-US" sz="1800" dirty="0">
                <a:solidFill>
                  <a:schemeClr val="bg1"/>
                </a:solidFill>
                <a:latin typeface="Abadi" panose="020B0604020104020204" pitchFamily="34" charset="0"/>
                <a:ea typeface="Arial"/>
                <a:cs typeface="Arial"/>
                <a:sym typeface="Arial"/>
              </a:rPr>
              <a:t>3. Hui Chen, Ashfin Enayet, Yunhua Zhao, </a:t>
            </a:r>
            <a:r>
              <a:rPr lang="en-US" sz="1800" dirty="0" err="1">
                <a:solidFill>
                  <a:schemeClr val="bg1"/>
                </a:solidFill>
                <a:latin typeface="Abadi" panose="020B0604020104020204" pitchFamily="34" charset="0"/>
                <a:ea typeface="Arial"/>
                <a:cs typeface="Arial"/>
                <a:sym typeface="Arial"/>
              </a:rPr>
              <a:t>kostadin</a:t>
            </a:r>
            <a:r>
              <a:rPr lang="en-US" sz="1800" dirty="0">
                <a:solidFill>
                  <a:schemeClr val="bg1"/>
                </a:solidFill>
                <a:latin typeface="Abadi" panose="020B0604020104020204" pitchFamily="34" charset="0"/>
                <a:ea typeface="Arial"/>
                <a:cs typeface="Arial"/>
                <a:sym typeface="Arial"/>
              </a:rPr>
              <a:t> </a:t>
            </a:r>
            <a:r>
              <a:rPr lang="en-US" sz="1800" dirty="0" err="1">
                <a:solidFill>
                  <a:schemeClr val="bg1"/>
                </a:solidFill>
                <a:latin typeface="Abadi" panose="020B0604020104020204" pitchFamily="34" charset="0"/>
                <a:ea typeface="Arial"/>
                <a:cs typeface="Arial"/>
                <a:sym typeface="Arial"/>
              </a:rPr>
              <a:t>Damevski</a:t>
            </a:r>
            <a:r>
              <a:rPr lang="en-US" sz="1800" dirty="0">
                <a:solidFill>
                  <a:schemeClr val="bg1"/>
                </a:solidFill>
                <a:latin typeface="Abadi" panose="020B0604020104020204" pitchFamily="34" charset="0"/>
                <a:ea typeface="Arial"/>
                <a:cs typeface="Arial"/>
                <a:sym typeface="Arial"/>
              </a:rPr>
              <a:t>. Quantifying the Uncertainty in Software Vulnerability Patch Data. International Conference on Software Engineering (ICSE 2024).(Submitted)</a:t>
            </a:r>
            <a:endParaRPr lang="en-US" sz="2200" dirty="0">
              <a:solidFill>
                <a:schemeClr val="bg1"/>
              </a:solidFill>
              <a:latin typeface="Arial"/>
              <a:ea typeface="Arial"/>
              <a:cs typeface="Arial"/>
              <a:sym typeface="Arial"/>
            </a:endParaRPr>
          </a:p>
          <a:p>
            <a:pPr marL="0" lvl="0" indent="0" algn="l" rtl="0">
              <a:lnSpc>
                <a:spcPct val="90000"/>
              </a:lnSpc>
              <a:spcBef>
                <a:spcPts val="1000"/>
              </a:spcBef>
              <a:spcAft>
                <a:spcPts val="0"/>
              </a:spcAft>
              <a:buClr>
                <a:schemeClr val="lt1"/>
              </a:buClr>
              <a:buSzPts val="2200"/>
              <a:buNone/>
            </a:pPr>
            <a:r>
              <a:rPr lang="en-US" sz="2200" dirty="0">
                <a:solidFill>
                  <a:schemeClr val="lt1"/>
                </a:solidFill>
                <a:latin typeface="Arial"/>
                <a:ea typeface="Arial"/>
                <a:cs typeface="Arial"/>
                <a:sym typeface="Arial"/>
              </a:rPr>
              <a:t>Current Research:</a:t>
            </a:r>
          </a:p>
          <a:p>
            <a:pPr marL="228600" lvl="0" indent="-228600" algn="l" rtl="0">
              <a:lnSpc>
                <a:spcPct val="90000"/>
              </a:lnSpc>
              <a:spcBef>
                <a:spcPts val="1000"/>
              </a:spcBef>
              <a:spcAft>
                <a:spcPts val="0"/>
              </a:spcAft>
              <a:buClr>
                <a:schemeClr val="lt1"/>
              </a:buClr>
              <a:buSzPts val="2200"/>
              <a:buFont typeface="Noto Sans Symbols"/>
              <a:buChar char="▪"/>
            </a:pPr>
            <a:r>
              <a:rPr lang="en-US" sz="2200" dirty="0">
                <a:solidFill>
                  <a:schemeClr val="lt1"/>
                </a:solidFill>
                <a:latin typeface="Arial"/>
                <a:ea typeface="Arial"/>
                <a:cs typeface="Arial"/>
                <a:sym typeface="Arial"/>
              </a:rPr>
              <a:t>Build more </a:t>
            </a:r>
            <a:r>
              <a:rPr lang="en-US" sz="2200" dirty="0" err="1">
                <a:solidFill>
                  <a:schemeClr val="lt1"/>
                </a:solidFill>
                <a:latin typeface="Arial"/>
                <a:ea typeface="Arial"/>
                <a:cs typeface="Arial"/>
                <a:sym typeface="Arial"/>
              </a:rPr>
              <a:t>explanable</a:t>
            </a:r>
            <a:r>
              <a:rPr lang="en-US" sz="2200" dirty="0">
                <a:solidFill>
                  <a:schemeClr val="lt1"/>
                </a:solidFill>
                <a:latin typeface="Arial"/>
                <a:ea typeface="Arial"/>
                <a:cs typeface="Arial"/>
                <a:sym typeface="Arial"/>
              </a:rPr>
              <a:t> models, using reinforcement learning to build a more </a:t>
            </a:r>
            <a:r>
              <a:rPr lang="en-US" sz="2200" dirty="0" err="1">
                <a:solidFill>
                  <a:schemeClr val="lt1"/>
                </a:solidFill>
                <a:latin typeface="Arial"/>
                <a:ea typeface="Arial"/>
                <a:cs typeface="Arial"/>
                <a:sym typeface="Arial"/>
              </a:rPr>
              <a:t>explanable</a:t>
            </a:r>
            <a:r>
              <a:rPr lang="en-US" sz="2200" dirty="0">
                <a:solidFill>
                  <a:schemeClr val="lt1"/>
                </a:solidFill>
                <a:latin typeface="Arial"/>
                <a:ea typeface="Arial"/>
                <a:cs typeface="Arial"/>
                <a:sym typeface="Arial"/>
              </a:rPr>
              <a:t> model with self learning ability</a:t>
            </a:r>
            <a:endParaRPr dirty="0"/>
          </a:p>
          <a:p>
            <a:pPr marL="0" lvl="0" indent="0" algn="l" rtl="0">
              <a:lnSpc>
                <a:spcPct val="90000"/>
              </a:lnSpc>
              <a:spcBef>
                <a:spcPts val="1000"/>
              </a:spcBef>
              <a:spcAft>
                <a:spcPts val="0"/>
              </a:spcAft>
              <a:buClr>
                <a:schemeClr val="dk1"/>
              </a:buClr>
              <a:buSzPts val="2200"/>
              <a:buNone/>
            </a:pPr>
            <a:endParaRPr sz="2200" dirty="0">
              <a:solidFill>
                <a:schemeClr val="lt1"/>
              </a:solidFill>
            </a:endParaRPr>
          </a:p>
        </p:txBody>
      </p:sp>
      <p:sp>
        <p:nvSpPr>
          <p:cNvPr id="525" name="Google Shape;525;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solidFill>
                  <a:srgbClr val="FFFFFF"/>
                </a:solidFill>
              </a:rPr>
              <a:t>85</a:t>
            </a:fld>
            <a:endParaRPr>
              <a:solidFill>
                <a:srgbClr val="FFFFFF"/>
              </a:solidFill>
            </a:endParaRPr>
          </a:p>
        </p:txBody>
      </p:sp>
    </p:spTree>
    <p:extLst>
      <p:ext uri="{BB962C8B-B14F-4D97-AF65-F5344CB8AC3E}">
        <p14:creationId xmlns:p14="http://schemas.microsoft.com/office/powerpoint/2010/main" val="2226749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86</a:t>
            </a:fld>
            <a:endParaRPr/>
          </a:p>
        </p:txBody>
      </p:sp>
      <p:sp>
        <p:nvSpPr>
          <p:cNvPr id="558" name="Google Shape;558;p50"/>
          <p:cNvSpPr/>
          <p:nvPr/>
        </p:nvSpPr>
        <p:spPr>
          <a:xfrm>
            <a:off x="905785" y="1739822"/>
            <a:ext cx="3166829" cy="9233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5400" b="1" cap="none" dirty="0">
                <a:solidFill>
                  <a:srgbClr val="F7CAAC"/>
                </a:solidFill>
                <a:latin typeface="Calibri"/>
                <a:ea typeface="Calibri"/>
                <a:cs typeface="Calibri"/>
                <a:sym typeface="Calibri"/>
              </a:rPr>
              <a:t>Thank you</a:t>
            </a:r>
            <a:endParaRPr dirty="0"/>
          </a:p>
        </p:txBody>
      </p:sp>
      <p:grpSp>
        <p:nvGrpSpPr>
          <p:cNvPr id="559" name="Google Shape;559;p50"/>
          <p:cNvGrpSpPr/>
          <p:nvPr/>
        </p:nvGrpSpPr>
        <p:grpSpPr>
          <a:xfrm>
            <a:off x="905785" y="3084470"/>
            <a:ext cx="10515600" cy="2605779"/>
            <a:chOff x="0" y="1082"/>
            <a:chExt cx="10515600" cy="2605779"/>
          </a:xfrm>
        </p:grpSpPr>
        <p:sp>
          <p:nvSpPr>
            <p:cNvPr id="560" name="Google Shape;560;p50"/>
            <p:cNvSpPr/>
            <p:nvPr/>
          </p:nvSpPr>
          <p:spPr>
            <a:xfrm>
              <a:off x="0" y="1082"/>
              <a:ext cx="10515600" cy="548585"/>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0"/>
            <p:cNvSpPr/>
            <p:nvPr/>
          </p:nvSpPr>
          <p:spPr>
            <a:xfrm>
              <a:off x="165946" y="124514"/>
              <a:ext cx="301721" cy="301721"/>
            </a:xfrm>
            <a:prstGeom prst="rect">
              <a:avLst/>
            </a:prstGeom>
            <a:blipFill rotWithShape="1">
              <a:blip r:embed="rId3">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50"/>
            <p:cNvSpPr/>
            <p:nvPr/>
          </p:nvSpPr>
          <p:spPr>
            <a:xfrm>
              <a:off x="633615" y="1082"/>
              <a:ext cx="9881984" cy="548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50"/>
            <p:cNvSpPr txBox="1"/>
            <p:nvPr/>
          </p:nvSpPr>
          <p:spPr>
            <a:xfrm>
              <a:off x="633615" y="1082"/>
              <a:ext cx="9881984" cy="548585"/>
            </a:xfrm>
            <a:prstGeom prst="rect">
              <a:avLst/>
            </a:prstGeom>
            <a:noFill/>
            <a:ln>
              <a:noFill/>
            </a:ln>
          </p:spPr>
          <p:txBody>
            <a:bodyPr spcFirstLastPara="1" wrap="square" lIns="58050" tIns="58050" rIns="58050" bIns="58050" anchor="ctr" anchorCtr="0">
              <a:noAutofit/>
            </a:bodyPr>
            <a:lstStyle/>
            <a:p>
              <a:pPr marL="0" marR="0" lvl="0" indent="0" algn="l" rtl="0">
                <a:lnSpc>
                  <a:spcPct val="10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Paper link: </a:t>
              </a:r>
              <a:r>
                <a:rPr lang="en-US" sz="22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https://dl.acm.org/doi/abs/10.1145/3567550</a:t>
              </a:r>
              <a:endParaRPr sz="2200">
                <a:solidFill>
                  <a:schemeClr val="dk1"/>
                </a:solidFill>
                <a:latin typeface="Calibri"/>
                <a:ea typeface="Calibri"/>
                <a:cs typeface="Calibri"/>
                <a:sym typeface="Calibri"/>
              </a:endParaRPr>
            </a:p>
          </p:txBody>
        </p:sp>
        <p:sp>
          <p:nvSpPr>
            <p:cNvPr id="564" name="Google Shape;564;p50"/>
            <p:cNvSpPr/>
            <p:nvPr/>
          </p:nvSpPr>
          <p:spPr>
            <a:xfrm>
              <a:off x="0" y="686813"/>
              <a:ext cx="10515600" cy="548585"/>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0"/>
            <p:cNvSpPr/>
            <p:nvPr/>
          </p:nvSpPr>
          <p:spPr>
            <a:xfrm>
              <a:off x="165946" y="810245"/>
              <a:ext cx="301721" cy="301721"/>
            </a:xfrm>
            <a:prstGeom prst="rect">
              <a:avLst/>
            </a:prstGeom>
            <a:blipFill rotWithShape="1">
              <a:blip r:embed="rId5">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0"/>
            <p:cNvSpPr/>
            <p:nvPr/>
          </p:nvSpPr>
          <p:spPr>
            <a:xfrm>
              <a:off x="633615" y="686813"/>
              <a:ext cx="9881984" cy="548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50"/>
            <p:cNvSpPr txBox="1"/>
            <p:nvPr/>
          </p:nvSpPr>
          <p:spPr>
            <a:xfrm>
              <a:off x="633615" y="686813"/>
              <a:ext cx="9881984" cy="548585"/>
            </a:xfrm>
            <a:prstGeom prst="rect">
              <a:avLst/>
            </a:prstGeom>
            <a:noFill/>
            <a:ln>
              <a:noFill/>
            </a:ln>
          </p:spPr>
          <p:txBody>
            <a:bodyPr spcFirstLastPara="1" wrap="square" lIns="58050" tIns="58050" rIns="58050" bIns="58050" anchor="ctr" anchorCtr="0">
              <a:noAutofit/>
            </a:bodyPr>
            <a:lstStyle/>
            <a:p>
              <a:pPr marL="0" marR="0" lvl="0" indent="0" algn="l" rtl="0">
                <a:lnSpc>
                  <a:spcPct val="100000"/>
                </a:lnSpc>
                <a:spcBef>
                  <a:spcPts val="0"/>
                </a:spcBef>
                <a:spcAft>
                  <a:spcPts val="0"/>
                </a:spcAft>
                <a:buClr>
                  <a:schemeClr val="dk1"/>
                </a:buClr>
                <a:buSzPts val="2200"/>
                <a:buFont typeface="Calibri"/>
                <a:buNone/>
              </a:pPr>
              <a:r>
                <a:rPr lang="en-US" sz="2200" dirty="0">
                  <a:solidFill>
                    <a:schemeClr val="dk1"/>
                  </a:solidFill>
                  <a:latin typeface="Calibri"/>
                  <a:ea typeface="Calibri"/>
                  <a:cs typeface="Calibri"/>
                  <a:sym typeface="Calibri"/>
                </a:rPr>
                <a:t>Paper </a:t>
              </a:r>
              <a:r>
                <a:rPr lang="en-US" sz="2200" dirty="0" err="1">
                  <a:solidFill>
                    <a:schemeClr val="dk1"/>
                  </a:solidFill>
                  <a:latin typeface="Calibri"/>
                  <a:ea typeface="Calibri"/>
                  <a:cs typeface="Calibri"/>
                  <a:sym typeface="Calibri"/>
                </a:rPr>
                <a:t>github</a:t>
              </a:r>
              <a:r>
                <a:rPr lang="en-US" sz="2200" dirty="0">
                  <a:solidFill>
                    <a:schemeClr val="dk1"/>
                  </a:solidFill>
                  <a:latin typeface="Calibri"/>
                  <a:ea typeface="Calibri"/>
                  <a:cs typeface="Calibri"/>
                  <a:sym typeface="Calibri"/>
                </a:rPr>
                <a:t>: </a:t>
              </a:r>
              <a:r>
                <a:rPr lang="en-US" sz="2200" u="sng" dirty="0">
                  <a:solidFill>
                    <a:schemeClr val="dk1"/>
                  </a:solidFill>
                  <a:latin typeface="Calibri"/>
                  <a:ea typeface="Calibri"/>
                  <a:cs typeface="Calibri"/>
                  <a:sym typeface="Calibri"/>
                  <a:hlinkClick r:id="rId6">
                    <a:extLst>
                      <a:ext uri="{A12FA001-AC4F-418D-AE19-62706E023703}">
                        <ahyp:hlinkClr xmlns:ahyp="http://schemas.microsoft.com/office/drawing/2018/hyperlinkcolor" val="tx"/>
                      </a:ext>
                    </a:extLst>
                  </a:hlinkClick>
                </a:rPr>
                <a:t>https://github.com/huichen-cs/deepicpreplication</a:t>
              </a:r>
              <a:endParaRPr sz="2200" dirty="0">
                <a:solidFill>
                  <a:schemeClr val="dk1"/>
                </a:solidFill>
                <a:latin typeface="Calibri"/>
                <a:ea typeface="Calibri"/>
                <a:cs typeface="Calibri"/>
                <a:sym typeface="Calibri"/>
              </a:endParaRPr>
            </a:p>
          </p:txBody>
        </p:sp>
        <p:sp>
          <p:nvSpPr>
            <p:cNvPr id="568" name="Google Shape;568;p50"/>
            <p:cNvSpPr/>
            <p:nvPr/>
          </p:nvSpPr>
          <p:spPr>
            <a:xfrm>
              <a:off x="0" y="1372545"/>
              <a:ext cx="10515600" cy="548585"/>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50"/>
            <p:cNvSpPr/>
            <p:nvPr/>
          </p:nvSpPr>
          <p:spPr>
            <a:xfrm>
              <a:off x="165946" y="1495976"/>
              <a:ext cx="301721" cy="301721"/>
            </a:xfrm>
            <a:prstGeom prst="rect">
              <a:avLst/>
            </a:prstGeom>
            <a:blipFill rotWithShape="1">
              <a:blip r:embed="rId7">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50"/>
            <p:cNvSpPr/>
            <p:nvPr/>
          </p:nvSpPr>
          <p:spPr>
            <a:xfrm>
              <a:off x="633615" y="1372545"/>
              <a:ext cx="9881984" cy="548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50"/>
            <p:cNvSpPr txBox="1"/>
            <p:nvPr/>
          </p:nvSpPr>
          <p:spPr>
            <a:xfrm>
              <a:off x="633615" y="1372545"/>
              <a:ext cx="9881984" cy="548585"/>
            </a:xfrm>
            <a:prstGeom prst="rect">
              <a:avLst/>
            </a:prstGeom>
            <a:noFill/>
            <a:ln>
              <a:noFill/>
            </a:ln>
          </p:spPr>
          <p:txBody>
            <a:bodyPr spcFirstLastPara="1" wrap="square" lIns="58050" tIns="58050" rIns="58050" bIns="58050" anchor="ctr" anchorCtr="0">
              <a:noAutofit/>
            </a:bodyPr>
            <a:lstStyle/>
            <a:p>
              <a:pPr marL="0" marR="0" lvl="0" indent="0" algn="l" rtl="0">
                <a:lnSpc>
                  <a:spcPct val="10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Online Supplement: </a:t>
              </a:r>
              <a:r>
                <a:rPr lang="en-US" sz="2200" u="sng">
                  <a:solidFill>
                    <a:schemeClr val="dk1"/>
                  </a:solidFill>
                  <a:latin typeface="Calibri"/>
                  <a:ea typeface="Calibri"/>
                  <a:cs typeface="Calibri"/>
                  <a:sym typeface="Calibri"/>
                  <a:hlinkClick r:id="rId8">
                    <a:extLst>
                      <a:ext uri="{A12FA001-AC4F-418D-AE19-62706E023703}">
                        <ahyp:hlinkClr xmlns:ahyp="http://schemas.microsoft.com/office/drawing/2018/hyperlinkcolor" val="tx"/>
                      </a:ext>
                    </a:extLst>
                  </a:hlinkClick>
                </a:rPr>
                <a:t>https://github.com/huichen-cs/jitsdpsurvey</a:t>
              </a:r>
              <a:endParaRPr sz="2200">
                <a:solidFill>
                  <a:schemeClr val="dk1"/>
                </a:solidFill>
                <a:latin typeface="Calibri"/>
                <a:ea typeface="Calibri"/>
                <a:cs typeface="Calibri"/>
                <a:sym typeface="Calibri"/>
              </a:endParaRPr>
            </a:p>
          </p:txBody>
        </p:sp>
        <p:sp>
          <p:nvSpPr>
            <p:cNvPr id="572" name="Google Shape;572;p50"/>
            <p:cNvSpPr/>
            <p:nvPr/>
          </p:nvSpPr>
          <p:spPr>
            <a:xfrm>
              <a:off x="0" y="2058276"/>
              <a:ext cx="10515600" cy="548585"/>
            </a:xfrm>
            <a:prstGeom prst="roundRect">
              <a:avLst>
                <a:gd name="adj" fmla="val 10000"/>
              </a:avLst>
            </a:prstGeom>
            <a:solidFill>
              <a:srgbClr val="CCD3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0"/>
            <p:cNvSpPr/>
            <p:nvPr/>
          </p:nvSpPr>
          <p:spPr>
            <a:xfrm>
              <a:off x="165946" y="2181708"/>
              <a:ext cx="301721" cy="301721"/>
            </a:xfrm>
            <a:prstGeom prst="rect">
              <a:avLst/>
            </a:prstGeom>
            <a:blipFill rotWithShape="1">
              <a:blip r:embed="rId9">
                <a:alphaModFix/>
              </a:blip>
              <a:stretch>
                <a:fillRect/>
              </a:stretch>
            </a:blipFill>
            <a:ln w="1270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50"/>
            <p:cNvSpPr/>
            <p:nvPr/>
          </p:nvSpPr>
          <p:spPr>
            <a:xfrm>
              <a:off x="633615" y="2058276"/>
              <a:ext cx="9881984" cy="54858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50"/>
            <p:cNvSpPr txBox="1"/>
            <p:nvPr/>
          </p:nvSpPr>
          <p:spPr>
            <a:xfrm>
              <a:off x="633615" y="2058276"/>
              <a:ext cx="9881984" cy="548585"/>
            </a:xfrm>
            <a:prstGeom prst="rect">
              <a:avLst/>
            </a:prstGeom>
            <a:noFill/>
            <a:ln>
              <a:noFill/>
            </a:ln>
          </p:spPr>
          <p:txBody>
            <a:bodyPr spcFirstLastPara="1" wrap="square" lIns="58050" tIns="58050" rIns="58050" bIns="58050" anchor="ctr" anchorCtr="0">
              <a:noAutofit/>
            </a:bodyPr>
            <a:lstStyle/>
            <a:p>
              <a:pPr marL="0" marR="0" lvl="0" indent="0" algn="l" rtl="0">
                <a:lnSpc>
                  <a:spcPct val="100000"/>
                </a:lnSpc>
                <a:spcBef>
                  <a:spcPts val="0"/>
                </a:spcBef>
                <a:spcAft>
                  <a:spcPts val="0"/>
                </a:spcAft>
                <a:buClr>
                  <a:schemeClr val="dk1"/>
                </a:buClr>
                <a:buSzPts val="2200"/>
                <a:buFont typeface="Calibri"/>
                <a:buNone/>
              </a:pPr>
              <a:r>
                <a:rPr lang="en-US" sz="2200">
                  <a:solidFill>
                    <a:schemeClr val="dk1"/>
                  </a:solidFill>
                  <a:latin typeface="Calibri"/>
                  <a:ea typeface="Calibri"/>
                  <a:cs typeface="Calibri"/>
                  <a:sym typeface="Calibri"/>
                </a:rPr>
                <a:t>Email: yzhao5@gradcenter.cuny.edu</a:t>
              </a:r>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13174</TotalTime>
  <Words>8890</Words>
  <Application>Microsoft Office PowerPoint</Application>
  <PresentationFormat>Widescreen</PresentationFormat>
  <Paragraphs>958</Paragraphs>
  <Slides>86</Slides>
  <Notes>86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Calibri</vt:lpstr>
      <vt:lpstr>Abadi</vt:lpstr>
      <vt:lpstr>Wingdings</vt:lpstr>
      <vt:lpstr>Segoe UI</vt:lpstr>
      <vt:lpstr>Noto Sans Symbols</vt:lpstr>
      <vt:lpstr>Inconsolata</vt:lpstr>
      <vt:lpstr>Arial</vt:lpstr>
      <vt:lpstr>Office Theme</vt:lpstr>
      <vt:lpstr>A Systematic Survey of Just-In-Time Software Defect Prediction</vt:lpstr>
      <vt:lpstr>Background </vt:lpstr>
      <vt:lpstr>Background </vt:lpstr>
      <vt:lpstr>Background </vt:lpstr>
      <vt:lpstr>Motivation</vt:lpstr>
      <vt:lpstr>Summary</vt:lpstr>
      <vt:lpstr>Overview</vt:lpstr>
      <vt:lpstr>Paper Selection Method(1/2)</vt:lpstr>
      <vt:lpstr>Paper Selection Result (2/2)</vt:lpstr>
      <vt:lpstr>Publication Trend</vt:lpstr>
      <vt:lpstr>Overview of JIT-SDP</vt:lpstr>
      <vt:lpstr>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Overview</vt:lpstr>
      <vt:lpstr>Feature Acquisition and Processing</vt:lpstr>
      <vt:lpstr>Feature Engineering</vt:lpstr>
      <vt:lpstr>Feature Engineering: Software Metrics</vt:lpstr>
      <vt:lpstr>Feature Engineering: Commit Messages(1/2)</vt:lpstr>
      <vt:lpstr>Feature Engineering: Commit Messages</vt:lpstr>
      <vt:lpstr>PowerPoint Presentation</vt:lpstr>
      <vt:lpstr>PowerPoint Presentation</vt:lpstr>
      <vt:lpstr>PowerPoint Presentation</vt:lpstr>
      <vt:lpstr>PowerPoint Presentation</vt:lpstr>
      <vt:lpstr>Overview</vt:lpstr>
      <vt:lpstr>Defect-Inducing Label Assignment</vt:lpstr>
      <vt:lpstr>Defect-Inducing Label Assignment</vt:lpstr>
      <vt:lpstr>Defect-Inducing Label Assignment</vt:lpstr>
      <vt:lpstr>Defect-Inducing Label Assignment</vt:lpstr>
      <vt:lpstr>Overview</vt:lpstr>
      <vt:lpstr>Data Transformation</vt:lpstr>
      <vt:lpstr>Data Transformation</vt:lpstr>
      <vt:lpstr>Data Transformation: column based</vt:lpstr>
      <vt:lpstr>Data Transformation: row based</vt:lpstr>
      <vt:lpstr>Data Transformation: row based(dealing imbalance)</vt:lpstr>
      <vt:lpstr>Overview</vt:lpstr>
      <vt:lpstr>Modeling</vt:lpstr>
      <vt:lpstr>Modeling</vt:lpstr>
      <vt:lpstr>Modeling: Defect Proneness Prediction</vt:lpstr>
      <vt:lpstr>Modeling: Effort-aware Defect Prediction</vt:lpstr>
      <vt:lpstr>Modeling</vt:lpstr>
      <vt:lpstr>Modeling: Within and Cross Project Defect Prediction</vt:lpstr>
      <vt:lpstr>Modeling</vt:lpstr>
      <vt:lpstr>Modeling: Design for Concept Drift</vt:lpstr>
      <vt:lpstr>Modeling: Design for Verification Latency</vt:lpstr>
      <vt:lpstr>Modeling: Design for Defect Types</vt:lpstr>
      <vt:lpstr>Modeling: Design for Development Process and Data</vt:lpstr>
      <vt:lpstr>Modeling: Debate on Complex and Simple Models</vt:lpstr>
      <vt:lpstr>Overview</vt:lpstr>
      <vt:lpstr>Evaluation: Defect Proneness Prediction</vt:lpstr>
      <vt:lpstr>Evaluation: Effort-Aware Defect Prediction</vt:lpstr>
      <vt:lpstr> Evaluation: Validation Strategies and Evaluation Settings </vt:lpstr>
      <vt:lpstr>Overview</vt:lpstr>
      <vt:lpstr>ANALYSIS AND OPEN QUESTIONS</vt:lpstr>
      <vt:lpstr>ANALYSIS AND OPEN QUESTIONS</vt:lpstr>
      <vt:lpstr>Performance of Defect Proneness Prediction</vt:lpstr>
      <vt:lpstr>Performance of Defect Proneness Prediction</vt:lpstr>
      <vt:lpstr>Performance of Effort-Aware Prediction</vt:lpstr>
      <vt:lpstr>Context Factors of Software Project and Changeset Data(1/2)</vt:lpstr>
      <vt:lpstr>PowerPoint Presentation</vt:lpstr>
      <vt:lpstr>Overview</vt:lpstr>
      <vt:lpstr>Future Research</vt:lpstr>
      <vt:lpstr>Future Research: Application domain</vt:lpstr>
      <vt:lpstr>Future Research: Relationship of Defects to Software Use</vt:lpstr>
      <vt:lpstr>Future Research: Quantifying Effort in JIT-SDP</vt:lpstr>
      <vt:lpstr>Future Research: Uncertainty Quantification in JIT-SDP</vt:lpstr>
      <vt:lpstr>Future Research: Explainable and Actionable Defect Prediction</vt:lpstr>
      <vt:lpstr>Future Research: Beyond Predicting Defects</vt:lpstr>
      <vt:lpstr>PowerPoint Presentation</vt:lpstr>
      <vt:lpstr>Overview</vt:lpstr>
      <vt:lpstr>Conclusion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Systematic Survey of Just-In-Time Software Defect Prediction</dc:title>
  <dc:creator>Yunhua Zhao</dc:creator>
  <cp:lastModifiedBy>Yunhua Zhao</cp:lastModifiedBy>
  <cp:revision>88</cp:revision>
  <dcterms:created xsi:type="dcterms:W3CDTF">2023-06-22T19:55:14Z</dcterms:created>
  <dcterms:modified xsi:type="dcterms:W3CDTF">2023-08-18T18:11:54Z</dcterms:modified>
</cp:coreProperties>
</file>